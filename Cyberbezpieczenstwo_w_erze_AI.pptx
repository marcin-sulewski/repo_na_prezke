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soba 1 — Wstęp i atakujący" id="{8e563bec-ed51-f4dc-abdb-3baf95f04ae0}">
          <p14:sldIdLst>
            <p14:sldId id="256"/>
            <p14:sldId id="257"/>
            <p14:sldId id="258"/>
            <p14:sldId id="259"/>
            <p14:sldId id="260"/>
          </p14:sldIdLst>
        </p14:section>
        <p14:section name="Osoba 2 — Obrońcy" id="{c41df70a-9630-21ec-7aea-0853aaefcda3}">
          <p14:sldIdLst>
            <p14:sldId id="261"/>
            <p14:sldId id="262"/>
            <p14:sldId id="263"/>
            <p14:sldId id="264"/>
          </p14:sldIdLst>
        </p14:section>
        <p14:section name="Osoba 3 — Werdykt" id="{61601fd0-17ef-3541-446f-7c26e0bd1268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1 — otwarcie, ok. 45 s]
Dzień dobry. Sztuczna inteligencja pisze maile, tworzy obrazy, rozmawia głosem — i robi to coraz lepiej. Ale ta sama technologia trafia w ręce dwóch stron: tych, którzy atakują systemy, i tych, którzy ich bronią.
Dziś zadamy jedno pytanie: komu AI pomaga bardziej?
Plan jest prosty: ja opowiem o atakujących, Osoba 2 o obrońcach, a Osoba 3 podsumuje i wyda werdykt.
[KLIK — morph: tytuł rozsypuje się na litery i składa w słowo ATAKUJĄCY]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1 — rozdział 01]
Zacznijmy od ciemnej strony. Jak AI zmienia pracę cyberprzestępców?
Zobaczymy trzy rzeczy: lepszą socjotechnikę, niższy próg wejścia i tempo działania maszyn.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1]
Najstarsza broń przestępców to manipulacja człowiekiem. Kiedyś fałszywego maila zdradzały błędy językowe — dziś AI pisze bezbłędnie, w każdym języku i pod konkretną osobę.
Do tego dochodzi klonowanie głosu: kilka sekund nagrania z internetu wystarczy, by podrobić czyjś głos.
Najgłośniejszy przypadek: w 2024 roku pracownik firmy Arup w Hongkongu uczestniczył w wideorozmowie, w której „dyrektor finansowy” i inni uczestnicy byli deepfake'ami. Efekt: przelew na około 25 milionów dolarów.
Wniosek: nie możemy już ufać tylko temu, co widzimy i słyszymy.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1]
AI nie zamienia przeciętnego oszusta w geniusza — ale sprawia, że działa jak profesjonalista. Tłumaczy, pisze, generuje fałszywe profile i pomaga w programowaniu.
W darknecie pojawiły się przestępcze narzędzia AI sprzedawane jak zwykła subskrypcja.
A w 2024 roku Microsoft i OpenAI opisały grupy powiązane z rządami kilku państw, które testowały modele językowe — m.in. do tłumaczeń, rozpoznania celów i pisania skryptów.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1 — koniec części, potem przekazanie]
Ostatni element: tempo. Atak składa się z etapów: rozpoznanie, wejście, ruch po sieci, kradzież danych. Człowiekowi zajmuje to dni lub tygodnie. Agent AI może skrócić to do godzin.
W 2025 roku firma Anthropic opisała wykrytą i przerwaną kampanię szpiegowską, w której agent AI wykonał samodzielnie około 80–90% działań — człowiek podejmował tylko kluczowe decyzje.
Brzmi groźnie? Na szczęście obrońcy też mają AI. Przekazuję głos — Osoba 2.
[KLIK — morph po znakach: ATAKUJĄCY zamienia się w OBROŃCY]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2 — rozdział 02]
Dziękuję. Teraz druga strona barykady. Jak AI wzmacnia tarczę?
Pokażę trzy rzeczy: centrum bezpieczeństwa, które nie śpi, AI szukające luk przed przestępcami i duet człowiek +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2]
SOC, czyli Security Operations Center, to „centrum dowodzenia” obrony firmy. Problem: codziennie spływają tam miliardy zdarzeń — żaden zespół ludzi tego nie przejrzy.
AI analizuje je na bieżąco, uczy się, jak wygląda normalne zachowanie sieci, i alarmuje, gdy coś odbiega od normy — jak ta czerwona kropka na radarze.
Potrafi też zareagować sama, np. odciąć zainfekowany komputer.
Liczby z raportu IBM z 2024 roku: firmy szeroko używające AI i automatyzacji w bezpieczeństwie płaciły średnio o 2,2 mln dolarów mniej za wyciek danych i opanowywały incydenty prawie 100 dni szybciej.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2]
Najlepsza luka to taka, której nikt nie zdąży wykorzystać. AI potrafi przeszukiwać kod, znajdować błędy i proponować poprawki.
W 2024 roku agent Google o nazwie Big Sleep znalazł groźną lukę w bazie danych SQLite, zanim trafiła ona do użytkowników.
A w 2025 roku w finale konkursu DARPA AIxCC systemy AI samodzielnie wykrywały i łatały luki w otwartym oprogramowaniu.
To odwrócenie gry: obrońcy mogą być szybsi niż atakujący.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2 — koniec części, potem przekazanie]
Na świecie brakuje około 4,8 miliona specjalistów od cyberbezpieczeństwa — tak szacuje organizacja ISC2. AI tego nie rozwiąże w całości, ale mocno pomaga: streszcza incydenty, podpowiada kolejne kroki, a młodszym analitykom pozwala szybciej się uczyć.
I najważniejsze: obrońca gra u siebie. Zna swoją sieć i ma dane, których atakujący nie widzi.
Kto więc wygrywa? Przekazuję głos — Osoba 3.
[KLIK — z dołu wjeżdża waga: czerwona i niebieska kula]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3 — rozdział 03]
Dziękuję. Usłyszeliśmy argumenty obu stron. Czas na werdykt.
Na wadze mamy atakujących i obrońców. Spójrzmy, w którą stronę się przechyla.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3]
Dziś — uczciwie — szala przechyla się w stronę atakujących. Dlaczego?
Po pierwsze: tanio — narzędzia AI są wszędzie. Po drugie: szybko — przestępca nie musi przechodzić audytów i procedur. Po trzecie: obrońca musi zatrzymać każdy atak, a atakującemu wystarczy jedno trafienie.
Ale obrońcy mają atuty, których przestępcy nie mają: własne dane, skalę działania i możliwość łatania luk, zanim ktoś je wykorzysta.
[KLIK — waga przechyla się na stronę obrońców]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[OSOBA 3 — zakończenie]
Nasz werdykt: krótkoterminowo AI daje więcej atakującym. Długoterminowo przewaga może przejść na stronę obrońców — ale tylko jeśli zainwestują w AI, w procesy i w ludzi.
AI nie wybiera stron. Wybierają ludzie.
Trzy rady na koniec: weryfikuj — głos i obraz można podrobić. Automatyzuj obronę — na tempo maszyn odpowiadaj maszynami. I inwestuj w ludzi, bo AI ich wzmacnia, a nie zastępuje.
Dziękujemy! Chętnie odpowiemy na pytania.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NEMA">
    <p:bg>
      <p:bgPr>
        <a:solidFill>
          <a:srgbClr val="05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2-6.png"/><Relationship Id="rId7" Type="http://schemas.openxmlformats.org/officeDocument/2006/relationships/image" Target="../media/image-2-6.png"/><Relationship Id="rId8" Type="http://schemas.openxmlformats.org/officeDocument/2006/relationships/image" Target="../media/image-2-6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2-6.png"/><Relationship Id="rId7" Type="http://schemas.openxmlformats.org/officeDocument/2006/relationships/image" Target="../media/image-2-6.png"/><Relationship Id="rId8" Type="http://schemas.openxmlformats.org/officeDocument/2006/relationships/image" Target="../media/image-2-6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2-6.png"/><Relationship Id="rId7" Type="http://schemas.openxmlformats.org/officeDocument/2006/relationships/image" Target="../media/image-2-6.png"/><Relationship Id="rId8" Type="http://schemas.openxmlformats.org/officeDocument/2006/relationships/image" Target="../media/image-2-6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5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5.png"/><Relationship Id="rId5" Type="http://schemas.openxmlformats.org/officeDocument/2006/relationships/image" Target="../media/image-1-4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5.png"/><Relationship Id="rId5" Type="http://schemas.openxmlformats.org/officeDocument/2006/relationships/image" Target="../media/image-1-4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10-6.png"/><Relationship Id="rId10" Type="http://schemas.openxmlformats.org/officeDocument/2006/relationships/image" Target="../media/image-10-7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5.png"/><Relationship Id="rId5" Type="http://schemas.openxmlformats.org/officeDocument/2006/relationships/image" Target="../media/image-1-4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10-6.png"/><Relationship Id="rId10" Type="http://schemas.openxmlformats.org/officeDocument/2006/relationships/image" Target="../media/image-10-7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096305" y="-3429000"/>
            <a:ext cx="24384305" cy="1371600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9601554" y="4541942"/>
            <a:ext cx="169902" cy="169902"/>
          </a:xfrm>
          <a:prstGeom prst="ellipse">
            <a:avLst/>
          </a:prstGeom>
          <a:solidFill>
            <a:schemeClr val="accent3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9588630" y="2815791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12085220" y="-758046"/>
            <a:ext cx="156834" cy="156834"/>
          </a:xfrm>
          <a:prstGeom prst="ellipse">
            <a:avLst/>
          </a:prstGeom>
          <a:solidFill>
            <a:schemeClr val="accent3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8735113" y="-1169518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6275623" y="6747230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4094274" y="9325548"/>
            <a:ext cx="647199" cy="647199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7751826" y="4375468"/>
            <a:ext cx="202991" cy="202991"/>
          </a:xfrm>
          <a:prstGeom prst="ellipse">
            <a:avLst/>
          </a:prstGeom>
          <a:solidFill>
            <a:schemeClr val="accent3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2042964" y="-2429449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-1823369" y="3453794"/>
            <a:ext cx="167859" cy="167859"/>
          </a:xfrm>
          <a:prstGeom prst="ellipse">
            <a:avLst/>
          </a:prstGeom>
          <a:solidFill>
            <a:schemeClr val="accent3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4067178" y="5092934"/>
            <a:ext cx="1087278" cy="108727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9339402" y="6310256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795084" y="7655735"/>
            <a:ext cx="139775" cy="139775"/>
          </a:xfrm>
          <a:prstGeom prst="ellipse">
            <a:avLst/>
          </a:prstGeom>
          <a:solidFill>
            <a:schemeClr val="accent3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6727482" y="1814063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2928293" y="8598582"/>
            <a:ext cx="218591" cy="218591"/>
          </a:xfrm>
          <a:prstGeom prst="ellipse">
            <a:avLst/>
          </a:prstGeom>
          <a:solidFill>
            <a:schemeClr val="accent3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10682043" y="8128628"/>
            <a:ext cx="140841" cy="140841"/>
          </a:xfrm>
          <a:prstGeom prst="ellipse">
            <a:avLst/>
          </a:prstGeom>
          <a:solidFill>
            <a:schemeClr val="accent3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4236036" y="3978538"/>
            <a:ext cx="786257" cy="786257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18949207" y="9124316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7777881" y="5302152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6320498" y="5242735"/>
            <a:ext cx="1079414" cy="1079414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14763351" y="5327932"/>
            <a:ext cx="228948" cy="228948"/>
          </a:xfrm>
          <a:prstGeom prst="ellipse">
            <a:avLst/>
          </a:prstGeom>
          <a:solidFill>
            <a:schemeClr val="accent3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10267296" y="36983"/>
            <a:ext cx="191645" cy="191645"/>
          </a:xfrm>
          <a:prstGeom prst="ellipse">
            <a:avLst/>
          </a:prstGeom>
          <a:solidFill>
            <a:schemeClr val="accent3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1914820" y="-508017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3677400" y="7754386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5810355" y="3320429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2777157" y="4821543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9260089" y="-664097"/>
            <a:ext cx="227967" cy="227967"/>
          </a:xfrm>
          <a:prstGeom prst="ellipse">
            <a:avLst/>
          </a:prstGeom>
          <a:solidFill>
            <a:schemeClr val="accent3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9262243" y="-1991343"/>
            <a:ext cx="156456" cy="156456"/>
          </a:xfrm>
          <a:prstGeom prst="ellipse">
            <a:avLst/>
          </a:prstGeom>
          <a:solidFill>
            <a:schemeClr val="accent3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3027910" y="1431141"/>
            <a:ext cx="156446" cy="156446"/>
          </a:xfrm>
          <a:prstGeom prst="ellipse">
            <a:avLst/>
          </a:prstGeom>
          <a:solidFill>
            <a:schemeClr val="accent3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4102202" y="283610"/>
            <a:ext cx="236050" cy="236050"/>
          </a:xfrm>
          <a:prstGeom prst="ellipse">
            <a:avLst/>
          </a:prstGeom>
          <a:solidFill>
            <a:schemeClr val="accent3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10877889" y="-1129641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4430748" y="5059444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7976846" y="6442125"/>
            <a:ext cx="595298" cy="59529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18917691" y="5144814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2009893" y="6686732"/>
            <a:ext cx="204820" cy="204820"/>
          </a:xfrm>
          <a:prstGeom prst="ellipse">
            <a:avLst/>
          </a:prstGeom>
          <a:solidFill>
            <a:schemeClr val="accent3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10686986" y="4214653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9076775" y="3774016"/>
            <a:ext cx="171070" cy="171070"/>
          </a:xfrm>
          <a:prstGeom prst="ellipse">
            <a:avLst/>
          </a:prstGeom>
          <a:solidFill>
            <a:schemeClr val="accent3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18632313" y="3087881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3767584" y="-1523293"/>
            <a:ext cx="152405" cy="152405"/>
          </a:xfrm>
          <a:prstGeom prst="ellipse">
            <a:avLst/>
          </a:prstGeom>
          <a:solidFill>
            <a:schemeClr val="accent3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7642983" y="4308041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1786552" y="-1965280"/>
            <a:ext cx="107954" cy="107954"/>
          </a:xfrm>
          <a:prstGeom prst="ellipse">
            <a:avLst/>
          </a:prstGeom>
          <a:solidFill>
            <a:schemeClr val="accent3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6518794" y="8330801"/>
            <a:ext cx="116916" cy="116916"/>
          </a:xfrm>
          <a:prstGeom prst="ellipse">
            <a:avLst/>
          </a:prstGeom>
          <a:solidFill>
            <a:schemeClr val="accent3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8282931" y="3967086"/>
            <a:ext cx="238576" cy="238576"/>
          </a:xfrm>
          <a:prstGeom prst="ellipse">
            <a:avLst/>
          </a:prstGeom>
          <a:solidFill>
            <a:schemeClr val="accent3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5084109" y="2280099"/>
            <a:ext cx="231782" cy="231782"/>
          </a:xfrm>
          <a:prstGeom prst="ellipse">
            <a:avLst/>
          </a:prstGeom>
          <a:solidFill>
            <a:schemeClr val="accent3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7853141" y="6407211"/>
            <a:ext cx="559428" cy="55942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9360726" y="4728343"/>
            <a:ext cx="158543" cy="158543"/>
          </a:xfrm>
          <a:prstGeom prst="ellipse">
            <a:avLst/>
          </a:prstGeom>
          <a:solidFill>
            <a:schemeClr val="accent3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158510" y="6027174"/>
            <a:ext cx="205010" cy="205010"/>
          </a:xfrm>
          <a:prstGeom prst="ellipse">
            <a:avLst/>
          </a:prstGeom>
          <a:solidFill>
            <a:schemeClr val="accent3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7593100" y="8616641"/>
            <a:ext cx="171511" cy="171511"/>
          </a:xfrm>
          <a:prstGeom prst="ellipse">
            <a:avLst/>
          </a:prstGeom>
          <a:solidFill>
            <a:schemeClr val="accent3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13106344" y="4297255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-131414" y="6081146"/>
            <a:ext cx="160209" cy="160209"/>
          </a:xfrm>
          <a:prstGeom prst="ellipse">
            <a:avLst/>
          </a:prstGeom>
          <a:solidFill>
            <a:schemeClr val="accent3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3507450" y="6595403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7750354" y="-660847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-1091994" y="1244471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aOrb" descr="Rdzeń AI atakujący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1179576"/>
            <a:ext cx="3950208" cy="3950208"/>
          </a:xfrm>
          <a:prstGeom prst="rect">
            <a:avLst/>
          </a:prstGeom>
        </p:spPr>
      </p:pic>
      <p:pic>
        <p:nvPicPr>
          <p:cNvPr id="58" name="!!bOrb" descr="Rdzeń AI obrońcó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1874520"/>
            <a:ext cx="3657600" cy="3657600"/>
          </a:xfrm>
          <a:prstGeom prst="rect">
            <a:avLst/>
          </a:prstGeom>
        </p:spPr>
      </p:pic>
      <p:sp>
        <p:nvSpPr>
          <p:cNvPr id="59" name="!!ring1"/>
          <p:cNvSpPr/>
          <p:nvPr/>
        </p:nvSpPr>
        <p:spPr>
          <a:xfrm>
            <a:off x="8778240" y="1371600"/>
            <a:ext cx="4114800" cy="411480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3">
                <a:alpha val="75000"/>
              </a:schemeClr>
            </a:solidFill>
            <a:prstDash val="solid"/>
          </a:ln>
        </p:spPr>
      </p:sp>
      <p:sp>
        <p:nvSpPr>
          <p:cNvPr id="60" name="!!ring2"/>
          <p:cNvSpPr/>
          <p:nvPr/>
        </p:nvSpPr>
        <p:spPr>
          <a:xfrm>
            <a:off x="8490204" y="1083564"/>
            <a:ext cx="4690872" cy="4690872"/>
          </a:xfrm>
          <a:prstGeom prst="ellipse">
            <a:avLst/>
          </a:prstGeom>
          <a:noFill/>
          <a:ln w="9525">
            <a:solidFill>
              <a:schemeClr val="bg1">
                <a:alpha val="30000"/>
              </a:schemeClr>
            </a:solidFill>
            <a:prstDash val="dash"/>
          </a:ln>
        </p:spPr>
      </p:sp>
      <p:sp>
        <p:nvSpPr>
          <p:cNvPr id="61" name="!!ring3"/>
          <p:cNvSpPr/>
          <p:nvPr/>
        </p:nvSpPr>
        <p:spPr>
          <a:xfrm rot="21000000">
            <a:off x="9025128" y="1618488"/>
            <a:ext cx="3621024" cy="3621024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62" name="!!flare"/>
          <p:cNvSpPr/>
          <p:nvPr/>
        </p:nvSpPr>
        <p:spPr>
          <a:xfrm>
            <a:off x="7635240" y="3383280"/>
            <a:ext cx="6400800" cy="91440"/>
          </a:xfrm>
          <a:prstGeom prst="ellipse">
            <a:avLst/>
          </a:prstGeom>
          <a:solidFill>
            <a:schemeClr val="accent3">
              <a:alpha val="55000"/>
            </a:schemeClr>
          </a:solidFill>
          <a:ln/>
          <a:effectLst>
            <a:softEdge rad="36576"/>
          </a:effectLst>
        </p:spPr>
      </p:sp>
      <p:sp>
        <p:nvSpPr>
          <p:cNvPr id="63" name="!!bigword"/>
          <p:cNvSpPr txBox="1"/>
          <p:nvPr/>
        </p:nvSpPr>
        <p:spPr>
          <a:xfrm>
            <a:off x="548640" y="1828800"/>
            <a:ext cx="841248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CYBERBEZPIECZEŃSTWO</a:t>
            </a:r>
            <a:endParaRPr lang="en-US" sz="4800" dirty="0"/>
          </a:p>
        </p:txBody>
      </p:sp>
      <p:sp>
        <p:nvSpPr>
          <p:cNvPr id="64" name="!!s1_kicker"/>
          <p:cNvSpPr txBox="1"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RAPORT Z CYFROWEGO FRONTU · 2026</a:t>
            </a:r>
            <a:endParaRPr lang="en-US" sz="1400" dirty="0"/>
          </a:p>
        </p:txBody>
      </p:sp>
      <p:sp>
        <p:nvSpPr>
          <p:cNvPr id="65" name="!!s1_line2"/>
          <p:cNvSpPr txBox="1"/>
          <p:nvPr/>
        </p:nvSpPr>
        <p:spPr>
          <a:xfrm>
            <a:off x="548640" y="2697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 ERZE </a:t>
            </a:r>
            <a:pPr indent="0" marL="0">
              <a:buNone/>
            </a:pPr>
            <a:r>
              <a:rPr lang="en-US" sz="4800" b="1" spc="10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</a:t>
            </a:r>
            <a:endParaRPr lang="en-US" sz="4800" dirty="0"/>
          </a:p>
        </p:txBody>
      </p:sp>
      <p:sp>
        <p:nvSpPr>
          <p:cNvPr id="66" name="!!s1_q"/>
          <p:cNvSpPr txBox="1"/>
          <p:nvPr/>
        </p:nvSpPr>
        <p:spPr>
          <a:xfrm>
            <a:off x="548640" y="3840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Czy sztuczna inteligencja pomaga bardziej atakującym, czy obrońcom?</a:t>
            </a:r>
            <a:endParaRPr lang="en-US" sz="2200" dirty="0"/>
          </a:p>
        </p:txBody>
      </p:sp>
      <p:sp>
        <p:nvSpPr>
          <p:cNvPr id="67" name="!!s1_ag0"/>
          <p:cNvSpPr txBox="1"/>
          <p:nvPr/>
        </p:nvSpPr>
        <p:spPr>
          <a:xfrm>
            <a:off x="548640" y="5212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ATAKUJĄCY</a:t>
            </a:r>
            <a:endParaRPr lang="en-US" sz="1300" dirty="0"/>
          </a:p>
          <a:p>
            <a:pPr indent="0" marL="0">
              <a:buNone/>
            </a:pPr>
            <a:r>
              <a:rPr lang="en-US" sz="1300" spc="100" kern="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Osoba 1</a:t>
            </a:r>
            <a:endParaRPr lang="en-US" sz="1300" dirty="0"/>
          </a:p>
        </p:txBody>
      </p:sp>
      <p:sp>
        <p:nvSpPr>
          <p:cNvPr id="68" name="!!s1_ag1"/>
          <p:cNvSpPr txBox="1"/>
          <p:nvPr/>
        </p:nvSpPr>
        <p:spPr>
          <a:xfrm>
            <a:off x="3200400" y="5212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OBROŃCY</a:t>
            </a:r>
            <a:endParaRPr lang="en-US" sz="1300" dirty="0"/>
          </a:p>
          <a:p>
            <a:pPr indent="0" marL="0">
              <a:buNone/>
            </a:pPr>
            <a:r>
              <a:rPr lang="en-US" sz="1300" spc="100" kern="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Osoba 2</a:t>
            </a:r>
            <a:endParaRPr lang="en-US" sz="1300" dirty="0"/>
          </a:p>
        </p:txBody>
      </p:sp>
      <p:sp>
        <p:nvSpPr>
          <p:cNvPr id="69" name="!!s1_ag2"/>
          <p:cNvSpPr txBox="1"/>
          <p:nvPr/>
        </p:nvSpPr>
        <p:spPr>
          <a:xfrm>
            <a:off x="5852160" y="5212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WERDYKT</a:t>
            </a:r>
            <a:endParaRPr lang="en-US" sz="1300" dirty="0"/>
          </a:p>
          <a:p>
            <a:pPr indent="0" marL="0">
              <a:buNone/>
            </a:pPr>
            <a:r>
              <a:rPr lang="en-US" sz="1300" spc="100" kern="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Osoba 3</a:t>
            </a:r>
            <a:endParaRPr lang="en-US" sz="1300" dirty="0"/>
          </a:p>
        </p:txBody>
      </p:sp>
      <p:sp>
        <p:nvSpPr>
          <p:cNvPr id="70" name="!!s2_num"/>
          <p:cNvSpPr txBox="1"/>
          <p:nvPr/>
        </p:nvSpPr>
        <p:spPr>
          <a:xfrm>
            <a:off x="12557455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</a:t>
            </a:r>
            <a:endParaRPr lang="en-US" sz="2400" dirty="0"/>
          </a:p>
        </p:txBody>
      </p:sp>
      <p:sp>
        <p:nvSpPr>
          <p:cNvPr id="71" name="!!s2_sub"/>
          <p:cNvSpPr txBox="1"/>
          <p:nvPr/>
        </p:nvSpPr>
        <p:spPr>
          <a:xfrm>
            <a:off x="1888236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Jak AI uzbraja cyberprzestępców</a:t>
            </a:r>
            <a:endParaRPr lang="en-US" sz="2400" dirty="0"/>
          </a:p>
        </p:txBody>
      </p:sp>
      <p:sp>
        <p:nvSpPr>
          <p:cNvPr id="72" name="!!s2_chip"/>
          <p:cNvSpPr/>
          <p:nvPr/>
        </p:nvSpPr>
        <p:spPr>
          <a:xfrm>
            <a:off x="22539960" y="4434840"/>
            <a:ext cx="251460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3" name="!!s2_chipT"/>
          <p:cNvSpPr txBox="1"/>
          <p:nvPr/>
        </p:nvSpPr>
        <p:spPr>
          <a:xfrm>
            <a:off x="2253996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1</a:t>
            </a:r>
            <a:endParaRPr lang="en-US" sz="1400" dirty="0"/>
          </a:p>
        </p:txBody>
      </p:sp>
      <p:sp>
        <p:nvSpPr>
          <p:cNvPr id="74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· WSTĘP</a:t>
            </a:r>
            <a:endParaRPr lang="en-US" sz="1100" dirty="0"/>
          </a:p>
        </p:txBody>
      </p:sp>
      <p:sp>
        <p:nvSpPr>
          <p:cNvPr id="75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1</a:t>
            </a:r>
            <a:endParaRPr lang="en-US" sz="1100" dirty="0"/>
          </a:p>
        </p:txBody>
      </p:sp>
      <p:sp>
        <p:nvSpPr>
          <p:cNvPr id="76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7" name="!!tick0"/>
          <p:cNvSpPr/>
          <p:nvPr/>
        </p:nvSpPr>
        <p:spPr>
          <a:xfrm>
            <a:off x="548640" y="6400800"/>
            <a:ext cx="45720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8" name="!!tick1"/>
          <p:cNvSpPr/>
          <p:nvPr/>
        </p:nvSpPr>
        <p:spPr>
          <a:xfrm>
            <a:off x="107899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79" name="!!tick2"/>
          <p:cNvSpPr/>
          <p:nvPr/>
        </p:nvSpPr>
        <p:spPr>
          <a:xfrm>
            <a:off x="1298448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0" name="!!tick3"/>
          <p:cNvSpPr/>
          <p:nvPr/>
        </p:nvSpPr>
        <p:spPr>
          <a:xfrm>
            <a:off x="151790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1" name="!!tick4"/>
          <p:cNvSpPr/>
          <p:nvPr/>
        </p:nvSpPr>
        <p:spPr>
          <a:xfrm>
            <a:off x="173736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2" name="!!tick5"/>
          <p:cNvSpPr/>
          <p:nvPr/>
        </p:nvSpPr>
        <p:spPr>
          <a:xfrm>
            <a:off x="195681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3" name="!!tick6"/>
          <p:cNvSpPr/>
          <p:nvPr/>
        </p:nvSpPr>
        <p:spPr>
          <a:xfrm>
            <a:off x="217627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4" name="!!tick7"/>
          <p:cNvSpPr/>
          <p:nvPr/>
        </p:nvSpPr>
        <p:spPr>
          <a:xfrm>
            <a:off x="2395728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5" name="!!tick8"/>
          <p:cNvSpPr/>
          <p:nvPr/>
        </p:nvSpPr>
        <p:spPr>
          <a:xfrm>
            <a:off x="261518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6" name="!!tick9"/>
          <p:cNvSpPr/>
          <p:nvPr/>
        </p:nvSpPr>
        <p:spPr>
          <a:xfrm>
            <a:off x="283464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7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8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9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1100"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07232" y="-4547311"/>
            <a:ext cx="29748852" cy="1673352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11189971" y="5071414"/>
            <a:ext cx="169902" cy="169902"/>
          </a:xfrm>
          <a:prstGeom prst="ellipse">
            <a:avLst/>
          </a:prstGeom>
          <a:solidFill>
            <a:schemeClr val="accent1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10253638" y="3037460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13477617" y="-293914"/>
            <a:ext cx="156834" cy="156834"/>
          </a:xfrm>
          <a:prstGeom prst="ellipse">
            <a:avLst/>
          </a:prstGeom>
          <a:solidFill>
            <a:schemeClr val="accent1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10076033" y="-722545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7664685" y="7210251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5126567" y="9669645"/>
            <a:ext cx="647199" cy="647199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9836576" y="5070385"/>
            <a:ext cx="202991" cy="202991"/>
          </a:xfrm>
          <a:prstGeom prst="ellipse">
            <a:avLst/>
          </a:prstGeom>
          <a:solidFill>
            <a:schemeClr val="accent1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4354855" y="-1658818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-265610" y="3973047"/>
            <a:ext cx="167859" cy="167859"/>
          </a:xfrm>
          <a:prstGeom prst="ellipse">
            <a:avLst/>
          </a:prstGeom>
          <a:solidFill>
            <a:schemeClr val="accent1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5939129" y="5716918"/>
            <a:ext cx="1087278" cy="108727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7848157" y="6807338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1931587" y="8034569"/>
            <a:ext cx="139775" cy="139775"/>
          </a:xfrm>
          <a:prstGeom prst="ellipse">
            <a:avLst/>
          </a:prstGeom>
          <a:solidFill>
            <a:schemeClr val="accent1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4885213" y="2428153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5247045" y="9371500"/>
            <a:ext cx="218591" cy="218591"/>
          </a:xfrm>
          <a:prstGeom prst="ellipse">
            <a:avLst/>
          </a:prstGeom>
          <a:solidFill>
            <a:schemeClr val="accent1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9529546" y="8512794"/>
            <a:ext cx="140841" cy="140841"/>
          </a:xfrm>
          <a:prstGeom prst="ellipse">
            <a:avLst/>
          </a:prstGeom>
          <a:solidFill>
            <a:schemeClr val="accent1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4994048" y="4231208"/>
            <a:ext cx="786257" cy="786257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20640528" y="9688089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6057659" y="5875559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4306386" y="5914105"/>
            <a:ext cx="1079414" cy="1079414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17237449" y="6152631"/>
            <a:ext cx="228948" cy="228948"/>
          </a:xfrm>
          <a:prstGeom prst="ellipse">
            <a:avLst/>
          </a:prstGeom>
          <a:solidFill>
            <a:schemeClr val="accent1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12181856" y="675170"/>
            <a:ext cx="191645" cy="191645"/>
          </a:xfrm>
          <a:prstGeom prst="ellipse">
            <a:avLst/>
          </a:prstGeom>
          <a:solidFill>
            <a:schemeClr val="accent1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2605473" y="-277799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5777244" y="8454334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7649285" y="3933406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3407227" y="5031566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6800702" y="155699"/>
            <a:ext cx="227967" cy="227967"/>
          </a:xfrm>
          <a:prstGeom prst="ellipse">
            <a:avLst/>
          </a:prstGeom>
          <a:solidFill>
            <a:schemeClr val="accent1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7875520" y="-1529102"/>
            <a:ext cx="156456" cy="156456"/>
          </a:xfrm>
          <a:prstGeom prst="ellipse">
            <a:avLst/>
          </a:prstGeom>
          <a:solidFill>
            <a:schemeClr val="accent1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4414485" y="1893332"/>
            <a:ext cx="156446" cy="156446"/>
          </a:xfrm>
          <a:prstGeom prst="ellipse">
            <a:avLst/>
          </a:prstGeom>
          <a:solidFill>
            <a:schemeClr val="accent1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6682837" y="1143822"/>
            <a:ext cx="236050" cy="236050"/>
          </a:xfrm>
          <a:prstGeom prst="ellipse">
            <a:avLst/>
          </a:prstGeom>
          <a:solidFill>
            <a:schemeClr val="accent1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9180650" y="-563895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3646684" y="5320799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5744785" y="7186145"/>
            <a:ext cx="595298" cy="59529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20144800" y="5553851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4122075" y="7390792"/>
            <a:ext cx="204820" cy="204820"/>
          </a:xfrm>
          <a:prstGeom prst="ellipse">
            <a:avLst/>
          </a:prstGeom>
          <a:solidFill>
            <a:schemeClr val="accent1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9896698" y="4478082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7470850" y="4309325"/>
            <a:ext cx="171070" cy="171070"/>
          </a:xfrm>
          <a:prstGeom prst="ellipse">
            <a:avLst/>
          </a:prstGeom>
          <a:solidFill>
            <a:schemeClr val="accent1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21228922" y="3953417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5093538" y="-1081309"/>
            <a:ext cx="152405" cy="152405"/>
          </a:xfrm>
          <a:prstGeom prst="ellipse">
            <a:avLst/>
          </a:prstGeom>
          <a:solidFill>
            <a:schemeClr val="accent1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8325849" y="4535663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1127365" y="-1745551"/>
            <a:ext cx="107954" cy="107954"/>
          </a:xfrm>
          <a:prstGeom prst="ellipse">
            <a:avLst/>
          </a:prstGeom>
          <a:solidFill>
            <a:schemeClr val="accent1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5725168" y="8595343"/>
            <a:ext cx="116916" cy="116916"/>
          </a:xfrm>
          <a:prstGeom prst="ellipse">
            <a:avLst/>
          </a:prstGeom>
          <a:solidFill>
            <a:schemeClr val="accent1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10901451" y="4839926"/>
            <a:ext cx="238576" cy="238576"/>
          </a:xfrm>
          <a:prstGeom prst="ellipse">
            <a:avLst/>
          </a:prstGeom>
          <a:solidFill>
            <a:schemeClr val="accent1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7600714" y="3118968"/>
            <a:ext cx="231782" cy="231782"/>
          </a:xfrm>
          <a:prstGeom prst="ellipse">
            <a:avLst/>
          </a:prstGeom>
          <a:solidFill>
            <a:schemeClr val="accent1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6006016" y="7022919"/>
            <a:ext cx="559428" cy="55942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10778750" y="5201017"/>
            <a:ext cx="158543" cy="158543"/>
          </a:xfrm>
          <a:prstGeom prst="ellipse">
            <a:avLst/>
          </a:prstGeom>
          <a:solidFill>
            <a:schemeClr val="accent1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2273547" y="6732187"/>
            <a:ext cx="205010" cy="205010"/>
          </a:xfrm>
          <a:prstGeom prst="ellipse">
            <a:avLst/>
          </a:prstGeom>
          <a:solidFill>
            <a:schemeClr val="accent1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5980549" y="9154159"/>
            <a:ext cx="171511" cy="171511"/>
          </a:xfrm>
          <a:prstGeom prst="ellipse">
            <a:avLst/>
          </a:prstGeom>
          <a:solidFill>
            <a:schemeClr val="accent1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15519406" y="5101609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1311597" y="6562149"/>
            <a:ext cx="160209" cy="160209"/>
          </a:xfrm>
          <a:prstGeom prst="ellipse">
            <a:avLst/>
          </a:prstGeom>
          <a:solidFill>
            <a:schemeClr val="accent1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5537471" y="7272077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5670966" y="32282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-59224" y="1588728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aOrb" descr="Rdzeń AI atakujący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868680"/>
            <a:ext cx="5120640" cy="5120640"/>
          </a:xfrm>
          <a:prstGeom prst="rect">
            <a:avLst/>
          </a:prstGeom>
        </p:spPr>
      </p:pic>
      <p:pic>
        <p:nvPicPr>
          <p:cNvPr id="58" name="!!bOrb" descr="Rdzeń AI obrońców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3167360" y="182880"/>
            <a:ext cx="1463040" cy="1463040"/>
          </a:xfrm>
          <a:prstGeom prst="rect">
            <a:avLst/>
          </a:prstGeom>
        </p:spPr>
      </p:pic>
      <p:sp>
        <p:nvSpPr>
          <p:cNvPr id="59" name="!!bigword"/>
          <p:cNvSpPr txBox="1"/>
          <p:nvPr/>
        </p:nvSpPr>
        <p:spPr>
          <a:xfrm>
            <a:off x="548640" y="2240280"/>
            <a:ext cx="73152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0" b="1" spc="200" kern="0" dirty="0">
                <a:solidFill>
                  <a:schemeClr val="accent1"/>
                </a:solidFill>
                <a:effectLst>
                  <a:glow rad="228600">
                    <a:srgbClr val="FF2D55">
                      <a:alpha val="35000"/>
                    </a:srgbClr>
                  </a:glow>
                </a:effectLst>
                <a:latin typeface="+mj-lt" pitchFamily="34" charset="0"/>
                <a:ea typeface="+mj-lt" pitchFamily="34" charset="-122"/>
                <a:cs typeface="+mj-lt" pitchFamily="34" charset="-120"/>
              </a:rPr>
              <a:t>ATAKUJĄCY</a:t>
            </a:r>
            <a:endParaRPr lang="en-US" sz="8000" dirty="0"/>
          </a:p>
        </p:txBody>
      </p:sp>
      <p:sp>
        <p:nvSpPr>
          <p:cNvPr id="60" name="!!ring1"/>
          <p:cNvSpPr/>
          <p:nvPr/>
        </p:nvSpPr>
        <p:spPr>
          <a:xfrm rot="3600000">
            <a:off x="7543800" y="1188720"/>
            <a:ext cx="4480560" cy="448056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1">
                <a:alpha val="75000"/>
              </a:schemeClr>
            </a:solidFill>
            <a:prstDash val="solid"/>
          </a:ln>
        </p:spPr>
      </p:sp>
      <p:sp>
        <p:nvSpPr>
          <p:cNvPr id="61" name="!!ring2"/>
          <p:cNvSpPr/>
          <p:nvPr/>
        </p:nvSpPr>
        <p:spPr>
          <a:xfrm rot="1800000">
            <a:off x="7230161" y="875081"/>
            <a:ext cx="5107838" cy="5107838"/>
          </a:xfrm>
          <a:prstGeom prst="ellipse">
            <a:avLst/>
          </a:prstGeom>
          <a:noFill/>
          <a:ln w="9525">
            <a:solidFill>
              <a:schemeClr val="bg1">
                <a:alpha val="30000"/>
              </a:schemeClr>
            </a:solidFill>
            <a:prstDash val="dash"/>
          </a:ln>
        </p:spPr>
      </p:sp>
      <p:sp>
        <p:nvSpPr>
          <p:cNvPr id="62" name="!!ring3"/>
          <p:cNvSpPr/>
          <p:nvPr/>
        </p:nvSpPr>
        <p:spPr>
          <a:xfrm rot="17400000">
            <a:off x="7812634" y="1457554"/>
            <a:ext cx="3942893" cy="3942893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63" name="!!flare"/>
          <p:cNvSpPr/>
          <p:nvPr/>
        </p:nvSpPr>
        <p:spPr>
          <a:xfrm>
            <a:off x="5212080" y="3383280"/>
            <a:ext cx="9144000" cy="91440"/>
          </a:xfrm>
          <a:prstGeom prst="ellipse">
            <a:avLst/>
          </a:prstGeom>
          <a:solidFill>
            <a:schemeClr val="accent1">
              <a:alpha val="65000"/>
            </a:schemeClr>
          </a:solidFill>
          <a:ln/>
          <a:effectLst>
            <a:softEdge rad="36576"/>
          </a:effectLst>
        </p:spPr>
      </p:sp>
      <p:sp>
        <p:nvSpPr>
          <p:cNvPr id="64" name="!!s1_kicker"/>
          <p:cNvSpPr txBox="1"/>
          <p:nvPr/>
        </p:nvSpPr>
        <p:spPr>
          <a:xfrm>
            <a:off x="-1042416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RAPORT Z CYFROWEGO FRONTU · 2026</a:t>
            </a:r>
            <a:endParaRPr lang="en-US" sz="1400" dirty="0"/>
          </a:p>
        </p:txBody>
      </p:sp>
      <p:sp>
        <p:nvSpPr>
          <p:cNvPr id="65" name="!!s1_line2"/>
          <p:cNvSpPr txBox="1"/>
          <p:nvPr/>
        </p:nvSpPr>
        <p:spPr>
          <a:xfrm>
            <a:off x="-14081760" y="2697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 ERZE </a:t>
            </a:r>
            <a:pPr indent="0" marL="0">
              <a:buNone/>
            </a:pPr>
            <a:r>
              <a:rPr lang="en-US" sz="4800" b="1" spc="10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</a:t>
            </a:r>
            <a:endParaRPr lang="en-US" sz="4800" dirty="0"/>
          </a:p>
        </p:txBody>
      </p:sp>
      <p:sp>
        <p:nvSpPr>
          <p:cNvPr id="66" name="!!s1_q"/>
          <p:cNvSpPr txBox="1"/>
          <p:nvPr/>
        </p:nvSpPr>
        <p:spPr>
          <a:xfrm>
            <a:off x="-17739360" y="3840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Czy sztuczna inteligencja pomaga bardziej atakującym, czy obrońcom?</a:t>
            </a:r>
            <a:endParaRPr lang="en-US" sz="2200" dirty="0"/>
          </a:p>
        </p:txBody>
      </p:sp>
      <p:sp>
        <p:nvSpPr>
          <p:cNvPr id="67" name="!!s1_ag0"/>
          <p:cNvSpPr txBox="1"/>
          <p:nvPr/>
        </p:nvSpPr>
        <p:spPr>
          <a:xfrm>
            <a:off x="548640" y="8869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ATAKUJĄCY</a:t>
            </a:r>
            <a:endParaRPr lang="en-US" sz="1300" dirty="0"/>
          </a:p>
          <a:p>
            <a:pPr indent="0" marL="0">
              <a:buNone/>
            </a:pPr>
            <a:r>
              <a:rPr lang="en-US" sz="1300" spc="100" kern="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Osoba 1</a:t>
            </a:r>
            <a:endParaRPr lang="en-US" sz="1300" dirty="0"/>
          </a:p>
        </p:txBody>
      </p:sp>
      <p:sp>
        <p:nvSpPr>
          <p:cNvPr id="68" name="!!s1_ag1"/>
          <p:cNvSpPr txBox="1"/>
          <p:nvPr/>
        </p:nvSpPr>
        <p:spPr>
          <a:xfrm>
            <a:off x="3200400" y="8869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OBROŃCY</a:t>
            </a:r>
            <a:endParaRPr lang="en-US" sz="1300" dirty="0"/>
          </a:p>
          <a:p>
            <a:pPr indent="0" marL="0">
              <a:buNone/>
            </a:pPr>
            <a:r>
              <a:rPr lang="en-US" sz="1300" spc="100" kern="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Osoba 2</a:t>
            </a:r>
            <a:endParaRPr lang="en-US" sz="1300" dirty="0"/>
          </a:p>
        </p:txBody>
      </p:sp>
      <p:sp>
        <p:nvSpPr>
          <p:cNvPr id="69" name="!!s1_ag2"/>
          <p:cNvSpPr txBox="1"/>
          <p:nvPr/>
        </p:nvSpPr>
        <p:spPr>
          <a:xfrm>
            <a:off x="5852160" y="8869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WERDYKT</a:t>
            </a:r>
            <a:endParaRPr lang="en-US" sz="1300" dirty="0"/>
          </a:p>
          <a:p>
            <a:pPr indent="0" marL="0">
              <a:buNone/>
            </a:pPr>
            <a:r>
              <a:rPr lang="en-US" sz="1300" spc="100" kern="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Osoba 3</a:t>
            </a:r>
            <a:endParaRPr lang="en-US" sz="1300" dirty="0"/>
          </a:p>
        </p:txBody>
      </p:sp>
      <p:sp>
        <p:nvSpPr>
          <p:cNvPr id="70" name="!!s2_num"/>
          <p:cNvSpPr txBox="1"/>
          <p:nvPr/>
        </p:nvSpPr>
        <p:spPr>
          <a:xfrm>
            <a:off x="59436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</a:t>
            </a:r>
            <a:endParaRPr lang="en-US" sz="2400" dirty="0"/>
          </a:p>
        </p:txBody>
      </p:sp>
      <p:sp>
        <p:nvSpPr>
          <p:cNvPr id="71" name="!!s2_sub"/>
          <p:cNvSpPr txBox="1"/>
          <p:nvPr/>
        </p:nvSpPr>
        <p:spPr>
          <a:xfrm>
            <a:off x="59436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Jak AI uzbraja cyberprzestępców</a:t>
            </a:r>
            <a:endParaRPr lang="en-US" sz="2400" dirty="0"/>
          </a:p>
        </p:txBody>
      </p:sp>
      <p:sp>
        <p:nvSpPr>
          <p:cNvPr id="72" name="!!s2_chip"/>
          <p:cNvSpPr/>
          <p:nvPr/>
        </p:nvSpPr>
        <p:spPr>
          <a:xfrm>
            <a:off x="594360" y="4434840"/>
            <a:ext cx="251460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3" name="!!s2_chipT"/>
          <p:cNvSpPr txBox="1"/>
          <p:nvPr/>
        </p:nvSpPr>
        <p:spPr>
          <a:xfrm>
            <a:off x="59436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1</a:t>
            </a:r>
            <a:endParaRPr lang="en-US" sz="1400" dirty="0"/>
          </a:p>
        </p:txBody>
      </p:sp>
      <p:sp>
        <p:nvSpPr>
          <p:cNvPr id="74" name="!!s3_title"/>
          <p:cNvSpPr txBox="1"/>
          <p:nvPr/>
        </p:nvSpPr>
        <p:spPr>
          <a:xfrm>
            <a:off x="133502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Socjotechnika na sterydach</a:t>
            </a:r>
            <a:endParaRPr lang="en-US" sz="3600" dirty="0"/>
          </a:p>
        </p:txBody>
      </p:sp>
      <p:sp>
        <p:nvSpPr>
          <p:cNvPr id="75" name="!!s3_p1n"/>
          <p:cNvSpPr txBox="1"/>
          <p:nvPr/>
        </p:nvSpPr>
        <p:spPr>
          <a:xfrm>
            <a:off x="15179040" y="1865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6" name="!!s3_p1h"/>
          <p:cNvSpPr txBox="1"/>
          <p:nvPr/>
        </p:nvSpPr>
        <p:spPr>
          <a:xfrm>
            <a:off x="15727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Phishing bez literówek</a:t>
            </a:r>
            <a:endParaRPr lang="en-US" sz="1800" dirty="0"/>
          </a:p>
        </p:txBody>
      </p:sp>
      <p:sp>
        <p:nvSpPr>
          <p:cNvPr id="77" name="!!s3_p1d"/>
          <p:cNvSpPr txBox="1"/>
          <p:nvPr/>
        </p:nvSpPr>
        <p:spPr>
          <a:xfrm>
            <a:off x="15727680" y="2212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Spersonalizowane wiadomości w każdym języku. Dawne sygnały ostrzegawcze znikają.</a:t>
            </a:r>
            <a:endParaRPr lang="en-US" sz="1400" dirty="0"/>
          </a:p>
        </p:txBody>
      </p:sp>
      <p:sp>
        <p:nvSpPr>
          <p:cNvPr id="78" name="!!s3_p2n"/>
          <p:cNvSpPr txBox="1"/>
          <p:nvPr/>
        </p:nvSpPr>
        <p:spPr>
          <a:xfrm>
            <a:off x="17007840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79" name="!!s3_p2h"/>
          <p:cNvSpPr txBox="1"/>
          <p:nvPr/>
        </p:nvSpPr>
        <p:spPr>
          <a:xfrm>
            <a:off x="1755648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Klonowanie głosu</a:t>
            </a:r>
            <a:endParaRPr lang="en-US" sz="1800" dirty="0"/>
          </a:p>
        </p:txBody>
      </p:sp>
      <p:sp>
        <p:nvSpPr>
          <p:cNvPr id="80" name="!!s3_p2d"/>
          <p:cNvSpPr txBox="1"/>
          <p:nvPr/>
        </p:nvSpPr>
        <p:spPr>
          <a:xfrm>
            <a:off x="17556480" y="3355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Kilka sekund nagrania wystarczy, by podrobić głos szefa lub kogoś z rodziny.</a:t>
            </a:r>
            <a:endParaRPr lang="en-US" sz="1400" dirty="0"/>
          </a:p>
        </p:txBody>
      </p:sp>
      <p:sp>
        <p:nvSpPr>
          <p:cNvPr id="81" name="!!s3_p3n"/>
          <p:cNvSpPr txBox="1"/>
          <p:nvPr/>
        </p:nvSpPr>
        <p:spPr>
          <a:xfrm>
            <a:off x="18836640" y="4151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82" name="!!s3_p3h"/>
          <p:cNvSpPr txBox="1"/>
          <p:nvPr/>
        </p:nvSpPr>
        <p:spPr>
          <a:xfrm>
            <a:off x="1938528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Deepfake na żywo</a:t>
            </a:r>
            <a:endParaRPr lang="en-US" sz="1800" dirty="0"/>
          </a:p>
        </p:txBody>
      </p:sp>
      <p:sp>
        <p:nvSpPr>
          <p:cNvPr id="83" name="!!s3_p3d"/>
          <p:cNvSpPr txBox="1"/>
          <p:nvPr/>
        </p:nvSpPr>
        <p:spPr>
          <a:xfrm>
            <a:off x="19385280" y="4498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Fałszywy obraz i dźwięk w czasie rzeczywistym — także podczas wideorozmowy.</a:t>
            </a:r>
            <a:endParaRPr lang="en-US" sz="1400" dirty="0"/>
          </a:p>
        </p:txBody>
      </p:sp>
      <p:sp>
        <p:nvSpPr>
          <p:cNvPr id="84" name="!!s3_tile0"/>
          <p:cNvSpPr/>
          <p:nvPr/>
        </p:nvSpPr>
        <p:spPr>
          <a:xfrm>
            <a:off x="26654760" y="16916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5" name="!!s3_tileI0" descr="CF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4880" y="1984248"/>
            <a:ext cx="548640" cy="548640"/>
          </a:xfrm>
          <a:prstGeom prst="rect">
            <a:avLst/>
          </a:prstGeom>
        </p:spPr>
      </p:pic>
      <p:sp>
        <p:nvSpPr>
          <p:cNvPr id="86" name="!!s3_tileL0"/>
          <p:cNvSpPr txBox="1"/>
          <p:nvPr/>
        </p:nvSpPr>
        <p:spPr>
          <a:xfrm>
            <a:off x="26764488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CFO</a:t>
            </a:r>
            <a:endParaRPr lang="en-US" sz="1100" dirty="0"/>
          </a:p>
        </p:txBody>
      </p:sp>
      <p:sp>
        <p:nvSpPr>
          <p:cNvPr id="87" name="!!s3_tileF0"/>
          <p:cNvSpPr txBox="1"/>
          <p:nvPr/>
        </p:nvSpPr>
        <p:spPr>
          <a:xfrm>
            <a:off x="28026360" y="28072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DEEPFAKE</a:t>
            </a:r>
            <a:endParaRPr lang="en-US" sz="1000" dirty="0"/>
          </a:p>
        </p:txBody>
      </p:sp>
      <p:sp>
        <p:nvSpPr>
          <p:cNvPr id="88" name="!!s3_tile1"/>
          <p:cNvSpPr/>
          <p:nvPr/>
        </p:nvSpPr>
        <p:spPr>
          <a:xfrm>
            <a:off x="30175200" y="16916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9" name="!!s3_tileI1" descr="DYREKT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35320" y="1984248"/>
            <a:ext cx="548640" cy="548640"/>
          </a:xfrm>
          <a:prstGeom prst="rect">
            <a:avLst/>
          </a:prstGeom>
        </p:spPr>
      </p:pic>
      <p:sp>
        <p:nvSpPr>
          <p:cNvPr id="90" name="!!s3_tileL1"/>
          <p:cNvSpPr txBox="1"/>
          <p:nvPr/>
        </p:nvSpPr>
        <p:spPr>
          <a:xfrm>
            <a:off x="30284928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DYREKTOR</a:t>
            </a:r>
            <a:endParaRPr lang="en-US" sz="1100" dirty="0"/>
          </a:p>
        </p:txBody>
      </p:sp>
      <p:sp>
        <p:nvSpPr>
          <p:cNvPr id="91" name="!!s3_tileF1"/>
          <p:cNvSpPr txBox="1"/>
          <p:nvPr/>
        </p:nvSpPr>
        <p:spPr>
          <a:xfrm>
            <a:off x="31546800" y="28072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DEEPFAKE</a:t>
            </a:r>
            <a:endParaRPr lang="en-US" sz="1000" dirty="0"/>
          </a:p>
        </p:txBody>
      </p:sp>
      <p:sp>
        <p:nvSpPr>
          <p:cNvPr id="92" name="!!s3_tile2"/>
          <p:cNvSpPr/>
          <p:nvPr/>
        </p:nvSpPr>
        <p:spPr>
          <a:xfrm>
            <a:off x="28483560" y="32918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93" name="!!s3_tileI2" descr="KSIĘGOW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43680" y="3584448"/>
            <a:ext cx="548640" cy="548640"/>
          </a:xfrm>
          <a:prstGeom prst="rect">
            <a:avLst/>
          </a:prstGeom>
        </p:spPr>
      </p:pic>
      <p:sp>
        <p:nvSpPr>
          <p:cNvPr id="94" name="!!s3_tileL2"/>
          <p:cNvSpPr txBox="1"/>
          <p:nvPr/>
        </p:nvSpPr>
        <p:spPr>
          <a:xfrm>
            <a:off x="28593288" y="4407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KSIĘGOWA</a:t>
            </a:r>
            <a:endParaRPr lang="en-US" sz="1100" dirty="0"/>
          </a:p>
        </p:txBody>
      </p:sp>
      <p:sp>
        <p:nvSpPr>
          <p:cNvPr id="95" name="!!s3_tileF2"/>
          <p:cNvSpPr txBox="1"/>
          <p:nvPr/>
        </p:nvSpPr>
        <p:spPr>
          <a:xfrm>
            <a:off x="29855160" y="44074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DEEPFAKE</a:t>
            </a:r>
            <a:endParaRPr lang="en-US" sz="1000" dirty="0"/>
          </a:p>
        </p:txBody>
      </p:sp>
      <p:sp>
        <p:nvSpPr>
          <p:cNvPr id="96" name="!!s3_tile3"/>
          <p:cNvSpPr/>
          <p:nvPr/>
        </p:nvSpPr>
        <p:spPr>
          <a:xfrm>
            <a:off x="32004000" y="32918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2">
                <a:alpha val="80000"/>
              </a:schemeClr>
            </a:solidFill>
            <a:prstDash val="solid"/>
          </a:ln>
        </p:spPr>
      </p:sp>
      <p:pic>
        <p:nvPicPr>
          <p:cNvPr id="97" name="!!s3_tileI3" descr="T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64120" y="3584448"/>
            <a:ext cx="548640" cy="548640"/>
          </a:xfrm>
          <a:prstGeom prst="rect">
            <a:avLst/>
          </a:prstGeom>
        </p:spPr>
      </p:pic>
      <p:sp>
        <p:nvSpPr>
          <p:cNvPr id="98" name="!!s3_tileL3"/>
          <p:cNvSpPr txBox="1"/>
          <p:nvPr/>
        </p:nvSpPr>
        <p:spPr>
          <a:xfrm>
            <a:off x="32113728" y="4407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</a:t>
            </a:r>
            <a:endParaRPr lang="en-US" sz="1100" dirty="0"/>
          </a:p>
        </p:txBody>
      </p:sp>
      <p:sp>
        <p:nvSpPr>
          <p:cNvPr id="99" name="!!s3_stat"/>
          <p:cNvSpPr txBox="1"/>
          <p:nvPr/>
        </p:nvSpPr>
        <p:spPr>
          <a:xfrm>
            <a:off x="30312360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 mln $</a:t>
            </a:r>
            <a:endParaRPr lang="en-US" sz="3600" dirty="0"/>
          </a:p>
        </p:txBody>
      </p:sp>
      <p:sp>
        <p:nvSpPr>
          <p:cNvPr id="100" name="!!s3_statD"/>
          <p:cNvSpPr txBox="1"/>
          <p:nvPr/>
        </p:nvSpPr>
        <p:spPr>
          <a:xfrm>
            <a:off x="32689800" y="4983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przelał pracownik firmy Arup w Hongkongu po wideorozmowie z deepfake'ami „członków zarządu” (2024)</a:t>
            </a:r>
            <a:endParaRPr lang="en-US" sz="1200" dirty="0"/>
          </a:p>
        </p:txBody>
      </p:sp>
      <p:sp>
        <p:nvSpPr>
          <p:cNvPr id="101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ATAKUJĄCY</a:t>
            </a:r>
            <a:endParaRPr lang="en-US" sz="1100" dirty="0"/>
          </a:p>
        </p:txBody>
      </p:sp>
      <p:sp>
        <p:nvSpPr>
          <p:cNvPr id="102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1</a:t>
            </a:r>
            <a:endParaRPr lang="en-US" sz="1100" dirty="0"/>
          </a:p>
        </p:txBody>
      </p:sp>
      <p:sp>
        <p:nvSpPr>
          <p:cNvPr id="103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4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5" name="!!tick1"/>
          <p:cNvSpPr/>
          <p:nvPr/>
        </p:nvSpPr>
        <p:spPr>
          <a:xfrm>
            <a:off x="768096" y="6400800"/>
            <a:ext cx="4572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6" name="!!tick2"/>
          <p:cNvSpPr/>
          <p:nvPr/>
        </p:nvSpPr>
        <p:spPr>
          <a:xfrm>
            <a:off x="1298448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07" name="!!tick3"/>
          <p:cNvSpPr/>
          <p:nvPr/>
        </p:nvSpPr>
        <p:spPr>
          <a:xfrm>
            <a:off x="151790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08" name="!!tick4"/>
          <p:cNvSpPr/>
          <p:nvPr/>
        </p:nvSpPr>
        <p:spPr>
          <a:xfrm>
            <a:off x="173736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09" name="!!tick5"/>
          <p:cNvSpPr/>
          <p:nvPr/>
        </p:nvSpPr>
        <p:spPr>
          <a:xfrm>
            <a:off x="195681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10" name="!!tick6"/>
          <p:cNvSpPr/>
          <p:nvPr/>
        </p:nvSpPr>
        <p:spPr>
          <a:xfrm>
            <a:off x="217627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11" name="!!tick7"/>
          <p:cNvSpPr/>
          <p:nvPr/>
        </p:nvSpPr>
        <p:spPr>
          <a:xfrm>
            <a:off x="2395728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12" name="!!tick8"/>
          <p:cNvSpPr/>
          <p:nvPr/>
        </p:nvSpPr>
        <p:spPr>
          <a:xfrm>
            <a:off x="261518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13" name="!!tick9"/>
          <p:cNvSpPr/>
          <p:nvPr/>
        </p:nvSpPr>
        <p:spPr>
          <a:xfrm>
            <a:off x="283464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14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15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16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2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343461" y="-4185026"/>
            <a:ext cx="26335049" cy="1481328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12248915" y="4224259"/>
            <a:ext cx="169902" cy="169902"/>
          </a:xfrm>
          <a:prstGeom prst="ellipse">
            <a:avLst/>
          </a:prstGeom>
          <a:solidFill>
            <a:schemeClr val="accent1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10696976" y="2682789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14405881" y="-1036526"/>
            <a:ext cx="156834" cy="156834"/>
          </a:xfrm>
          <a:prstGeom prst="ellipse">
            <a:avLst/>
          </a:prstGeom>
          <a:solidFill>
            <a:schemeClr val="accent1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10969979" y="-1437702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8590726" y="6469418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5814763" y="9119089"/>
            <a:ext cx="647199" cy="647199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11226410" y="3958518"/>
            <a:ext cx="202991" cy="202991"/>
          </a:xfrm>
          <a:prstGeom prst="ellipse">
            <a:avLst/>
          </a:prstGeom>
          <a:solidFill>
            <a:schemeClr val="accent1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5896116" y="-2891827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772896" y="3142242"/>
            <a:ext cx="167859" cy="167859"/>
          </a:xfrm>
          <a:prstGeom prst="ellipse">
            <a:avLst/>
          </a:prstGeom>
          <a:solidFill>
            <a:schemeClr val="accent1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7187096" y="4718544"/>
            <a:ext cx="1087278" cy="108727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6853993" y="6012007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2689255" y="7428434"/>
            <a:ext cx="139775" cy="139775"/>
          </a:xfrm>
          <a:prstGeom prst="ellipse">
            <a:avLst/>
          </a:prstGeom>
          <a:solidFill>
            <a:schemeClr val="accent1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3657033" y="1445609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6792879" y="8134832"/>
            <a:ext cx="218591" cy="218591"/>
          </a:xfrm>
          <a:prstGeom prst="ellipse">
            <a:avLst/>
          </a:prstGeom>
          <a:solidFill>
            <a:schemeClr val="accent1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8761215" y="7898129"/>
            <a:ext cx="140841" cy="140841"/>
          </a:xfrm>
          <a:prstGeom prst="ellipse">
            <a:avLst/>
          </a:prstGeom>
          <a:solidFill>
            <a:schemeClr val="accent1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5499389" y="3826935"/>
            <a:ext cx="786257" cy="786257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21768074" y="8786052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4910844" y="4958107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2963645" y="4839913"/>
            <a:ext cx="1079414" cy="1079414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18886848" y="4833112"/>
            <a:ext cx="228948" cy="228948"/>
          </a:xfrm>
          <a:prstGeom prst="ellipse">
            <a:avLst/>
          </a:prstGeom>
          <a:solidFill>
            <a:schemeClr val="accent1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13458229" y="-345929"/>
            <a:ext cx="191645" cy="191645"/>
          </a:xfrm>
          <a:prstGeom prst="ellipse">
            <a:avLst/>
          </a:prstGeom>
          <a:solidFill>
            <a:schemeClr val="accent1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3065908" y="-646148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7177140" y="7334417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8875238" y="2952643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3827273" y="4695529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5161111" y="-1155974"/>
            <a:ext cx="227967" cy="227967"/>
          </a:xfrm>
          <a:prstGeom prst="ellipse">
            <a:avLst/>
          </a:prstGeom>
          <a:solidFill>
            <a:schemeClr val="accent1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6951038" y="-2268688"/>
            <a:ext cx="156456" cy="156456"/>
          </a:xfrm>
          <a:prstGeom prst="ellipse">
            <a:avLst/>
          </a:prstGeom>
          <a:solidFill>
            <a:schemeClr val="accent1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5338868" y="1153826"/>
            <a:ext cx="156446" cy="156446"/>
          </a:xfrm>
          <a:prstGeom prst="ellipse">
            <a:avLst/>
          </a:prstGeom>
          <a:solidFill>
            <a:schemeClr val="accent1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8403259" y="-232517"/>
            <a:ext cx="236050" cy="236050"/>
          </a:xfrm>
          <a:prstGeom prst="ellipse">
            <a:avLst/>
          </a:prstGeom>
          <a:solidFill>
            <a:schemeClr val="accent1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8049157" y="-1469089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3123974" y="4902631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4256745" y="5995713"/>
            <a:ext cx="595298" cy="59529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20962873" y="4899392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5530196" y="6264296"/>
            <a:ext cx="204820" cy="204820"/>
          </a:xfrm>
          <a:prstGeom prst="ellipse">
            <a:avLst/>
          </a:prstGeom>
          <a:solidFill>
            <a:schemeClr val="accent1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9369840" y="4056595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6400234" y="3452831"/>
            <a:ext cx="171070" cy="171070"/>
          </a:xfrm>
          <a:prstGeom prst="ellipse">
            <a:avLst/>
          </a:prstGeom>
          <a:solidFill>
            <a:schemeClr val="accent1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22959995" y="2568559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5977507" y="-1788484"/>
            <a:ext cx="152405" cy="152405"/>
          </a:xfrm>
          <a:prstGeom prst="ellipse">
            <a:avLst/>
          </a:prstGeom>
          <a:solidFill>
            <a:schemeClr val="accent1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8781094" y="4171468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687906" y="-2097117"/>
            <a:ext cx="107954" cy="107954"/>
          </a:xfrm>
          <a:prstGeom prst="ellipse">
            <a:avLst/>
          </a:prstGeom>
          <a:solidFill>
            <a:schemeClr val="accent1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5196085" y="8172076"/>
            <a:ext cx="116916" cy="116916"/>
          </a:xfrm>
          <a:prstGeom prst="ellipse">
            <a:avLst/>
          </a:prstGeom>
          <a:solidFill>
            <a:schemeClr val="accent1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12647131" y="3443381"/>
            <a:ext cx="238576" cy="238576"/>
          </a:xfrm>
          <a:prstGeom prst="ellipse">
            <a:avLst/>
          </a:prstGeom>
          <a:solidFill>
            <a:schemeClr val="accent1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9278450" y="1776778"/>
            <a:ext cx="231782" cy="231782"/>
          </a:xfrm>
          <a:prstGeom prst="ellipse">
            <a:avLst/>
          </a:prstGeom>
          <a:solidFill>
            <a:schemeClr val="accent1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4774599" y="6037785"/>
            <a:ext cx="559428" cy="55942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11724099" y="4444738"/>
            <a:ext cx="158543" cy="158543"/>
          </a:xfrm>
          <a:prstGeom prst="ellipse">
            <a:avLst/>
          </a:prstGeom>
          <a:solidFill>
            <a:schemeClr val="accent1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3683572" y="5604167"/>
            <a:ext cx="205010" cy="205010"/>
          </a:xfrm>
          <a:prstGeom prst="ellipse">
            <a:avLst/>
          </a:prstGeom>
          <a:solidFill>
            <a:schemeClr val="accent1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4905515" y="8294131"/>
            <a:ext cx="171511" cy="171511"/>
          </a:xfrm>
          <a:prstGeom prst="ellipse">
            <a:avLst/>
          </a:prstGeom>
          <a:solidFill>
            <a:schemeClr val="accent1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17128115" y="3814643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2273603" y="5792544"/>
            <a:ext cx="160209" cy="160209"/>
          </a:xfrm>
          <a:prstGeom prst="ellipse">
            <a:avLst/>
          </a:prstGeom>
          <a:solidFill>
            <a:schemeClr val="accent1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6890819" y="6189398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4284707" y="-1076725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629290" y="1037917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aOrb" descr="Rdzeń AI atakujących">    </p:cNvPr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9272016" y="-4626864"/>
            <a:ext cx="7607808" cy="7607808"/>
          </a:xfrm>
          <a:prstGeom prst="rect">
            <a:avLst/>
          </a:prstGeom>
        </p:spPr>
      </p:pic>
      <p:pic>
        <p:nvPicPr>
          <p:cNvPr id="58" name="!!bOrb" descr="Rdzeń AI obrońców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4813280" y="2011680"/>
            <a:ext cx="1463040" cy="1463040"/>
          </a:xfrm>
          <a:prstGeom prst="rect">
            <a:avLst/>
          </a:prstGeom>
        </p:spPr>
      </p:pic>
      <p:sp>
        <p:nvSpPr>
          <p:cNvPr id="59" name="!!ring1"/>
          <p:cNvSpPr/>
          <p:nvPr/>
        </p:nvSpPr>
        <p:spPr>
          <a:xfrm rot="4800000">
            <a:off x="9418320" y="-4480560"/>
            <a:ext cx="7315200" cy="731520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0" name="!!ring2"/>
          <p:cNvSpPr/>
          <p:nvPr/>
        </p:nvSpPr>
        <p:spPr>
          <a:xfrm rot="2400000">
            <a:off x="8906256" y="-4992624"/>
            <a:ext cx="8339328" cy="8339328"/>
          </a:xfrm>
          <a:prstGeom prst="ellipse">
            <a:avLst/>
          </a:prstGeom>
          <a:noFill/>
          <a:ln w="9525">
            <a:solidFill>
              <a:schemeClr val="bg1">
                <a:alpha val="5000"/>
              </a:schemeClr>
            </a:solidFill>
            <a:prstDash val="dash"/>
          </a:ln>
        </p:spPr>
      </p:sp>
      <p:sp>
        <p:nvSpPr>
          <p:cNvPr id="61" name="!!ring3"/>
          <p:cNvSpPr/>
          <p:nvPr/>
        </p:nvSpPr>
        <p:spPr>
          <a:xfrm rot="16200000">
            <a:off x="9857232" y="-4041648"/>
            <a:ext cx="6437376" cy="6437376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2" name="!!flare"/>
          <p:cNvSpPr/>
          <p:nvPr/>
        </p:nvSpPr>
        <p:spPr>
          <a:xfrm>
            <a:off x="10058400" y="320040"/>
            <a:ext cx="3657600" cy="9144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  <a:effectLst>
            <a:softEdge rad="36576"/>
          </a:effectLst>
        </p:spPr>
      </p:sp>
      <p:sp>
        <p:nvSpPr>
          <p:cNvPr id="63" name="!!bigword"/>
          <p:cNvSpPr txBox="1"/>
          <p:nvPr/>
        </p:nvSpPr>
        <p:spPr>
          <a:xfrm>
            <a:off x="-365760" y="4480560"/>
            <a:ext cx="1645920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chemeClr val="accent1">
                    <a:alpha val="6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ATAKUJĄCY</a:t>
            </a:r>
            <a:endParaRPr lang="en-US" sz="20000" dirty="0"/>
          </a:p>
        </p:txBody>
      </p:sp>
      <p:sp>
        <p:nvSpPr>
          <p:cNvPr id="64" name="!!s2_num"/>
          <p:cNvSpPr txBox="1"/>
          <p:nvPr/>
        </p:nvSpPr>
        <p:spPr>
          <a:xfrm>
            <a:off x="-1586484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</a:t>
            </a:r>
            <a:endParaRPr lang="en-US" sz="2400" dirty="0"/>
          </a:p>
        </p:txBody>
      </p:sp>
      <p:sp>
        <p:nvSpPr>
          <p:cNvPr id="65" name="!!s2_sub"/>
          <p:cNvSpPr txBox="1"/>
          <p:nvPr/>
        </p:nvSpPr>
        <p:spPr>
          <a:xfrm>
            <a:off x="-1769364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Jak AI uzbraja cyberprzestępców</a:t>
            </a:r>
            <a:endParaRPr lang="en-US" sz="2400" dirty="0"/>
          </a:p>
        </p:txBody>
      </p:sp>
      <p:sp>
        <p:nvSpPr>
          <p:cNvPr id="66" name="!!s2_chip"/>
          <p:cNvSpPr/>
          <p:nvPr/>
        </p:nvSpPr>
        <p:spPr>
          <a:xfrm>
            <a:off x="-21351240" y="4434840"/>
            <a:ext cx="251460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7" name="!!s2_chipT"/>
          <p:cNvSpPr txBox="1"/>
          <p:nvPr/>
        </p:nvSpPr>
        <p:spPr>
          <a:xfrm>
            <a:off x="-2135124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1</a:t>
            </a:r>
            <a:endParaRPr lang="en-US" sz="1400" dirty="0"/>
          </a:p>
        </p:txBody>
      </p:sp>
      <p:sp>
        <p:nvSpPr>
          <p:cNvPr id="68" name="!!s3_title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Socjotechnika na sterydach</a:t>
            </a:r>
            <a:endParaRPr lang="en-US" sz="3600" dirty="0"/>
          </a:p>
        </p:txBody>
      </p:sp>
      <p:sp>
        <p:nvSpPr>
          <p:cNvPr id="69" name="!!s3_p1n"/>
          <p:cNvSpPr txBox="1"/>
          <p:nvPr/>
        </p:nvSpPr>
        <p:spPr>
          <a:xfrm>
            <a:off x="548640" y="1865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0" name="!!s3_p1h"/>
          <p:cNvSpPr txBox="1"/>
          <p:nvPr/>
        </p:nvSpPr>
        <p:spPr>
          <a:xfrm>
            <a:off x="10972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Phishing bez literówek</a:t>
            </a:r>
            <a:endParaRPr lang="en-US" sz="1800" dirty="0"/>
          </a:p>
        </p:txBody>
      </p:sp>
      <p:sp>
        <p:nvSpPr>
          <p:cNvPr id="71" name="!!s3_p1d"/>
          <p:cNvSpPr txBox="1"/>
          <p:nvPr/>
        </p:nvSpPr>
        <p:spPr>
          <a:xfrm>
            <a:off x="1097280" y="2212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Spersonalizowane wiadomości w każdym języku. Dawne sygnały ostrzegawcze znikają.</a:t>
            </a:r>
            <a:endParaRPr lang="en-US" sz="1400" dirty="0"/>
          </a:p>
        </p:txBody>
      </p:sp>
      <p:sp>
        <p:nvSpPr>
          <p:cNvPr id="72" name="!!s3_p2n"/>
          <p:cNvSpPr txBox="1"/>
          <p:nvPr/>
        </p:nvSpPr>
        <p:spPr>
          <a:xfrm>
            <a:off x="548640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73" name="!!s3_p2h"/>
          <p:cNvSpPr txBox="1"/>
          <p:nvPr/>
        </p:nvSpPr>
        <p:spPr>
          <a:xfrm>
            <a:off x="109728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Klonowanie głosu</a:t>
            </a:r>
            <a:endParaRPr lang="en-US" sz="1800" dirty="0"/>
          </a:p>
        </p:txBody>
      </p:sp>
      <p:sp>
        <p:nvSpPr>
          <p:cNvPr id="74" name="!!s3_p2d"/>
          <p:cNvSpPr txBox="1"/>
          <p:nvPr/>
        </p:nvSpPr>
        <p:spPr>
          <a:xfrm>
            <a:off x="1097280" y="3355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Kilka sekund nagrania wystarczy, by podrobić głos szefa lub kogoś z rodziny.</a:t>
            </a:r>
            <a:endParaRPr lang="en-US" sz="1400" dirty="0"/>
          </a:p>
        </p:txBody>
      </p:sp>
      <p:sp>
        <p:nvSpPr>
          <p:cNvPr id="75" name="!!s3_p3n"/>
          <p:cNvSpPr txBox="1"/>
          <p:nvPr/>
        </p:nvSpPr>
        <p:spPr>
          <a:xfrm>
            <a:off x="548640" y="4151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76" name="!!s3_p3h"/>
          <p:cNvSpPr txBox="1"/>
          <p:nvPr/>
        </p:nvSpPr>
        <p:spPr>
          <a:xfrm>
            <a:off x="109728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Deepfake na żywo</a:t>
            </a:r>
            <a:endParaRPr lang="en-US" sz="1800" dirty="0"/>
          </a:p>
        </p:txBody>
      </p:sp>
      <p:sp>
        <p:nvSpPr>
          <p:cNvPr id="77" name="!!s3_p3d"/>
          <p:cNvSpPr txBox="1"/>
          <p:nvPr/>
        </p:nvSpPr>
        <p:spPr>
          <a:xfrm>
            <a:off x="1097280" y="4498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Fałszywy obraz i dźwięk w czasie rzeczywistym — także podczas wideorozmowy.</a:t>
            </a:r>
            <a:endParaRPr lang="en-US" sz="1400" dirty="0"/>
          </a:p>
        </p:txBody>
      </p:sp>
      <p:sp>
        <p:nvSpPr>
          <p:cNvPr id="78" name="!!s3_tile0"/>
          <p:cNvSpPr/>
          <p:nvPr/>
        </p:nvSpPr>
        <p:spPr>
          <a:xfrm>
            <a:off x="6537960" y="16916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79" name="!!s3_tileI0" descr="CF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984248"/>
            <a:ext cx="548640" cy="548640"/>
          </a:xfrm>
          <a:prstGeom prst="rect">
            <a:avLst/>
          </a:prstGeom>
        </p:spPr>
      </p:pic>
      <p:sp>
        <p:nvSpPr>
          <p:cNvPr id="80" name="!!s3_tileL0"/>
          <p:cNvSpPr txBox="1"/>
          <p:nvPr/>
        </p:nvSpPr>
        <p:spPr>
          <a:xfrm>
            <a:off x="6647688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CFO</a:t>
            </a:r>
            <a:endParaRPr lang="en-US" sz="1100" dirty="0"/>
          </a:p>
        </p:txBody>
      </p:sp>
      <p:sp>
        <p:nvSpPr>
          <p:cNvPr id="81" name="!!s3_tileF0"/>
          <p:cNvSpPr txBox="1"/>
          <p:nvPr/>
        </p:nvSpPr>
        <p:spPr>
          <a:xfrm>
            <a:off x="7909560" y="28072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DEEPFAKE</a:t>
            </a:r>
            <a:endParaRPr lang="en-US" sz="1000" dirty="0"/>
          </a:p>
        </p:txBody>
      </p:sp>
      <p:sp>
        <p:nvSpPr>
          <p:cNvPr id="82" name="!!s3_tile1"/>
          <p:cNvSpPr/>
          <p:nvPr/>
        </p:nvSpPr>
        <p:spPr>
          <a:xfrm>
            <a:off x="9144000" y="16916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3" name="!!s3_tileI1" descr="DYREKT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1984248"/>
            <a:ext cx="548640" cy="548640"/>
          </a:xfrm>
          <a:prstGeom prst="rect">
            <a:avLst/>
          </a:prstGeom>
        </p:spPr>
      </p:pic>
      <p:sp>
        <p:nvSpPr>
          <p:cNvPr id="84" name="!!s3_tileL1"/>
          <p:cNvSpPr txBox="1"/>
          <p:nvPr/>
        </p:nvSpPr>
        <p:spPr>
          <a:xfrm>
            <a:off x="9253728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DYREKTOR</a:t>
            </a:r>
            <a:endParaRPr lang="en-US" sz="1100" dirty="0"/>
          </a:p>
        </p:txBody>
      </p:sp>
      <p:sp>
        <p:nvSpPr>
          <p:cNvPr id="85" name="!!s3_tileF1"/>
          <p:cNvSpPr txBox="1"/>
          <p:nvPr/>
        </p:nvSpPr>
        <p:spPr>
          <a:xfrm>
            <a:off x="10515600" y="28072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DEEPFAKE</a:t>
            </a:r>
            <a:endParaRPr lang="en-US" sz="1000" dirty="0"/>
          </a:p>
        </p:txBody>
      </p:sp>
      <p:sp>
        <p:nvSpPr>
          <p:cNvPr id="86" name="!!s3_tile2"/>
          <p:cNvSpPr/>
          <p:nvPr/>
        </p:nvSpPr>
        <p:spPr>
          <a:xfrm>
            <a:off x="6537960" y="32918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7" name="!!s3_tileI2" descr="KSIĘGOW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3584448"/>
            <a:ext cx="548640" cy="548640"/>
          </a:xfrm>
          <a:prstGeom prst="rect">
            <a:avLst/>
          </a:prstGeom>
        </p:spPr>
      </p:pic>
      <p:sp>
        <p:nvSpPr>
          <p:cNvPr id="88" name="!!s3_tileL2"/>
          <p:cNvSpPr txBox="1"/>
          <p:nvPr/>
        </p:nvSpPr>
        <p:spPr>
          <a:xfrm>
            <a:off x="6647688" y="4407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KSIĘGOWA</a:t>
            </a:r>
            <a:endParaRPr lang="en-US" sz="1100" dirty="0"/>
          </a:p>
        </p:txBody>
      </p:sp>
      <p:sp>
        <p:nvSpPr>
          <p:cNvPr id="89" name="!!s3_tileF2"/>
          <p:cNvSpPr txBox="1"/>
          <p:nvPr/>
        </p:nvSpPr>
        <p:spPr>
          <a:xfrm>
            <a:off x="7909560" y="44074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DEEPFAKE</a:t>
            </a:r>
            <a:endParaRPr lang="en-US" sz="1000" dirty="0"/>
          </a:p>
        </p:txBody>
      </p:sp>
      <p:sp>
        <p:nvSpPr>
          <p:cNvPr id="90" name="!!s3_tile3"/>
          <p:cNvSpPr/>
          <p:nvPr/>
        </p:nvSpPr>
        <p:spPr>
          <a:xfrm>
            <a:off x="9144000" y="32918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2">
                <a:alpha val="80000"/>
              </a:schemeClr>
            </a:solidFill>
            <a:prstDash val="solid"/>
          </a:ln>
        </p:spPr>
      </p:sp>
      <p:pic>
        <p:nvPicPr>
          <p:cNvPr id="91" name="!!s3_tileI3" descr="T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4120" y="3584448"/>
            <a:ext cx="548640" cy="548640"/>
          </a:xfrm>
          <a:prstGeom prst="rect">
            <a:avLst/>
          </a:prstGeom>
        </p:spPr>
      </p:pic>
      <p:sp>
        <p:nvSpPr>
          <p:cNvPr id="92" name="!!s3_tileL3"/>
          <p:cNvSpPr txBox="1"/>
          <p:nvPr/>
        </p:nvSpPr>
        <p:spPr>
          <a:xfrm>
            <a:off x="9253728" y="4407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</a:t>
            </a:r>
            <a:endParaRPr lang="en-US" sz="1100" dirty="0"/>
          </a:p>
        </p:txBody>
      </p:sp>
      <p:sp>
        <p:nvSpPr>
          <p:cNvPr id="93" name="!!s3_stat"/>
          <p:cNvSpPr txBox="1"/>
          <p:nvPr/>
        </p:nvSpPr>
        <p:spPr>
          <a:xfrm>
            <a:off x="6537960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 mln $</a:t>
            </a:r>
            <a:endParaRPr lang="en-US" sz="3600" dirty="0"/>
          </a:p>
        </p:txBody>
      </p:sp>
      <p:sp>
        <p:nvSpPr>
          <p:cNvPr id="94" name="!!s3_statD"/>
          <p:cNvSpPr txBox="1"/>
          <p:nvPr/>
        </p:nvSpPr>
        <p:spPr>
          <a:xfrm>
            <a:off x="8915400" y="4983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przelał pracownik firmy Arup w Hongkongu po wideorozmowie z deepfake'ami „członków zarządu” (2024)</a:t>
            </a:r>
            <a:endParaRPr lang="en-US" sz="1200" dirty="0"/>
          </a:p>
        </p:txBody>
      </p:sp>
      <p:sp>
        <p:nvSpPr>
          <p:cNvPr id="95" name="!!s4_title"/>
          <p:cNvSpPr txBox="1"/>
          <p:nvPr/>
        </p:nvSpPr>
        <p:spPr>
          <a:xfrm>
            <a:off x="133502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Niższy próg wejścia</a:t>
            </a:r>
            <a:endParaRPr lang="en-US" sz="3600" dirty="0"/>
          </a:p>
        </p:txBody>
      </p:sp>
      <p:sp>
        <p:nvSpPr>
          <p:cNvPr id="96" name="!!s4_panel"/>
          <p:cNvSpPr/>
          <p:nvPr/>
        </p:nvSpPr>
        <p:spPr>
          <a:xfrm>
            <a:off x="18836640" y="1737360"/>
            <a:ext cx="5760720" cy="3931920"/>
          </a:xfrm>
          <a:prstGeom prst="rect">
            <a:avLst/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97" name="!!s4_pd0"/>
          <p:cNvSpPr/>
          <p:nvPr/>
        </p:nvSpPr>
        <p:spPr>
          <a:xfrm>
            <a:off x="19065240" y="1901952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8" name="!!s4_pd1"/>
          <p:cNvSpPr/>
          <p:nvPr/>
        </p:nvSpPr>
        <p:spPr>
          <a:xfrm>
            <a:off x="19293840" y="1901952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9" name="!!s4_pd2"/>
          <p:cNvSpPr/>
          <p:nvPr/>
        </p:nvSpPr>
        <p:spPr>
          <a:xfrm>
            <a:off x="19522440" y="1901952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0" name="!!s4_ptitle"/>
          <p:cNvSpPr txBox="1"/>
          <p:nvPr/>
        </p:nvSpPr>
        <p:spPr>
          <a:xfrm>
            <a:off x="19888200" y="18470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THREAT-INTEL // CO WIDZĄ ANALITYCY</a:t>
            </a:r>
            <a:endParaRPr lang="en-US" sz="1100" dirty="0"/>
          </a:p>
        </p:txBody>
      </p:sp>
      <p:sp>
        <p:nvSpPr>
          <p:cNvPr id="101" name="!!s4_l0"/>
          <p:cNvSpPr txBox="1"/>
          <p:nvPr/>
        </p:nvSpPr>
        <p:spPr>
          <a:xfrm>
            <a:off x="1911096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tłumaczenie oszustw na wiele języków</a:t>
            </a:r>
            <a:endParaRPr lang="en-US" sz="1400" dirty="0"/>
          </a:p>
        </p:txBody>
      </p:sp>
      <p:sp>
        <p:nvSpPr>
          <p:cNvPr id="102" name="!!s4_lt0"/>
          <p:cNvSpPr txBox="1"/>
          <p:nvPr/>
        </p:nvSpPr>
        <p:spPr>
          <a:xfrm>
            <a:off x="2372868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103" name="!!s4_l1"/>
          <p:cNvSpPr txBox="1"/>
          <p:nvPr/>
        </p:nvSpPr>
        <p:spPr>
          <a:xfrm>
            <a:off x="2048256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fałszywe profile, zdjęcia i głosy</a:t>
            </a:r>
            <a:endParaRPr lang="en-US" sz="1400" dirty="0"/>
          </a:p>
        </p:txBody>
      </p:sp>
      <p:sp>
        <p:nvSpPr>
          <p:cNvPr id="104" name="!!s4_lt1"/>
          <p:cNvSpPr txBox="1"/>
          <p:nvPr/>
        </p:nvSpPr>
        <p:spPr>
          <a:xfrm>
            <a:off x="25100280" y="2944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105" name="!!s4_l2"/>
          <p:cNvSpPr txBox="1"/>
          <p:nvPr/>
        </p:nvSpPr>
        <p:spPr>
          <a:xfrm>
            <a:off x="21854160" y="3511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pomoc w pisaniu złośliwego kodu</a:t>
            </a:r>
            <a:endParaRPr lang="en-US" sz="1400" dirty="0"/>
          </a:p>
        </p:txBody>
      </p:sp>
      <p:sp>
        <p:nvSpPr>
          <p:cNvPr id="106" name="!!s4_lt2"/>
          <p:cNvSpPr txBox="1"/>
          <p:nvPr/>
        </p:nvSpPr>
        <p:spPr>
          <a:xfrm>
            <a:off x="26471880" y="35112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107" name="!!s4_l3"/>
          <p:cNvSpPr txBox="1"/>
          <p:nvPr/>
        </p:nvSpPr>
        <p:spPr>
          <a:xfrm>
            <a:off x="23225760" y="4078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rozpoznanie celu z otwartych źródeł</a:t>
            </a:r>
            <a:endParaRPr lang="en-US" sz="1400" dirty="0"/>
          </a:p>
        </p:txBody>
      </p:sp>
      <p:sp>
        <p:nvSpPr>
          <p:cNvPr id="108" name="!!s4_lt3"/>
          <p:cNvSpPr txBox="1"/>
          <p:nvPr/>
        </p:nvSpPr>
        <p:spPr>
          <a:xfrm>
            <a:off x="27843480" y="40782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109" name="!!s4_l4"/>
          <p:cNvSpPr txBox="1"/>
          <p:nvPr/>
        </p:nvSpPr>
        <p:spPr>
          <a:xfrm>
            <a:off x="24597360" y="4645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masowa personalizacja wiadomości</a:t>
            </a:r>
            <a:endParaRPr lang="en-US" sz="1400" dirty="0"/>
          </a:p>
        </p:txBody>
      </p:sp>
      <p:sp>
        <p:nvSpPr>
          <p:cNvPr id="110" name="!!s4_lt4"/>
          <p:cNvSpPr txBox="1"/>
          <p:nvPr/>
        </p:nvSpPr>
        <p:spPr>
          <a:xfrm>
            <a:off x="29215080" y="4645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111" name="!!s4_lead"/>
          <p:cNvSpPr txBox="1"/>
          <p:nvPr/>
        </p:nvSpPr>
        <p:spPr>
          <a:xfrm>
            <a:off x="21488400" y="17373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nie tworzy przestępców-geniuszy. Sprawia, że przeciętny oszust działa jak profesjonalista.</a:t>
            </a:r>
            <a:endParaRPr lang="en-US" sz="2000" dirty="0"/>
          </a:p>
        </p:txBody>
      </p:sp>
      <p:sp>
        <p:nvSpPr>
          <p:cNvPr id="112" name="!!s4_q1n"/>
          <p:cNvSpPr txBox="1"/>
          <p:nvPr/>
        </p:nvSpPr>
        <p:spPr>
          <a:xfrm>
            <a:off x="23317200" y="3236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13" name="!!s4_q1h"/>
          <p:cNvSpPr txBox="1"/>
          <p:nvPr/>
        </p:nvSpPr>
        <p:spPr>
          <a:xfrm>
            <a:off x="238658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Usługi w modelu abonamentowym</a:t>
            </a:r>
            <a:endParaRPr lang="en-US" sz="1800" dirty="0"/>
          </a:p>
        </p:txBody>
      </p:sp>
      <p:sp>
        <p:nvSpPr>
          <p:cNvPr id="114" name="!!s4_q1d"/>
          <p:cNvSpPr txBox="1"/>
          <p:nvPr/>
        </p:nvSpPr>
        <p:spPr>
          <a:xfrm>
            <a:off x="23865840" y="35844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Przestępcze narzędzia AI sprzedawane są jak zwykła subskrypcja.</a:t>
            </a:r>
            <a:endParaRPr lang="en-US" sz="1400" dirty="0"/>
          </a:p>
        </p:txBody>
      </p:sp>
      <p:sp>
        <p:nvSpPr>
          <p:cNvPr id="115" name="!!s4_q2n"/>
          <p:cNvSpPr txBox="1"/>
          <p:nvPr/>
        </p:nvSpPr>
        <p:spPr>
          <a:xfrm>
            <a:off x="25146000" y="44256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16" name="!!s4_q2h"/>
          <p:cNvSpPr txBox="1"/>
          <p:nvPr/>
        </p:nvSpPr>
        <p:spPr>
          <a:xfrm>
            <a:off x="2569464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Państwa też testują</a:t>
            </a:r>
            <a:endParaRPr lang="en-US" sz="1800" dirty="0"/>
          </a:p>
        </p:txBody>
      </p:sp>
      <p:sp>
        <p:nvSpPr>
          <p:cNvPr id="117" name="!!s4_q2d"/>
          <p:cNvSpPr txBox="1"/>
          <p:nvPr/>
        </p:nvSpPr>
        <p:spPr>
          <a:xfrm>
            <a:off x="25694640" y="47731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Microsoft i OpenAI (2024) opisały grupy rządowe używające modeli językowych.</a:t>
            </a:r>
            <a:endParaRPr lang="en-US" sz="1400" dirty="0"/>
          </a:p>
        </p:txBody>
      </p:sp>
      <p:sp>
        <p:nvSpPr>
          <p:cNvPr id="118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ATAKUJĄCY</a:t>
            </a:r>
            <a:endParaRPr lang="en-US" sz="1100" dirty="0"/>
          </a:p>
        </p:txBody>
      </p:sp>
      <p:sp>
        <p:nvSpPr>
          <p:cNvPr id="119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1</a:t>
            </a:r>
            <a:endParaRPr lang="en-US" sz="1100" dirty="0"/>
          </a:p>
        </p:txBody>
      </p:sp>
      <p:sp>
        <p:nvSpPr>
          <p:cNvPr id="120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1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2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3" name="!!tick2"/>
          <p:cNvSpPr/>
          <p:nvPr/>
        </p:nvSpPr>
        <p:spPr>
          <a:xfrm>
            <a:off x="987552" y="6400800"/>
            <a:ext cx="4572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4" name="!!tick3"/>
          <p:cNvSpPr/>
          <p:nvPr/>
        </p:nvSpPr>
        <p:spPr>
          <a:xfrm>
            <a:off x="151790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5" name="!!tick4"/>
          <p:cNvSpPr/>
          <p:nvPr/>
        </p:nvSpPr>
        <p:spPr>
          <a:xfrm>
            <a:off x="173736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6" name="!!tick5"/>
          <p:cNvSpPr/>
          <p:nvPr/>
        </p:nvSpPr>
        <p:spPr>
          <a:xfrm>
            <a:off x="195681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7" name="!!tick6"/>
          <p:cNvSpPr/>
          <p:nvPr/>
        </p:nvSpPr>
        <p:spPr>
          <a:xfrm>
            <a:off x="217627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8" name="!!tick7"/>
          <p:cNvSpPr/>
          <p:nvPr/>
        </p:nvSpPr>
        <p:spPr>
          <a:xfrm>
            <a:off x="2395728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9" name="!!tick8"/>
          <p:cNvSpPr/>
          <p:nvPr/>
        </p:nvSpPr>
        <p:spPr>
          <a:xfrm>
            <a:off x="261518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30" name="!!tick9"/>
          <p:cNvSpPr/>
          <p:nvPr/>
        </p:nvSpPr>
        <p:spPr>
          <a:xfrm>
            <a:off x="283464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31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32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33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851212" y="-4466844"/>
            <a:ext cx="26822735" cy="1508760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13307860" y="4012470"/>
            <a:ext cx="169902" cy="169902"/>
          </a:xfrm>
          <a:prstGeom prst="ellipse">
            <a:avLst/>
          </a:prstGeom>
          <a:solidFill>
            <a:schemeClr val="accent1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11140315" y="2594121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15334145" y="-1222178"/>
            <a:ext cx="156834" cy="156834"/>
          </a:xfrm>
          <a:prstGeom prst="ellipse">
            <a:avLst/>
          </a:prstGeom>
          <a:solidFill>
            <a:schemeClr val="accent1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11863925" y="-1616491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9516767" y="6284210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6502958" y="8981450"/>
            <a:ext cx="647199" cy="647199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12616243" y="3680551"/>
            <a:ext cx="202991" cy="202991"/>
          </a:xfrm>
          <a:prstGeom prst="ellipse">
            <a:avLst/>
          </a:prstGeom>
          <a:solidFill>
            <a:schemeClr val="accent1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7437377" y="-3200079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1811402" y="2934541"/>
            <a:ext cx="167859" cy="167859"/>
          </a:xfrm>
          <a:prstGeom prst="ellipse">
            <a:avLst/>
          </a:prstGeom>
          <a:solidFill>
            <a:schemeClr val="accent1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8435064" y="4468950"/>
            <a:ext cx="1087278" cy="108727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5859830" y="5813174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3446924" y="7276900"/>
            <a:ext cx="139775" cy="139775"/>
          </a:xfrm>
          <a:prstGeom prst="ellipse">
            <a:avLst/>
          </a:prstGeom>
          <a:solidFill>
            <a:schemeClr val="accent1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2428853" y="1199973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8338714" y="7825665"/>
            <a:ext cx="218591" cy="218591"/>
          </a:xfrm>
          <a:prstGeom prst="ellipse">
            <a:avLst/>
          </a:prstGeom>
          <a:solidFill>
            <a:schemeClr val="accent1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7992884" y="7744463"/>
            <a:ext cx="140841" cy="140841"/>
          </a:xfrm>
          <a:prstGeom prst="ellipse">
            <a:avLst/>
          </a:prstGeom>
          <a:solidFill>
            <a:schemeClr val="accent1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6004730" y="3725867"/>
            <a:ext cx="786257" cy="786257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22895621" y="8560543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3764029" y="4728744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1620904" y="4571364"/>
            <a:ext cx="1079414" cy="1079414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20536247" y="4503233"/>
            <a:ext cx="228948" cy="228948"/>
          </a:xfrm>
          <a:prstGeom prst="ellipse">
            <a:avLst/>
          </a:prstGeom>
          <a:solidFill>
            <a:schemeClr val="accent1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14734602" y="-601204"/>
            <a:ext cx="191645" cy="191645"/>
          </a:xfrm>
          <a:prstGeom prst="ellipse">
            <a:avLst/>
          </a:prstGeom>
          <a:solidFill>
            <a:schemeClr val="accent1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3526344" y="-738235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8577036" y="7054438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10101192" y="2707452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4247320" y="4611520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3521520" y="-1483893"/>
            <a:ext cx="227967" cy="227967"/>
          </a:xfrm>
          <a:prstGeom prst="ellipse">
            <a:avLst/>
          </a:prstGeom>
          <a:solidFill>
            <a:schemeClr val="accent1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6026555" y="-2453585"/>
            <a:ext cx="156456" cy="156456"/>
          </a:xfrm>
          <a:prstGeom prst="ellipse">
            <a:avLst/>
          </a:prstGeom>
          <a:solidFill>
            <a:schemeClr val="accent1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6263250" y="968949"/>
            <a:ext cx="156446" cy="156446"/>
          </a:xfrm>
          <a:prstGeom prst="ellipse">
            <a:avLst/>
          </a:prstGeom>
          <a:solidFill>
            <a:schemeClr val="accent1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10123682" y="-576601"/>
            <a:ext cx="236050" cy="236050"/>
          </a:xfrm>
          <a:prstGeom prst="ellipse">
            <a:avLst/>
          </a:prstGeom>
          <a:solidFill>
            <a:schemeClr val="accent1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6917664" y="-1695388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2601265" y="4798089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2768705" y="5698105"/>
            <a:ext cx="595298" cy="59529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21780946" y="4735778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6938316" y="5982671"/>
            <a:ext cx="204820" cy="204820"/>
          </a:xfrm>
          <a:prstGeom prst="ellipse">
            <a:avLst/>
          </a:prstGeom>
          <a:solidFill>
            <a:schemeClr val="accent1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8842981" y="3951224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5329617" y="3238708"/>
            <a:ext cx="171070" cy="171070"/>
          </a:xfrm>
          <a:prstGeom prst="ellipse">
            <a:avLst/>
          </a:prstGeom>
          <a:solidFill>
            <a:schemeClr val="accent1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24691067" y="2222345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6861477" y="-1965278"/>
            <a:ext cx="152405" cy="152405"/>
          </a:xfrm>
          <a:prstGeom prst="ellipse">
            <a:avLst/>
          </a:prstGeom>
          <a:solidFill>
            <a:schemeClr val="accent1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9236338" y="4080419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248448" y="-2185009"/>
            <a:ext cx="107954" cy="107954"/>
          </a:xfrm>
          <a:prstGeom prst="ellipse">
            <a:avLst/>
          </a:prstGeom>
          <a:solidFill>
            <a:schemeClr val="accent1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4667001" y="8066259"/>
            <a:ext cx="116916" cy="116916"/>
          </a:xfrm>
          <a:prstGeom prst="ellipse">
            <a:avLst/>
          </a:prstGeom>
          <a:solidFill>
            <a:schemeClr val="accent1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14392812" y="3094245"/>
            <a:ext cx="238576" cy="238576"/>
          </a:xfrm>
          <a:prstGeom prst="ellipse">
            <a:avLst/>
          </a:prstGeom>
          <a:solidFill>
            <a:schemeClr val="accent1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10956186" y="1441231"/>
            <a:ext cx="231782" cy="231782"/>
          </a:xfrm>
          <a:prstGeom prst="ellipse">
            <a:avLst/>
          </a:prstGeom>
          <a:solidFill>
            <a:schemeClr val="accent1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3543182" y="5791502"/>
            <a:ext cx="559428" cy="55942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12669448" y="4255668"/>
            <a:ext cx="158543" cy="158543"/>
          </a:xfrm>
          <a:prstGeom prst="ellipse">
            <a:avLst/>
          </a:prstGeom>
          <a:solidFill>
            <a:schemeClr val="accent1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5093596" y="5322162"/>
            <a:ext cx="205010" cy="205010"/>
          </a:xfrm>
          <a:prstGeom prst="ellipse">
            <a:avLst/>
          </a:prstGeom>
          <a:solidFill>
            <a:schemeClr val="accent1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3830481" y="8079124"/>
            <a:ext cx="171511" cy="171511"/>
          </a:xfrm>
          <a:prstGeom prst="ellipse">
            <a:avLst/>
          </a:prstGeom>
          <a:solidFill>
            <a:schemeClr val="accent1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18736823" y="3492901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3235610" y="5600143"/>
            <a:ext cx="160209" cy="160209"/>
          </a:xfrm>
          <a:prstGeom prst="ellipse">
            <a:avLst/>
          </a:prstGeom>
          <a:solidFill>
            <a:schemeClr val="accent1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8244167" y="5918729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2898448" y="-1353977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1317804" y="900214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aOrb" descr="Rdzeń AI atakujących">    </p:cNvPr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-5010912" y="3401568"/>
            <a:ext cx="8193024" cy="8193024"/>
          </a:xfrm>
          <a:prstGeom prst="rect">
            <a:avLst/>
          </a:prstGeom>
        </p:spPr>
      </p:pic>
      <p:pic>
        <p:nvPicPr>
          <p:cNvPr id="58" name="!!bOrb" descr="Rdzeń AI obrońców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4813280" y="2011680"/>
            <a:ext cx="1463040" cy="1463040"/>
          </a:xfrm>
          <a:prstGeom prst="rect">
            <a:avLst/>
          </a:prstGeom>
        </p:spPr>
      </p:pic>
      <p:sp>
        <p:nvSpPr>
          <p:cNvPr id="59" name="!!ring1"/>
          <p:cNvSpPr/>
          <p:nvPr/>
        </p:nvSpPr>
        <p:spPr>
          <a:xfrm rot="6000000">
            <a:off x="-4754880" y="3657600"/>
            <a:ext cx="7680960" cy="768096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0" name="!!ring2"/>
          <p:cNvSpPr/>
          <p:nvPr/>
        </p:nvSpPr>
        <p:spPr>
          <a:xfrm rot="3000000">
            <a:off x="-5292547" y="3119933"/>
            <a:ext cx="8756294" cy="8756294"/>
          </a:xfrm>
          <a:prstGeom prst="ellipse">
            <a:avLst/>
          </a:prstGeom>
          <a:noFill/>
          <a:ln w="9525">
            <a:solidFill>
              <a:schemeClr val="bg1">
                <a:alpha val="5000"/>
              </a:schemeClr>
            </a:solidFill>
            <a:prstDash val="dash"/>
          </a:ln>
        </p:spPr>
      </p:sp>
      <p:sp>
        <p:nvSpPr>
          <p:cNvPr id="61" name="!!ring3"/>
          <p:cNvSpPr/>
          <p:nvPr/>
        </p:nvSpPr>
        <p:spPr>
          <a:xfrm rot="15000000">
            <a:off x="-4294022" y="4118458"/>
            <a:ext cx="6759245" cy="6759245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2" name="!!flare"/>
          <p:cNvSpPr/>
          <p:nvPr/>
        </p:nvSpPr>
        <p:spPr>
          <a:xfrm>
            <a:off x="-914400" y="5806440"/>
            <a:ext cx="3657600" cy="9144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  <a:effectLst>
            <a:softEdge rad="36576"/>
          </a:effectLst>
        </p:spPr>
      </p:sp>
      <p:sp>
        <p:nvSpPr>
          <p:cNvPr id="63" name="!!bigword"/>
          <p:cNvSpPr txBox="1"/>
          <p:nvPr/>
        </p:nvSpPr>
        <p:spPr>
          <a:xfrm>
            <a:off x="-2377440" y="4480560"/>
            <a:ext cx="1645920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chemeClr val="accent1">
                    <a:alpha val="6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ATAKUJĄCY</a:t>
            </a:r>
            <a:endParaRPr lang="en-US" sz="20000" dirty="0"/>
          </a:p>
        </p:txBody>
      </p:sp>
      <p:sp>
        <p:nvSpPr>
          <p:cNvPr id="64" name="!!s3_title"/>
          <p:cNvSpPr txBox="1"/>
          <p:nvPr/>
        </p:nvSpPr>
        <p:spPr>
          <a:xfrm>
            <a:off x="-1225296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Socjotechnika na sterydach</a:t>
            </a:r>
            <a:endParaRPr lang="en-US" sz="3600" dirty="0"/>
          </a:p>
        </p:txBody>
      </p:sp>
      <p:sp>
        <p:nvSpPr>
          <p:cNvPr id="65" name="!!s3_p1n"/>
          <p:cNvSpPr txBox="1"/>
          <p:nvPr/>
        </p:nvSpPr>
        <p:spPr>
          <a:xfrm>
            <a:off x="-14081760" y="1865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66" name="!!s3_p1h"/>
          <p:cNvSpPr txBox="1"/>
          <p:nvPr/>
        </p:nvSpPr>
        <p:spPr>
          <a:xfrm>
            <a:off x="-135331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Phishing bez literówek</a:t>
            </a:r>
            <a:endParaRPr lang="en-US" sz="1800" dirty="0"/>
          </a:p>
        </p:txBody>
      </p:sp>
      <p:sp>
        <p:nvSpPr>
          <p:cNvPr id="67" name="!!s3_p1d"/>
          <p:cNvSpPr txBox="1"/>
          <p:nvPr/>
        </p:nvSpPr>
        <p:spPr>
          <a:xfrm>
            <a:off x="-13533120" y="2212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Spersonalizowane wiadomości w każdym języku. Dawne sygnały ostrzegawcze znikają.</a:t>
            </a:r>
            <a:endParaRPr lang="en-US" sz="1400" dirty="0"/>
          </a:p>
        </p:txBody>
      </p:sp>
      <p:sp>
        <p:nvSpPr>
          <p:cNvPr id="68" name="!!s3_p2n"/>
          <p:cNvSpPr txBox="1"/>
          <p:nvPr/>
        </p:nvSpPr>
        <p:spPr>
          <a:xfrm>
            <a:off x="-15910560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69" name="!!s3_p2h"/>
          <p:cNvSpPr txBox="1"/>
          <p:nvPr/>
        </p:nvSpPr>
        <p:spPr>
          <a:xfrm>
            <a:off x="-1536192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Klonowanie głosu</a:t>
            </a:r>
            <a:endParaRPr lang="en-US" sz="1800" dirty="0"/>
          </a:p>
        </p:txBody>
      </p:sp>
      <p:sp>
        <p:nvSpPr>
          <p:cNvPr id="70" name="!!s3_p2d"/>
          <p:cNvSpPr txBox="1"/>
          <p:nvPr/>
        </p:nvSpPr>
        <p:spPr>
          <a:xfrm>
            <a:off x="-15361920" y="3355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Kilka sekund nagrania wystarczy, by podrobić głos szefa lub kogoś z rodziny.</a:t>
            </a:r>
            <a:endParaRPr lang="en-US" sz="1400" dirty="0"/>
          </a:p>
        </p:txBody>
      </p:sp>
      <p:sp>
        <p:nvSpPr>
          <p:cNvPr id="71" name="!!s3_p3n"/>
          <p:cNvSpPr txBox="1"/>
          <p:nvPr/>
        </p:nvSpPr>
        <p:spPr>
          <a:xfrm>
            <a:off x="-17739360" y="4151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72" name="!!s3_p3h"/>
          <p:cNvSpPr txBox="1"/>
          <p:nvPr/>
        </p:nvSpPr>
        <p:spPr>
          <a:xfrm>
            <a:off x="-1719072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Deepfake na żywo</a:t>
            </a:r>
            <a:endParaRPr lang="en-US" sz="1800" dirty="0"/>
          </a:p>
        </p:txBody>
      </p:sp>
      <p:sp>
        <p:nvSpPr>
          <p:cNvPr id="73" name="!!s3_p3d"/>
          <p:cNvSpPr txBox="1"/>
          <p:nvPr/>
        </p:nvSpPr>
        <p:spPr>
          <a:xfrm>
            <a:off x="-17190720" y="4498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Fałszywy obraz i dźwięk w czasie rzeczywistym — także podczas wideorozmowy.</a:t>
            </a:r>
            <a:endParaRPr lang="en-US" sz="1400" dirty="0"/>
          </a:p>
        </p:txBody>
      </p:sp>
      <p:sp>
        <p:nvSpPr>
          <p:cNvPr id="74" name="!!s3_tile0"/>
          <p:cNvSpPr/>
          <p:nvPr/>
        </p:nvSpPr>
        <p:spPr>
          <a:xfrm>
            <a:off x="-13578840" y="16916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75" name="!!s3_tileI0" descr="CF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618720" y="1984248"/>
            <a:ext cx="548640" cy="548640"/>
          </a:xfrm>
          <a:prstGeom prst="rect">
            <a:avLst/>
          </a:prstGeom>
        </p:spPr>
      </p:pic>
      <p:sp>
        <p:nvSpPr>
          <p:cNvPr id="76" name="!!s3_tileL0"/>
          <p:cNvSpPr txBox="1"/>
          <p:nvPr/>
        </p:nvSpPr>
        <p:spPr>
          <a:xfrm>
            <a:off x="-13469112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CFO</a:t>
            </a:r>
            <a:endParaRPr lang="en-US" sz="1100" dirty="0"/>
          </a:p>
        </p:txBody>
      </p:sp>
      <p:sp>
        <p:nvSpPr>
          <p:cNvPr id="77" name="!!s3_tileF0"/>
          <p:cNvSpPr txBox="1"/>
          <p:nvPr/>
        </p:nvSpPr>
        <p:spPr>
          <a:xfrm>
            <a:off x="-12207240" y="28072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DEEPFAKE</a:t>
            </a:r>
            <a:endParaRPr lang="en-US" sz="1000" dirty="0"/>
          </a:p>
        </p:txBody>
      </p:sp>
      <p:sp>
        <p:nvSpPr>
          <p:cNvPr id="78" name="!!s3_tile1"/>
          <p:cNvSpPr/>
          <p:nvPr/>
        </p:nvSpPr>
        <p:spPr>
          <a:xfrm>
            <a:off x="-11887200" y="16916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79" name="!!s3_tileI1" descr="DYREKT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927080" y="1984248"/>
            <a:ext cx="548640" cy="548640"/>
          </a:xfrm>
          <a:prstGeom prst="rect">
            <a:avLst/>
          </a:prstGeom>
        </p:spPr>
      </p:pic>
      <p:sp>
        <p:nvSpPr>
          <p:cNvPr id="80" name="!!s3_tileL1"/>
          <p:cNvSpPr txBox="1"/>
          <p:nvPr/>
        </p:nvSpPr>
        <p:spPr>
          <a:xfrm>
            <a:off x="-11777472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DYREKTOR</a:t>
            </a:r>
            <a:endParaRPr lang="en-US" sz="1100" dirty="0"/>
          </a:p>
        </p:txBody>
      </p:sp>
      <p:sp>
        <p:nvSpPr>
          <p:cNvPr id="81" name="!!s3_tileF1"/>
          <p:cNvSpPr txBox="1"/>
          <p:nvPr/>
        </p:nvSpPr>
        <p:spPr>
          <a:xfrm>
            <a:off x="-10515600" y="28072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DEEPFAKE</a:t>
            </a:r>
            <a:endParaRPr lang="en-US" sz="1000" dirty="0"/>
          </a:p>
        </p:txBody>
      </p:sp>
      <p:sp>
        <p:nvSpPr>
          <p:cNvPr id="82" name="!!s3_tile2"/>
          <p:cNvSpPr/>
          <p:nvPr/>
        </p:nvSpPr>
        <p:spPr>
          <a:xfrm>
            <a:off x="-15407640" y="32918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3" name="!!s3_tileI2" descr="KSIĘGOW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4447520" y="3584448"/>
            <a:ext cx="548640" cy="548640"/>
          </a:xfrm>
          <a:prstGeom prst="rect">
            <a:avLst/>
          </a:prstGeom>
        </p:spPr>
      </p:pic>
      <p:sp>
        <p:nvSpPr>
          <p:cNvPr id="84" name="!!s3_tileL2"/>
          <p:cNvSpPr txBox="1"/>
          <p:nvPr/>
        </p:nvSpPr>
        <p:spPr>
          <a:xfrm>
            <a:off x="-15297912" y="4407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KSIĘGOWA</a:t>
            </a:r>
            <a:endParaRPr lang="en-US" sz="1100" dirty="0"/>
          </a:p>
        </p:txBody>
      </p:sp>
      <p:sp>
        <p:nvSpPr>
          <p:cNvPr id="85" name="!!s3_tileF2"/>
          <p:cNvSpPr txBox="1"/>
          <p:nvPr/>
        </p:nvSpPr>
        <p:spPr>
          <a:xfrm>
            <a:off x="-14036040" y="44074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DEEPFAKE</a:t>
            </a:r>
            <a:endParaRPr lang="en-US" sz="1000" dirty="0"/>
          </a:p>
        </p:txBody>
      </p:sp>
      <p:sp>
        <p:nvSpPr>
          <p:cNvPr id="86" name="!!s3_tile3"/>
          <p:cNvSpPr/>
          <p:nvPr/>
        </p:nvSpPr>
        <p:spPr>
          <a:xfrm>
            <a:off x="-13716000" y="3291840"/>
            <a:ext cx="2468880" cy="1463040"/>
          </a:xfrm>
          <a:prstGeom prst="rect">
            <a:avLst/>
          </a:prstGeom>
          <a:solidFill>
            <a:schemeClr val="tx2">
              <a:alpha val="85000"/>
            </a:schemeClr>
          </a:solidFill>
          <a:ln w="15875">
            <a:solidFill>
              <a:schemeClr val="accent2">
                <a:alpha val="80000"/>
              </a:schemeClr>
            </a:solidFill>
            <a:prstDash val="solid"/>
          </a:ln>
        </p:spPr>
      </p:sp>
      <p:pic>
        <p:nvPicPr>
          <p:cNvPr id="87" name="!!s3_tileI3" descr="T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755880" y="3584448"/>
            <a:ext cx="548640" cy="548640"/>
          </a:xfrm>
          <a:prstGeom prst="rect">
            <a:avLst/>
          </a:prstGeom>
        </p:spPr>
      </p:pic>
      <p:sp>
        <p:nvSpPr>
          <p:cNvPr id="88" name="!!s3_tileL3"/>
          <p:cNvSpPr txBox="1"/>
          <p:nvPr/>
        </p:nvSpPr>
        <p:spPr>
          <a:xfrm>
            <a:off x="-13606272" y="4407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</a:t>
            </a:r>
            <a:endParaRPr lang="en-US" sz="1100" dirty="0"/>
          </a:p>
        </p:txBody>
      </p:sp>
      <p:sp>
        <p:nvSpPr>
          <p:cNvPr id="89" name="!!s3_stat"/>
          <p:cNvSpPr txBox="1"/>
          <p:nvPr/>
        </p:nvSpPr>
        <p:spPr>
          <a:xfrm>
            <a:off x="-17236440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 mln $</a:t>
            </a:r>
            <a:endParaRPr lang="en-US" sz="3600" dirty="0"/>
          </a:p>
        </p:txBody>
      </p:sp>
      <p:sp>
        <p:nvSpPr>
          <p:cNvPr id="90" name="!!s3_statD"/>
          <p:cNvSpPr txBox="1"/>
          <p:nvPr/>
        </p:nvSpPr>
        <p:spPr>
          <a:xfrm>
            <a:off x="-14859000" y="4983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przelał pracownik firmy Arup w Hongkongu po wideorozmowie z deepfake'ami „członków zarządu” (2024)</a:t>
            </a:r>
            <a:endParaRPr lang="en-US" sz="1200" dirty="0"/>
          </a:p>
        </p:txBody>
      </p:sp>
      <p:sp>
        <p:nvSpPr>
          <p:cNvPr id="91" name="!!s4_title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Niższy próg wejścia</a:t>
            </a:r>
            <a:endParaRPr lang="en-US" sz="3600" dirty="0"/>
          </a:p>
        </p:txBody>
      </p:sp>
      <p:sp>
        <p:nvSpPr>
          <p:cNvPr id="92" name="!!s4_panel"/>
          <p:cNvSpPr/>
          <p:nvPr/>
        </p:nvSpPr>
        <p:spPr>
          <a:xfrm>
            <a:off x="548640" y="1737360"/>
            <a:ext cx="5760720" cy="3931920"/>
          </a:xfrm>
          <a:prstGeom prst="rect">
            <a:avLst/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93" name="!!s4_pd0"/>
          <p:cNvSpPr/>
          <p:nvPr/>
        </p:nvSpPr>
        <p:spPr>
          <a:xfrm>
            <a:off x="777240" y="1901952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4" name="!!s4_pd1"/>
          <p:cNvSpPr/>
          <p:nvPr/>
        </p:nvSpPr>
        <p:spPr>
          <a:xfrm>
            <a:off x="1005840" y="1901952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5" name="!!s4_pd2"/>
          <p:cNvSpPr/>
          <p:nvPr/>
        </p:nvSpPr>
        <p:spPr>
          <a:xfrm>
            <a:off x="1234440" y="1901952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6" name="!!s4_ptitle"/>
          <p:cNvSpPr txBox="1"/>
          <p:nvPr/>
        </p:nvSpPr>
        <p:spPr>
          <a:xfrm>
            <a:off x="1600200" y="18470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THREAT-INTEL // CO WIDZĄ ANALITYCY</a:t>
            </a:r>
            <a:endParaRPr lang="en-US" sz="1100" dirty="0"/>
          </a:p>
        </p:txBody>
      </p:sp>
      <p:sp>
        <p:nvSpPr>
          <p:cNvPr id="97" name="!!s4_l0"/>
          <p:cNvSpPr txBox="1"/>
          <p:nvPr/>
        </p:nvSpPr>
        <p:spPr>
          <a:xfrm>
            <a:off x="82296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tłumaczenie oszustw na wiele języków</a:t>
            </a:r>
            <a:endParaRPr lang="en-US" sz="1400" dirty="0"/>
          </a:p>
        </p:txBody>
      </p:sp>
      <p:sp>
        <p:nvSpPr>
          <p:cNvPr id="98" name="!!s4_lt0"/>
          <p:cNvSpPr txBox="1"/>
          <p:nvPr/>
        </p:nvSpPr>
        <p:spPr>
          <a:xfrm>
            <a:off x="544068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99" name="!!s4_l1"/>
          <p:cNvSpPr txBox="1"/>
          <p:nvPr/>
        </p:nvSpPr>
        <p:spPr>
          <a:xfrm>
            <a:off x="82296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fałszywe profile, zdjęcia i głosy</a:t>
            </a:r>
            <a:endParaRPr lang="en-US" sz="1400" dirty="0"/>
          </a:p>
        </p:txBody>
      </p:sp>
      <p:sp>
        <p:nvSpPr>
          <p:cNvPr id="100" name="!!s4_lt1"/>
          <p:cNvSpPr txBox="1"/>
          <p:nvPr/>
        </p:nvSpPr>
        <p:spPr>
          <a:xfrm>
            <a:off x="5440680" y="2944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101" name="!!s4_l2"/>
          <p:cNvSpPr txBox="1"/>
          <p:nvPr/>
        </p:nvSpPr>
        <p:spPr>
          <a:xfrm>
            <a:off x="822960" y="3511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pomoc w pisaniu złośliwego kodu</a:t>
            </a:r>
            <a:endParaRPr lang="en-US" sz="1400" dirty="0"/>
          </a:p>
        </p:txBody>
      </p:sp>
      <p:sp>
        <p:nvSpPr>
          <p:cNvPr id="102" name="!!s4_lt2"/>
          <p:cNvSpPr txBox="1"/>
          <p:nvPr/>
        </p:nvSpPr>
        <p:spPr>
          <a:xfrm>
            <a:off x="5440680" y="35112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103" name="!!s4_l3"/>
          <p:cNvSpPr txBox="1"/>
          <p:nvPr/>
        </p:nvSpPr>
        <p:spPr>
          <a:xfrm>
            <a:off x="822960" y="4078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rozpoznanie celu z otwartych źródeł</a:t>
            </a:r>
            <a:endParaRPr lang="en-US" sz="1400" dirty="0"/>
          </a:p>
        </p:txBody>
      </p:sp>
      <p:sp>
        <p:nvSpPr>
          <p:cNvPr id="104" name="!!s4_lt3"/>
          <p:cNvSpPr txBox="1"/>
          <p:nvPr/>
        </p:nvSpPr>
        <p:spPr>
          <a:xfrm>
            <a:off x="5440680" y="40782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105" name="!!s4_l4"/>
          <p:cNvSpPr txBox="1"/>
          <p:nvPr/>
        </p:nvSpPr>
        <p:spPr>
          <a:xfrm>
            <a:off x="822960" y="4645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masowa personalizacja wiadomości</a:t>
            </a:r>
            <a:endParaRPr lang="en-US" sz="1400" dirty="0"/>
          </a:p>
        </p:txBody>
      </p:sp>
      <p:sp>
        <p:nvSpPr>
          <p:cNvPr id="106" name="!!s4_lt4"/>
          <p:cNvSpPr txBox="1"/>
          <p:nvPr/>
        </p:nvSpPr>
        <p:spPr>
          <a:xfrm>
            <a:off x="5440680" y="4645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107" name="!!s4_lead"/>
          <p:cNvSpPr txBox="1"/>
          <p:nvPr/>
        </p:nvSpPr>
        <p:spPr>
          <a:xfrm>
            <a:off x="6858000" y="17373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nie tworzy przestępców-geniuszy. Sprawia, że przeciętny oszust działa jak profesjonalista.</a:t>
            </a:r>
            <a:endParaRPr lang="en-US" sz="2000" dirty="0"/>
          </a:p>
        </p:txBody>
      </p:sp>
      <p:sp>
        <p:nvSpPr>
          <p:cNvPr id="108" name="!!s4_q1n"/>
          <p:cNvSpPr txBox="1"/>
          <p:nvPr/>
        </p:nvSpPr>
        <p:spPr>
          <a:xfrm>
            <a:off x="6858000" y="3236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09" name="!!s4_q1h"/>
          <p:cNvSpPr txBox="1"/>
          <p:nvPr/>
        </p:nvSpPr>
        <p:spPr>
          <a:xfrm>
            <a:off x="74066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Usługi w modelu abonamentowym</a:t>
            </a:r>
            <a:endParaRPr lang="en-US" sz="1800" dirty="0"/>
          </a:p>
        </p:txBody>
      </p:sp>
      <p:sp>
        <p:nvSpPr>
          <p:cNvPr id="110" name="!!s4_q1d"/>
          <p:cNvSpPr txBox="1"/>
          <p:nvPr/>
        </p:nvSpPr>
        <p:spPr>
          <a:xfrm>
            <a:off x="7406640" y="35844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Przestępcze narzędzia AI sprzedawane są jak zwykła subskrypcja.</a:t>
            </a:r>
            <a:endParaRPr lang="en-US" sz="1400" dirty="0"/>
          </a:p>
        </p:txBody>
      </p:sp>
      <p:sp>
        <p:nvSpPr>
          <p:cNvPr id="111" name="!!s4_q2n"/>
          <p:cNvSpPr txBox="1"/>
          <p:nvPr/>
        </p:nvSpPr>
        <p:spPr>
          <a:xfrm>
            <a:off x="6858000" y="44256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12" name="!!s4_q2h"/>
          <p:cNvSpPr txBox="1"/>
          <p:nvPr/>
        </p:nvSpPr>
        <p:spPr>
          <a:xfrm>
            <a:off x="740664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Państwa też testują</a:t>
            </a:r>
            <a:endParaRPr lang="en-US" sz="1800" dirty="0"/>
          </a:p>
        </p:txBody>
      </p:sp>
      <p:sp>
        <p:nvSpPr>
          <p:cNvPr id="113" name="!!s4_q2d"/>
          <p:cNvSpPr txBox="1"/>
          <p:nvPr/>
        </p:nvSpPr>
        <p:spPr>
          <a:xfrm>
            <a:off x="7406640" y="47731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Microsoft i OpenAI (2024) opisały grupy rządowe używające modeli językowych.</a:t>
            </a:r>
            <a:endParaRPr lang="en-US" sz="1400" dirty="0"/>
          </a:p>
        </p:txBody>
      </p:sp>
      <p:sp>
        <p:nvSpPr>
          <p:cNvPr id="114" name="!!s5_title"/>
          <p:cNvSpPr txBox="1"/>
          <p:nvPr/>
        </p:nvSpPr>
        <p:spPr>
          <a:xfrm>
            <a:off x="133502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Atak w tempie maszyny</a:t>
            </a:r>
            <a:endParaRPr lang="en-US" sz="3600" dirty="0"/>
          </a:p>
        </p:txBody>
      </p:sp>
      <p:sp>
        <p:nvSpPr>
          <p:cNvPr id="115" name="!!s5_rowH"/>
          <p:cNvSpPr txBox="1"/>
          <p:nvPr/>
        </p:nvSpPr>
        <p:spPr>
          <a:xfrm>
            <a:off x="13350240" y="1938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CZŁOWIEK</a:t>
            </a:r>
            <a:endParaRPr lang="en-US" sz="1400" dirty="0"/>
          </a:p>
        </p:txBody>
      </p:sp>
      <p:sp>
        <p:nvSpPr>
          <p:cNvPr id="116" name="!!s5_rowA"/>
          <p:cNvSpPr txBox="1"/>
          <p:nvPr/>
        </p:nvSpPr>
        <p:spPr>
          <a:xfrm>
            <a:off x="1335024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AI</a:t>
            </a:r>
            <a:endParaRPr lang="en-US" sz="1400" dirty="0"/>
          </a:p>
        </p:txBody>
      </p:sp>
      <p:sp>
        <p:nvSpPr>
          <p:cNvPr id="117" name="!!s5_h0"/>
          <p:cNvSpPr/>
          <p:nvPr/>
        </p:nvSpPr>
        <p:spPr>
          <a:xfrm>
            <a:off x="16916400" y="1828800"/>
            <a:ext cx="2286000" cy="548640"/>
          </a:xfrm>
          <a:prstGeom prst="rect">
            <a:avLst/>
          </a:prstGeom>
          <a:solidFill>
            <a:schemeClr val="bg2">
              <a:alpha val="45000"/>
            </a:schemeClr>
          </a:solidFill>
          <a:ln/>
        </p:spPr>
      </p:sp>
      <p:sp>
        <p:nvSpPr>
          <p:cNvPr id="118" name="!!s5_hl0"/>
          <p:cNvSpPr txBox="1"/>
          <p:nvPr/>
        </p:nvSpPr>
        <p:spPr>
          <a:xfrm>
            <a:off x="170078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Rozpoznanie</a:t>
            </a:r>
            <a:endParaRPr lang="en-US" sz="1400" dirty="0"/>
          </a:p>
        </p:txBody>
      </p:sp>
      <p:sp>
        <p:nvSpPr>
          <p:cNvPr id="119" name="!!s5_a0"/>
          <p:cNvSpPr/>
          <p:nvPr/>
        </p:nvSpPr>
        <p:spPr>
          <a:xfrm>
            <a:off x="13258800" y="3017520"/>
            <a:ext cx="603504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0" name="!!s5_h1"/>
          <p:cNvSpPr/>
          <p:nvPr/>
        </p:nvSpPr>
        <p:spPr>
          <a:xfrm>
            <a:off x="21076920" y="1828800"/>
            <a:ext cx="2286000" cy="548640"/>
          </a:xfrm>
          <a:prstGeom prst="rect">
            <a:avLst/>
          </a:prstGeom>
          <a:solidFill>
            <a:schemeClr val="bg2">
              <a:alpha val="37000"/>
            </a:schemeClr>
          </a:solidFill>
          <a:ln/>
        </p:spPr>
      </p:sp>
      <p:sp>
        <p:nvSpPr>
          <p:cNvPr id="121" name="!!s5_hl1"/>
          <p:cNvSpPr txBox="1"/>
          <p:nvPr/>
        </p:nvSpPr>
        <p:spPr>
          <a:xfrm>
            <a:off x="2116836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Wejście</a:t>
            </a:r>
            <a:endParaRPr lang="en-US" sz="1400" dirty="0"/>
          </a:p>
        </p:txBody>
      </p:sp>
      <p:sp>
        <p:nvSpPr>
          <p:cNvPr id="122" name="!!s5_a1"/>
          <p:cNvSpPr/>
          <p:nvPr/>
        </p:nvSpPr>
        <p:spPr>
          <a:xfrm>
            <a:off x="16642080" y="3017520"/>
            <a:ext cx="603504" cy="548640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23" name="!!s5_h2"/>
          <p:cNvSpPr/>
          <p:nvPr/>
        </p:nvSpPr>
        <p:spPr>
          <a:xfrm>
            <a:off x="25237440" y="1828800"/>
            <a:ext cx="2286000" cy="548640"/>
          </a:xfrm>
          <a:prstGeom prst="rect">
            <a:avLst/>
          </a:prstGeom>
          <a:solidFill>
            <a:schemeClr val="bg2">
              <a:alpha val="29000"/>
            </a:schemeClr>
          </a:solidFill>
          <a:ln/>
        </p:spPr>
      </p:sp>
      <p:sp>
        <p:nvSpPr>
          <p:cNvPr id="124" name="!!s5_hl2"/>
          <p:cNvSpPr txBox="1"/>
          <p:nvPr/>
        </p:nvSpPr>
        <p:spPr>
          <a:xfrm>
            <a:off x="2532888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Ruch w sieci</a:t>
            </a:r>
            <a:endParaRPr lang="en-US" sz="1400" dirty="0"/>
          </a:p>
        </p:txBody>
      </p:sp>
      <p:sp>
        <p:nvSpPr>
          <p:cNvPr id="125" name="!!s5_a2"/>
          <p:cNvSpPr/>
          <p:nvPr/>
        </p:nvSpPr>
        <p:spPr>
          <a:xfrm>
            <a:off x="20025360" y="3017520"/>
            <a:ext cx="603504" cy="548640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26" name="!!s5_h3"/>
          <p:cNvSpPr/>
          <p:nvPr/>
        </p:nvSpPr>
        <p:spPr>
          <a:xfrm>
            <a:off x="29397960" y="1828800"/>
            <a:ext cx="2286000" cy="548640"/>
          </a:xfrm>
          <a:prstGeom prst="rect">
            <a:avLst/>
          </a:prstGeom>
          <a:solidFill>
            <a:schemeClr val="bg2">
              <a:alpha val="21000"/>
            </a:schemeClr>
          </a:solidFill>
          <a:ln/>
        </p:spPr>
      </p:sp>
      <p:sp>
        <p:nvSpPr>
          <p:cNvPr id="127" name="!!s5_hl3"/>
          <p:cNvSpPr txBox="1"/>
          <p:nvPr/>
        </p:nvSpPr>
        <p:spPr>
          <a:xfrm>
            <a:off x="2948940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Kradzież danych</a:t>
            </a:r>
            <a:endParaRPr lang="en-US" sz="1400" dirty="0"/>
          </a:p>
        </p:txBody>
      </p:sp>
      <p:sp>
        <p:nvSpPr>
          <p:cNvPr id="128" name="!!s5_a3"/>
          <p:cNvSpPr/>
          <p:nvPr/>
        </p:nvSpPr>
        <p:spPr>
          <a:xfrm>
            <a:off x="23408640" y="3017520"/>
            <a:ext cx="603504" cy="548640"/>
          </a:xfrm>
          <a:prstGeom prst="rect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29" name="!!s5_hT"/>
          <p:cNvSpPr txBox="1"/>
          <p:nvPr/>
        </p:nvSpPr>
        <p:spPr>
          <a:xfrm>
            <a:off x="2807208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dni – tygodnie</a:t>
            </a:r>
            <a:endParaRPr lang="en-US" sz="1400" dirty="0"/>
          </a:p>
        </p:txBody>
      </p:sp>
      <p:sp>
        <p:nvSpPr>
          <p:cNvPr id="130" name="!!s5_aT"/>
          <p:cNvSpPr txBox="1"/>
          <p:nvPr/>
        </p:nvSpPr>
        <p:spPr>
          <a:xfrm>
            <a:off x="2505456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minuty – godziny</a:t>
            </a:r>
            <a:endParaRPr lang="en-US" sz="2000" dirty="0"/>
          </a:p>
        </p:txBody>
      </p:sp>
      <p:sp>
        <p:nvSpPr>
          <p:cNvPr id="131" name="!!s5_stat"/>
          <p:cNvSpPr txBox="1"/>
          <p:nvPr/>
        </p:nvSpPr>
        <p:spPr>
          <a:xfrm>
            <a:off x="22494240" y="4480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80–90%</a:t>
            </a:r>
            <a:endParaRPr lang="en-US" sz="6000" dirty="0"/>
          </a:p>
        </p:txBody>
      </p:sp>
      <p:sp>
        <p:nvSpPr>
          <p:cNvPr id="132" name="!!s5_statD"/>
          <p:cNvSpPr txBox="1"/>
          <p:nvPr/>
        </p:nvSpPr>
        <p:spPr>
          <a:xfrm>
            <a:off x="27797760" y="4617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działań w kampanii szpiegowskiej wykonał samodzielnie agent AI — człowiek podejmował tylko kluczowe decyzje. Kampanię wykryła i przerwała firma Anthropic (2025).</a:t>
            </a:r>
            <a:endParaRPr lang="en-US" sz="1600" dirty="0"/>
          </a:p>
        </p:txBody>
      </p:sp>
      <p:sp>
        <p:nvSpPr>
          <p:cNvPr id="133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ATAKUJĄCY</a:t>
            </a:r>
            <a:endParaRPr lang="en-US" sz="1100" dirty="0"/>
          </a:p>
        </p:txBody>
      </p:sp>
      <p:sp>
        <p:nvSpPr>
          <p:cNvPr id="134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1</a:t>
            </a:r>
            <a:endParaRPr lang="en-US" sz="1100" dirty="0"/>
          </a:p>
        </p:txBody>
      </p:sp>
      <p:sp>
        <p:nvSpPr>
          <p:cNvPr id="135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6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7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8" name="!!tick2"/>
          <p:cNvSpPr/>
          <p:nvPr/>
        </p:nvSpPr>
        <p:spPr>
          <a:xfrm>
            <a:off x="98755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9" name="!!tick3"/>
          <p:cNvSpPr/>
          <p:nvPr/>
        </p:nvSpPr>
        <p:spPr>
          <a:xfrm>
            <a:off x="1207008" y="6400800"/>
            <a:ext cx="4572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0" name="!!tick4"/>
          <p:cNvSpPr/>
          <p:nvPr/>
        </p:nvSpPr>
        <p:spPr>
          <a:xfrm>
            <a:off x="173736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1" name="!!tick5"/>
          <p:cNvSpPr/>
          <p:nvPr/>
        </p:nvSpPr>
        <p:spPr>
          <a:xfrm>
            <a:off x="195681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2" name="!!tick6"/>
          <p:cNvSpPr/>
          <p:nvPr/>
        </p:nvSpPr>
        <p:spPr>
          <a:xfrm>
            <a:off x="217627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3" name="!!tick7"/>
          <p:cNvSpPr/>
          <p:nvPr/>
        </p:nvSpPr>
        <p:spPr>
          <a:xfrm>
            <a:off x="2395728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4" name="!!tick8"/>
          <p:cNvSpPr/>
          <p:nvPr/>
        </p:nvSpPr>
        <p:spPr>
          <a:xfrm>
            <a:off x="261518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5" name="!!tick9"/>
          <p:cNvSpPr/>
          <p:nvPr/>
        </p:nvSpPr>
        <p:spPr>
          <a:xfrm>
            <a:off x="283464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6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7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8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612714" y="-4531309"/>
            <a:ext cx="28041951" cy="1577340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14366804" y="4436047"/>
            <a:ext cx="169902" cy="169902"/>
          </a:xfrm>
          <a:prstGeom prst="ellipse">
            <a:avLst/>
          </a:prstGeom>
          <a:solidFill>
            <a:schemeClr val="accent1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11583653" y="2771457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16262410" y="-850873"/>
            <a:ext cx="156834" cy="156834"/>
          </a:xfrm>
          <a:prstGeom prst="ellipse">
            <a:avLst/>
          </a:prstGeom>
          <a:solidFill>
            <a:schemeClr val="accent1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12757871" y="-1258913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20442808" y="6654626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7191153" y="9256728"/>
            <a:ext cx="647199" cy="647199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14006076" y="4236485"/>
            <a:ext cx="202991" cy="202991"/>
          </a:xfrm>
          <a:prstGeom prst="ellipse">
            <a:avLst/>
          </a:prstGeom>
          <a:solidFill>
            <a:schemeClr val="accent1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8978637" y="-2583575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2849908" y="3349944"/>
            <a:ext cx="167859" cy="167859"/>
          </a:xfrm>
          <a:prstGeom prst="ellipse">
            <a:avLst/>
          </a:prstGeom>
          <a:solidFill>
            <a:schemeClr val="accent1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9683031" y="4968137"/>
            <a:ext cx="1087278" cy="108727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4865666" y="6210840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4204592" y="7579968"/>
            <a:ext cx="139775" cy="139775"/>
          </a:xfrm>
          <a:prstGeom prst="ellipse">
            <a:avLst/>
          </a:prstGeom>
          <a:solidFill>
            <a:schemeClr val="accent1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1200673" y="1691245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9884548" y="8443999"/>
            <a:ext cx="218591" cy="218591"/>
          </a:xfrm>
          <a:prstGeom prst="ellipse">
            <a:avLst/>
          </a:prstGeom>
          <a:solidFill>
            <a:schemeClr val="accent1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7224553" y="8051795"/>
            <a:ext cx="140841" cy="140841"/>
          </a:xfrm>
          <a:prstGeom prst="ellipse">
            <a:avLst/>
          </a:prstGeom>
          <a:solidFill>
            <a:schemeClr val="accent1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6510071" y="3928003"/>
            <a:ext cx="786257" cy="786257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24023168" y="9011561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2617215" y="5187470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278163" y="5108461"/>
            <a:ext cx="1079414" cy="1079414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22185645" y="5162992"/>
            <a:ext cx="228948" cy="228948"/>
          </a:xfrm>
          <a:prstGeom prst="ellipse">
            <a:avLst/>
          </a:prstGeom>
          <a:solidFill>
            <a:schemeClr val="accent1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16010976" y="-90654"/>
            <a:ext cx="191645" cy="191645"/>
          </a:xfrm>
          <a:prstGeom prst="ellipse">
            <a:avLst/>
          </a:prstGeom>
          <a:solidFill>
            <a:schemeClr val="accent1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3986779" y="-554061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9976932" y="7614396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11327145" y="3197834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4667366" y="4779538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1881928" y="-828056"/>
            <a:ext cx="227967" cy="227967"/>
          </a:xfrm>
          <a:prstGeom prst="ellipse">
            <a:avLst/>
          </a:prstGeom>
          <a:solidFill>
            <a:schemeClr val="accent1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5102073" y="-2083792"/>
            <a:ext cx="156456" cy="156456"/>
          </a:xfrm>
          <a:prstGeom prst="ellipse">
            <a:avLst/>
          </a:prstGeom>
          <a:solidFill>
            <a:schemeClr val="accent1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7187633" y="1338703"/>
            <a:ext cx="156446" cy="156446"/>
          </a:xfrm>
          <a:prstGeom prst="ellipse">
            <a:avLst/>
          </a:prstGeom>
          <a:solidFill>
            <a:schemeClr val="accent1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11844105" y="111568"/>
            <a:ext cx="236050" cy="236050"/>
          </a:xfrm>
          <a:prstGeom prst="ellipse">
            <a:avLst/>
          </a:prstGeom>
          <a:solidFill>
            <a:schemeClr val="accent1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5786171" y="-1242791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2078555" y="5007173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1280664" y="6293321"/>
            <a:ext cx="595298" cy="59529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22599019" y="5063007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8346437" y="6545920"/>
            <a:ext cx="204820" cy="204820"/>
          </a:xfrm>
          <a:prstGeom prst="ellipse">
            <a:avLst/>
          </a:prstGeom>
          <a:solidFill>
            <a:schemeClr val="accent1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8316123" y="4161967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4259001" y="3666955"/>
            <a:ext cx="171070" cy="171070"/>
          </a:xfrm>
          <a:prstGeom prst="ellipse">
            <a:avLst/>
          </a:prstGeom>
          <a:solidFill>
            <a:schemeClr val="accent1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26422140" y="2914774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7745446" y="-1611690"/>
            <a:ext cx="152405" cy="152405"/>
          </a:xfrm>
          <a:prstGeom prst="ellipse">
            <a:avLst/>
          </a:prstGeom>
          <a:solidFill>
            <a:schemeClr val="accent1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9691582" y="4262517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191010" y="-2009226"/>
            <a:ext cx="107954" cy="107954"/>
          </a:xfrm>
          <a:prstGeom prst="ellipse">
            <a:avLst/>
          </a:prstGeom>
          <a:solidFill>
            <a:schemeClr val="accent1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4137917" y="8277893"/>
            <a:ext cx="116916" cy="116916"/>
          </a:xfrm>
          <a:prstGeom prst="ellipse">
            <a:avLst/>
          </a:prstGeom>
          <a:solidFill>
            <a:schemeClr val="accent1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16138492" y="3792518"/>
            <a:ext cx="238576" cy="238576"/>
          </a:xfrm>
          <a:prstGeom prst="ellipse">
            <a:avLst/>
          </a:prstGeom>
          <a:solidFill>
            <a:schemeClr val="accent1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12633923" y="2112326"/>
            <a:ext cx="231782" cy="231782"/>
          </a:xfrm>
          <a:prstGeom prst="ellipse">
            <a:avLst/>
          </a:prstGeom>
          <a:solidFill>
            <a:schemeClr val="accent1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2311765" y="6284069"/>
            <a:ext cx="559428" cy="559428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13614798" y="4633808"/>
            <a:ext cx="158543" cy="158543"/>
          </a:xfrm>
          <a:prstGeom prst="ellipse">
            <a:avLst/>
          </a:prstGeom>
          <a:solidFill>
            <a:schemeClr val="accent1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6503621" y="5886172"/>
            <a:ext cx="205010" cy="205010"/>
          </a:xfrm>
          <a:prstGeom prst="ellipse">
            <a:avLst/>
          </a:prstGeom>
          <a:solidFill>
            <a:schemeClr val="accent1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2755446" y="8509138"/>
            <a:ext cx="171511" cy="171511"/>
          </a:xfrm>
          <a:prstGeom prst="ellipse">
            <a:avLst/>
          </a:prstGeom>
          <a:solidFill>
            <a:schemeClr val="accent1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20345531" y="4136384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4197617" y="5984945"/>
            <a:ext cx="160209" cy="160209"/>
          </a:xfrm>
          <a:prstGeom prst="ellipse">
            <a:avLst/>
          </a:prstGeom>
          <a:solidFill>
            <a:schemeClr val="accent1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9597514" y="6460068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1512189" y="-799473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2006317" y="1175619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aOrb" descr="Rdzeń AI atakujących">    </p:cNvPr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9070848" y="3584448"/>
            <a:ext cx="8193024" cy="8193024"/>
          </a:xfrm>
          <a:prstGeom prst="rect">
            <a:avLst/>
          </a:prstGeom>
        </p:spPr>
      </p:pic>
      <p:pic>
        <p:nvPicPr>
          <p:cNvPr id="58" name="!!bOrb" descr="Rdzeń AI obrońców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4813280" y="2011680"/>
            <a:ext cx="1463040" cy="1463040"/>
          </a:xfrm>
          <a:prstGeom prst="rect">
            <a:avLst/>
          </a:prstGeom>
        </p:spPr>
      </p:pic>
      <p:sp>
        <p:nvSpPr>
          <p:cNvPr id="59" name="!!ring1"/>
          <p:cNvSpPr/>
          <p:nvPr/>
        </p:nvSpPr>
        <p:spPr>
          <a:xfrm rot="7200000">
            <a:off x="9326880" y="3840480"/>
            <a:ext cx="7680960" cy="768096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0" name="!!ring2"/>
          <p:cNvSpPr/>
          <p:nvPr/>
        </p:nvSpPr>
        <p:spPr>
          <a:xfrm rot="3600000">
            <a:off x="8789213" y="3302813"/>
            <a:ext cx="8756294" cy="8756294"/>
          </a:xfrm>
          <a:prstGeom prst="ellipse">
            <a:avLst/>
          </a:prstGeom>
          <a:noFill/>
          <a:ln w="9525">
            <a:solidFill>
              <a:schemeClr val="bg1">
                <a:alpha val="5000"/>
              </a:schemeClr>
            </a:solidFill>
            <a:prstDash val="dash"/>
          </a:ln>
        </p:spPr>
      </p:sp>
      <p:sp>
        <p:nvSpPr>
          <p:cNvPr id="61" name="!!ring3"/>
          <p:cNvSpPr/>
          <p:nvPr/>
        </p:nvSpPr>
        <p:spPr>
          <a:xfrm rot="13800000">
            <a:off x="9787738" y="4301338"/>
            <a:ext cx="6759245" cy="6759245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2" name="!!flare"/>
          <p:cNvSpPr/>
          <p:nvPr/>
        </p:nvSpPr>
        <p:spPr>
          <a:xfrm>
            <a:off x="9144000" y="5715000"/>
            <a:ext cx="3657600" cy="9144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  <a:effectLst>
            <a:softEdge rad="36576"/>
          </a:effectLst>
        </p:spPr>
      </p:sp>
      <p:sp>
        <p:nvSpPr>
          <p:cNvPr id="63" name="!!bigword"/>
          <p:cNvSpPr txBox="1"/>
          <p:nvPr/>
        </p:nvSpPr>
        <p:spPr>
          <a:xfrm>
            <a:off x="-4389120" y="4480560"/>
            <a:ext cx="1645920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chemeClr val="accent1">
                    <a:alpha val="6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ATAKUJĄCY</a:t>
            </a:r>
            <a:endParaRPr lang="en-US" sz="20000" dirty="0"/>
          </a:p>
        </p:txBody>
      </p:sp>
      <p:sp>
        <p:nvSpPr>
          <p:cNvPr id="64" name="!!s4_title"/>
          <p:cNvSpPr txBox="1"/>
          <p:nvPr/>
        </p:nvSpPr>
        <p:spPr>
          <a:xfrm>
            <a:off x="-1225296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Niższy próg wejścia</a:t>
            </a:r>
            <a:endParaRPr lang="en-US" sz="3600" dirty="0"/>
          </a:p>
        </p:txBody>
      </p:sp>
      <p:sp>
        <p:nvSpPr>
          <p:cNvPr id="65" name="!!s4_panel"/>
          <p:cNvSpPr/>
          <p:nvPr/>
        </p:nvSpPr>
        <p:spPr>
          <a:xfrm>
            <a:off x="-17739360" y="1737360"/>
            <a:ext cx="5760720" cy="3931920"/>
          </a:xfrm>
          <a:prstGeom prst="rect">
            <a:avLst/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66" name="!!s4_pd0"/>
          <p:cNvSpPr/>
          <p:nvPr/>
        </p:nvSpPr>
        <p:spPr>
          <a:xfrm>
            <a:off x="-17510760" y="1901952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7" name="!!s4_pd1"/>
          <p:cNvSpPr/>
          <p:nvPr/>
        </p:nvSpPr>
        <p:spPr>
          <a:xfrm>
            <a:off x="-17282160" y="1901952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8" name="!!s4_pd2"/>
          <p:cNvSpPr/>
          <p:nvPr/>
        </p:nvSpPr>
        <p:spPr>
          <a:xfrm>
            <a:off x="-17053560" y="1901952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9" name="!!s4_ptitle"/>
          <p:cNvSpPr txBox="1"/>
          <p:nvPr/>
        </p:nvSpPr>
        <p:spPr>
          <a:xfrm>
            <a:off x="-16687800" y="18470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THREAT-INTEL // CO WIDZĄ ANALITYCY</a:t>
            </a:r>
            <a:endParaRPr lang="en-US" sz="1100" dirty="0"/>
          </a:p>
        </p:txBody>
      </p:sp>
      <p:sp>
        <p:nvSpPr>
          <p:cNvPr id="70" name="!!s4_l0"/>
          <p:cNvSpPr txBox="1"/>
          <p:nvPr/>
        </p:nvSpPr>
        <p:spPr>
          <a:xfrm>
            <a:off x="-1746504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tłumaczenie oszustw na wiele języków</a:t>
            </a:r>
            <a:endParaRPr lang="en-US" sz="1400" dirty="0"/>
          </a:p>
        </p:txBody>
      </p:sp>
      <p:sp>
        <p:nvSpPr>
          <p:cNvPr id="71" name="!!s4_lt0"/>
          <p:cNvSpPr txBox="1"/>
          <p:nvPr/>
        </p:nvSpPr>
        <p:spPr>
          <a:xfrm>
            <a:off x="-1284732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72" name="!!s4_l1"/>
          <p:cNvSpPr txBox="1"/>
          <p:nvPr/>
        </p:nvSpPr>
        <p:spPr>
          <a:xfrm>
            <a:off x="-1883664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fałszywe profile, zdjęcia i głosy</a:t>
            </a:r>
            <a:endParaRPr lang="en-US" sz="1400" dirty="0"/>
          </a:p>
        </p:txBody>
      </p:sp>
      <p:sp>
        <p:nvSpPr>
          <p:cNvPr id="73" name="!!s4_lt1"/>
          <p:cNvSpPr txBox="1"/>
          <p:nvPr/>
        </p:nvSpPr>
        <p:spPr>
          <a:xfrm>
            <a:off x="-14218920" y="2944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74" name="!!s4_l2"/>
          <p:cNvSpPr txBox="1"/>
          <p:nvPr/>
        </p:nvSpPr>
        <p:spPr>
          <a:xfrm>
            <a:off x="-20208240" y="3511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pomoc w pisaniu złośliwego kodu</a:t>
            </a:r>
            <a:endParaRPr lang="en-US" sz="1400" dirty="0"/>
          </a:p>
        </p:txBody>
      </p:sp>
      <p:sp>
        <p:nvSpPr>
          <p:cNvPr id="75" name="!!s4_lt2"/>
          <p:cNvSpPr txBox="1"/>
          <p:nvPr/>
        </p:nvSpPr>
        <p:spPr>
          <a:xfrm>
            <a:off x="-15590520" y="35112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76" name="!!s4_l3"/>
          <p:cNvSpPr txBox="1"/>
          <p:nvPr/>
        </p:nvSpPr>
        <p:spPr>
          <a:xfrm>
            <a:off x="-21579840" y="4078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rozpoznanie celu z otwartych źródeł</a:t>
            </a:r>
            <a:endParaRPr lang="en-US" sz="1400" dirty="0"/>
          </a:p>
        </p:txBody>
      </p:sp>
      <p:sp>
        <p:nvSpPr>
          <p:cNvPr id="77" name="!!s4_lt3"/>
          <p:cNvSpPr txBox="1"/>
          <p:nvPr/>
        </p:nvSpPr>
        <p:spPr>
          <a:xfrm>
            <a:off x="-16962120" y="40782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78" name="!!s4_l4"/>
          <p:cNvSpPr txBox="1"/>
          <p:nvPr/>
        </p:nvSpPr>
        <p:spPr>
          <a:xfrm>
            <a:off x="-22951440" y="4645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masowa personalizacja wiadomości</a:t>
            </a:r>
            <a:endParaRPr lang="en-US" sz="1400" dirty="0"/>
          </a:p>
        </p:txBody>
      </p:sp>
      <p:sp>
        <p:nvSpPr>
          <p:cNvPr id="79" name="!!s4_lt4"/>
          <p:cNvSpPr txBox="1"/>
          <p:nvPr/>
        </p:nvSpPr>
        <p:spPr>
          <a:xfrm>
            <a:off x="-18333720" y="4645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400" dirty="0"/>
          </a:p>
        </p:txBody>
      </p:sp>
      <p:sp>
        <p:nvSpPr>
          <p:cNvPr id="80" name="!!s4_lead"/>
          <p:cNvSpPr txBox="1"/>
          <p:nvPr/>
        </p:nvSpPr>
        <p:spPr>
          <a:xfrm>
            <a:off x="-7772400" y="17373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nie tworzy przestępców-geniuszy. Sprawia, że przeciętny oszust działa jak profesjonalista.</a:t>
            </a:r>
            <a:endParaRPr lang="en-US" sz="2000" dirty="0"/>
          </a:p>
        </p:txBody>
      </p:sp>
      <p:sp>
        <p:nvSpPr>
          <p:cNvPr id="81" name="!!s4_q1n"/>
          <p:cNvSpPr txBox="1"/>
          <p:nvPr/>
        </p:nvSpPr>
        <p:spPr>
          <a:xfrm>
            <a:off x="-9601200" y="3236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82" name="!!s4_q1h"/>
          <p:cNvSpPr txBox="1"/>
          <p:nvPr/>
        </p:nvSpPr>
        <p:spPr>
          <a:xfrm>
            <a:off x="-905256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Usługi w modelu abonamentowym</a:t>
            </a:r>
            <a:endParaRPr lang="en-US" sz="1800" dirty="0"/>
          </a:p>
        </p:txBody>
      </p:sp>
      <p:sp>
        <p:nvSpPr>
          <p:cNvPr id="83" name="!!s4_q1d"/>
          <p:cNvSpPr txBox="1"/>
          <p:nvPr/>
        </p:nvSpPr>
        <p:spPr>
          <a:xfrm>
            <a:off x="-9052560" y="35844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Przestępcze narzędzia AI sprzedawane są jak zwykła subskrypcja.</a:t>
            </a:r>
            <a:endParaRPr lang="en-US" sz="1400" dirty="0"/>
          </a:p>
        </p:txBody>
      </p:sp>
      <p:sp>
        <p:nvSpPr>
          <p:cNvPr id="84" name="!!s4_q2n"/>
          <p:cNvSpPr txBox="1"/>
          <p:nvPr/>
        </p:nvSpPr>
        <p:spPr>
          <a:xfrm>
            <a:off x="-11430000" y="44256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85" name="!!s4_q2h"/>
          <p:cNvSpPr txBox="1"/>
          <p:nvPr/>
        </p:nvSpPr>
        <p:spPr>
          <a:xfrm>
            <a:off x="-1088136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Państwa też testują</a:t>
            </a:r>
            <a:endParaRPr lang="en-US" sz="1800" dirty="0"/>
          </a:p>
        </p:txBody>
      </p:sp>
      <p:sp>
        <p:nvSpPr>
          <p:cNvPr id="86" name="!!s4_q2d"/>
          <p:cNvSpPr txBox="1"/>
          <p:nvPr/>
        </p:nvSpPr>
        <p:spPr>
          <a:xfrm>
            <a:off x="-10881360" y="47731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Microsoft i OpenAI (2024) opisały grupy rządowe używające modeli językowych.</a:t>
            </a:r>
            <a:endParaRPr lang="en-US" sz="1400" dirty="0"/>
          </a:p>
        </p:txBody>
      </p:sp>
      <p:sp>
        <p:nvSpPr>
          <p:cNvPr id="87" name="!!s5_title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Atak w tempie maszyny</a:t>
            </a:r>
            <a:endParaRPr lang="en-US" sz="3600" dirty="0"/>
          </a:p>
        </p:txBody>
      </p:sp>
      <p:sp>
        <p:nvSpPr>
          <p:cNvPr id="88" name="!!s5_rowH"/>
          <p:cNvSpPr txBox="1"/>
          <p:nvPr/>
        </p:nvSpPr>
        <p:spPr>
          <a:xfrm>
            <a:off x="548640" y="1938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CZŁOWIEK</a:t>
            </a:r>
            <a:endParaRPr lang="en-US" sz="1400" dirty="0"/>
          </a:p>
        </p:txBody>
      </p:sp>
      <p:sp>
        <p:nvSpPr>
          <p:cNvPr id="89" name="!!s5_rowA"/>
          <p:cNvSpPr txBox="1"/>
          <p:nvPr/>
        </p:nvSpPr>
        <p:spPr>
          <a:xfrm>
            <a:off x="54864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AI</a:t>
            </a:r>
            <a:endParaRPr lang="en-US" sz="1400" dirty="0"/>
          </a:p>
        </p:txBody>
      </p:sp>
      <p:sp>
        <p:nvSpPr>
          <p:cNvPr id="90" name="!!s5_h0"/>
          <p:cNvSpPr/>
          <p:nvPr/>
        </p:nvSpPr>
        <p:spPr>
          <a:xfrm>
            <a:off x="2286000" y="1828800"/>
            <a:ext cx="2286000" cy="548640"/>
          </a:xfrm>
          <a:prstGeom prst="rect">
            <a:avLst/>
          </a:prstGeom>
          <a:solidFill>
            <a:schemeClr val="bg2">
              <a:alpha val="45000"/>
            </a:schemeClr>
          </a:solidFill>
          <a:ln/>
        </p:spPr>
      </p:sp>
      <p:sp>
        <p:nvSpPr>
          <p:cNvPr id="91" name="!!s5_hl0"/>
          <p:cNvSpPr txBox="1"/>
          <p:nvPr/>
        </p:nvSpPr>
        <p:spPr>
          <a:xfrm>
            <a:off x="23774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Rozpoznanie</a:t>
            </a:r>
            <a:endParaRPr lang="en-US" sz="1400" dirty="0"/>
          </a:p>
        </p:txBody>
      </p:sp>
      <p:sp>
        <p:nvSpPr>
          <p:cNvPr id="92" name="!!s5_a0"/>
          <p:cNvSpPr/>
          <p:nvPr/>
        </p:nvSpPr>
        <p:spPr>
          <a:xfrm>
            <a:off x="2286000" y="3017520"/>
            <a:ext cx="603504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3" name="!!s5_h1"/>
          <p:cNvSpPr/>
          <p:nvPr/>
        </p:nvSpPr>
        <p:spPr>
          <a:xfrm>
            <a:off x="4617720" y="1828800"/>
            <a:ext cx="2286000" cy="548640"/>
          </a:xfrm>
          <a:prstGeom prst="rect">
            <a:avLst/>
          </a:prstGeom>
          <a:solidFill>
            <a:schemeClr val="bg2">
              <a:alpha val="37000"/>
            </a:schemeClr>
          </a:solidFill>
          <a:ln/>
        </p:spPr>
      </p:sp>
      <p:sp>
        <p:nvSpPr>
          <p:cNvPr id="94" name="!!s5_hl1"/>
          <p:cNvSpPr txBox="1"/>
          <p:nvPr/>
        </p:nvSpPr>
        <p:spPr>
          <a:xfrm>
            <a:off x="470916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Wejście</a:t>
            </a:r>
            <a:endParaRPr lang="en-US" sz="1400" dirty="0"/>
          </a:p>
        </p:txBody>
      </p:sp>
      <p:sp>
        <p:nvSpPr>
          <p:cNvPr id="95" name="!!s5_a1"/>
          <p:cNvSpPr/>
          <p:nvPr/>
        </p:nvSpPr>
        <p:spPr>
          <a:xfrm>
            <a:off x="2926080" y="3017520"/>
            <a:ext cx="603504" cy="548640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96" name="!!s5_h2"/>
          <p:cNvSpPr/>
          <p:nvPr/>
        </p:nvSpPr>
        <p:spPr>
          <a:xfrm>
            <a:off x="6949440" y="1828800"/>
            <a:ext cx="2286000" cy="548640"/>
          </a:xfrm>
          <a:prstGeom prst="rect">
            <a:avLst/>
          </a:prstGeom>
          <a:solidFill>
            <a:schemeClr val="bg2">
              <a:alpha val="29000"/>
            </a:schemeClr>
          </a:solidFill>
          <a:ln/>
        </p:spPr>
      </p:sp>
      <p:sp>
        <p:nvSpPr>
          <p:cNvPr id="97" name="!!s5_hl2"/>
          <p:cNvSpPr txBox="1"/>
          <p:nvPr/>
        </p:nvSpPr>
        <p:spPr>
          <a:xfrm>
            <a:off x="704088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Ruch w sieci</a:t>
            </a:r>
            <a:endParaRPr lang="en-US" sz="1400" dirty="0"/>
          </a:p>
        </p:txBody>
      </p:sp>
      <p:sp>
        <p:nvSpPr>
          <p:cNvPr id="98" name="!!s5_a2"/>
          <p:cNvSpPr/>
          <p:nvPr/>
        </p:nvSpPr>
        <p:spPr>
          <a:xfrm>
            <a:off x="3566160" y="3017520"/>
            <a:ext cx="603504" cy="548640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99" name="!!s5_h3"/>
          <p:cNvSpPr/>
          <p:nvPr/>
        </p:nvSpPr>
        <p:spPr>
          <a:xfrm>
            <a:off x="9281160" y="1828800"/>
            <a:ext cx="2286000" cy="548640"/>
          </a:xfrm>
          <a:prstGeom prst="rect">
            <a:avLst/>
          </a:prstGeom>
          <a:solidFill>
            <a:schemeClr val="bg2">
              <a:alpha val="21000"/>
            </a:schemeClr>
          </a:solidFill>
          <a:ln/>
        </p:spPr>
      </p:sp>
      <p:sp>
        <p:nvSpPr>
          <p:cNvPr id="100" name="!!s5_hl3"/>
          <p:cNvSpPr txBox="1"/>
          <p:nvPr/>
        </p:nvSpPr>
        <p:spPr>
          <a:xfrm>
            <a:off x="937260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Kradzież danych</a:t>
            </a:r>
            <a:endParaRPr lang="en-US" sz="1400" dirty="0"/>
          </a:p>
        </p:txBody>
      </p:sp>
      <p:sp>
        <p:nvSpPr>
          <p:cNvPr id="101" name="!!s5_a3"/>
          <p:cNvSpPr/>
          <p:nvPr/>
        </p:nvSpPr>
        <p:spPr>
          <a:xfrm>
            <a:off x="4206240" y="3017520"/>
            <a:ext cx="603504" cy="548640"/>
          </a:xfrm>
          <a:prstGeom prst="rect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02" name="!!s5_hT"/>
          <p:cNvSpPr txBox="1"/>
          <p:nvPr/>
        </p:nvSpPr>
        <p:spPr>
          <a:xfrm>
            <a:off x="795528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dni – tygodnie</a:t>
            </a:r>
            <a:endParaRPr lang="en-US" sz="1400" dirty="0"/>
          </a:p>
        </p:txBody>
      </p:sp>
      <p:sp>
        <p:nvSpPr>
          <p:cNvPr id="103" name="!!s5_aT"/>
          <p:cNvSpPr txBox="1"/>
          <p:nvPr/>
        </p:nvSpPr>
        <p:spPr>
          <a:xfrm>
            <a:off x="493776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minuty – godziny</a:t>
            </a:r>
            <a:endParaRPr lang="en-US" sz="2000" dirty="0"/>
          </a:p>
        </p:txBody>
      </p:sp>
      <p:sp>
        <p:nvSpPr>
          <p:cNvPr id="104" name="!!s5_stat"/>
          <p:cNvSpPr txBox="1"/>
          <p:nvPr/>
        </p:nvSpPr>
        <p:spPr>
          <a:xfrm>
            <a:off x="548640" y="4480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80–90%</a:t>
            </a:r>
            <a:endParaRPr lang="en-US" sz="6000" dirty="0"/>
          </a:p>
        </p:txBody>
      </p:sp>
      <p:sp>
        <p:nvSpPr>
          <p:cNvPr id="105" name="!!s5_statD"/>
          <p:cNvSpPr txBox="1"/>
          <p:nvPr/>
        </p:nvSpPr>
        <p:spPr>
          <a:xfrm>
            <a:off x="4023360" y="4617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działań w kampanii szpiegowskiej wykonał samodzielnie agent AI — człowiek podejmował tylko kluczowe decyzje. Kampanię wykryła i przerwała firma Anthropic (2025).</a:t>
            </a:r>
            <a:endParaRPr lang="en-US" sz="1600" dirty="0"/>
          </a:p>
        </p:txBody>
      </p:sp>
      <p:sp>
        <p:nvSpPr>
          <p:cNvPr id="106" name="!!s6_num"/>
          <p:cNvSpPr txBox="1"/>
          <p:nvPr/>
        </p:nvSpPr>
        <p:spPr>
          <a:xfrm>
            <a:off x="12557455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</a:t>
            </a:r>
            <a:endParaRPr lang="en-US" sz="2400" dirty="0"/>
          </a:p>
        </p:txBody>
      </p:sp>
      <p:sp>
        <p:nvSpPr>
          <p:cNvPr id="107" name="!!s6_sub"/>
          <p:cNvSpPr txBox="1"/>
          <p:nvPr/>
        </p:nvSpPr>
        <p:spPr>
          <a:xfrm>
            <a:off x="1888236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Jak AI wzmacnia tarczę</a:t>
            </a:r>
            <a:endParaRPr lang="en-US" sz="2400" dirty="0"/>
          </a:p>
        </p:txBody>
      </p:sp>
      <p:sp>
        <p:nvSpPr>
          <p:cNvPr id="108" name="!!s6_chip"/>
          <p:cNvSpPr/>
          <p:nvPr/>
        </p:nvSpPr>
        <p:spPr>
          <a:xfrm>
            <a:off x="22539960" y="4434840"/>
            <a:ext cx="2514600" cy="457200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9" name="!!s6_chipT"/>
          <p:cNvSpPr txBox="1"/>
          <p:nvPr/>
        </p:nvSpPr>
        <p:spPr>
          <a:xfrm>
            <a:off x="2253996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2</a:t>
            </a:r>
            <a:endParaRPr lang="en-US" sz="1400" dirty="0"/>
          </a:p>
        </p:txBody>
      </p:sp>
      <p:sp>
        <p:nvSpPr>
          <p:cNvPr id="110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ATAKUJĄCY</a:t>
            </a:r>
            <a:endParaRPr lang="en-US" sz="1100" dirty="0"/>
          </a:p>
        </p:txBody>
      </p:sp>
      <p:sp>
        <p:nvSpPr>
          <p:cNvPr id="111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1</a:t>
            </a:r>
            <a:endParaRPr lang="en-US" sz="1100" dirty="0"/>
          </a:p>
        </p:txBody>
      </p:sp>
      <p:sp>
        <p:nvSpPr>
          <p:cNvPr id="112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3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4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5" name="!!tick2"/>
          <p:cNvSpPr/>
          <p:nvPr/>
        </p:nvSpPr>
        <p:spPr>
          <a:xfrm>
            <a:off x="98755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6" name="!!tick3"/>
          <p:cNvSpPr/>
          <p:nvPr/>
        </p:nvSpPr>
        <p:spPr>
          <a:xfrm>
            <a:off x="120700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7" name="!!tick4"/>
          <p:cNvSpPr/>
          <p:nvPr/>
        </p:nvSpPr>
        <p:spPr>
          <a:xfrm>
            <a:off x="1426464" y="6400800"/>
            <a:ext cx="4572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8" name="!!tick5"/>
          <p:cNvSpPr/>
          <p:nvPr/>
        </p:nvSpPr>
        <p:spPr>
          <a:xfrm>
            <a:off x="195681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19" name="!!tick6"/>
          <p:cNvSpPr/>
          <p:nvPr/>
        </p:nvSpPr>
        <p:spPr>
          <a:xfrm>
            <a:off x="217627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0" name="!!tick7"/>
          <p:cNvSpPr/>
          <p:nvPr/>
        </p:nvSpPr>
        <p:spPr>
          <a:xfrm>
            <a:off x="2395728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1" name="!!tick8"/>
          <p:cNvSpPr/>
          <p:nvPr/>
        </p:nvSpPr>
        <p:spPr>
          <a:xfrm>
            <a:off x="261518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2" name="!!tick9"/>
          <p:cNvSpPr/>
          <p:nvPr/>
        </p:nvSpPr>
        <p:spPr>
          <a:xfrm>
            <a:off x="283464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3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4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5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744543" y="-4663440"/>
            <a:ext cx="30480381" cy="1714500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7483665" y="5177309"/>
            <a:ext cx="169902" cy="169902"/>
          </a:xfrm>
          <a:prstGeom prst="ellipse">
            <a:avLst/>
          </a:prstGeom>
          <a:solidFill>
            <a:schemeClr val="accent2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8701953" y="3081794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10228692" y="-201088"/>
            <a:ext cx="156834" cy="156834"/>
          </a:xfrm>
          <a:prstGeom prst="ellipse">
            <a:avLst/>
          </a:prstGeom>
          <a:solidFill>
            <a:schemeClr val="accent2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6947221" y="-633150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4423541" y="7302855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2717884" y="9738465"/>
            <a:ext cx="647199" cy="647199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4972159" y="5209368"/>
            <a:ext cx="202991" cy="202991"/>
          </a:xfrm>
          <a:prstGeom prst="ellipse">
            <a:avLst/>
          </a:prstGeom>
          <a:solidFill>
            <a:schemeClr val="accent2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-1039557" y="-1504692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-3900381" y="4076898"/>
            <a:ext cx="167859" cy="167859"/>
          </a:xfrm>
          <a:prstGeom prst="ellipse">
            <a:avLst/>
          </a:prstGeom>
          <a:solidFill>
            <a:schemeClr val="accent2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1571243" y="5841714"/>
            <a:ext cx="1087278" cy="108727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11327729" y="6906754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-720254" y="8110336"/>
            <a:ext cx="139775" cy="139775"/>
          </a:xfrm>
          <a:prstGeom prst="ellipse">
            <a:avLst/>
          </a:prstGeom>
          <a:solidFill>
            <a:schemeClr val="accent2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9183842" y="2550970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-163376" y="9526083"/>
            <a:ext cx="218591" cy="218591"/>
          </a:xfrm>
          <a:prstGeom prst="ellipse">
            <a:avLst/>
          </a:prstGeom>
          <a:solidFill>
            <a:schemeClr val="accent2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12218706" y="8589627"/>
            <a:ext cx="140841" cy="140841"/>
          </a:xfrm>
          <a:prstGeom prst="ellipse">
            <a:avLst/>
          </a:prstGeom>
          <a:solidFill>
            <a:schemeClr val="accent2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3225353" y="4281742"/>
            <a:ext cx="786257" cy="786257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16694114" y="9800844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10071511" y="5990241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9005980" y="6048379"/>
            <a:ext cx="1079414" cy="1079414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11464554" y="6317571"/>
            <a:ext cx="228948" cy="228948"/>
          </a:xfrm>
          <a:prstGeom prst="ellipse">
            <a:avLst/>
          </a:prstGeom>
          <a:solidFill>
            <a:schemeClr val="accent2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7714550" y="802807"/>
            <a:ext cx="191645" cy="191645"/>
          </a:xfrm>
          <a:prstGeom prst="ellipse">
            <a:avLst/>
          </a:prstGeom>
          <a:solidFill>
            <a:schemeClr val="accent2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993949" y="-231756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877608" y="8594323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3358449" y="4056001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1937064" y="5073571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12539272" y="319658"/>
            <a:ext cx="227967" cy="227967"/>
          </a:xfrm>
          <a:prstGeom prst="ellipse">
            <a:avLst/>
          </a:prstGeom>
          <a:solidFill>
            <a:schemeClr val="accent2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11111208" y="-1436654"/>
            <a:ext cx="156456" cy="156456"/>
          </a:xfrm>
          <a:prstGeom prst="ellipse">
            <a:avLst/>
          </a:prstGeom>
          <a:solidFill>
            <a:schemeClr val="accent2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1179145" y="1985771"/>
            <a:ext cx="156446" cy="156446"/>
          </a:xfrm>
          <a:prstGeom prst="ellipse">
            <a:avLst/>
          </a:prstGeom>
          <a:solidFill>
            <a:schemeClr val="accent2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661357" y="1315864"/>
            <a:ext cx="236050" cy="236050"/>
          </a:xfrm>
          <a:prstGeom prst="ellipse">
            <a:avLst/>
          </a:prstGeom>
          <a:solidFill>
            <a:schemeClr val="accent2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13140875" y="-450746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5476167" y="5373070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10952927" y="7334949"/>
            <a:ext cx="595298" cy="59529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17281546" y="5635658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-806348" y="7531604"/>
            <a:ext cx="204820" cy="204820"/>
          </a:xfrm>
          <a:prstGeom prst="ellipse">
            <a:avLst/>
          </a:prstGeom>
          <a:solidFill>
            <a:schemeClr val="accent2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11740703" y="4530768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11218007" y="4416386"/>
            <a:ext cx="171070" cy="171070"/>
          </a:xfrm>
          <a:prstGeom prst="ellipse">
            <a:avLst/>
          </a:prstGeom>
          <a:solidFill>
            <a:schemeClr val="accent2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15170168" y="4126525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1999646" y="-992912"/>
            <a:ext cx="152405" cy="152405"/>
          </a:xfrm>
          <a:prstGeom prst="ellipse">
            <a:avLst/>
          </a:prstGeom>
          <a:solidFill>
            <a:schemeClr val="accent2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6732495" y="4581188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2665469" y="-1701605"/>
            <a:ext cx="107954" cy="107954"/>
          </a:xfrm>
          <a:prstGeom prst="ellipse">
            <a:avLst/>
          </a:prstGeom>
          <a:solidFill>
            <a:schemeClr val="accent2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7576961" y="8648251"/>
            <a:ext cx="116916" cy="116916"/>
          </a:xfrm>
          <a:prstGeom prst="ellipse">
            <a:avLst/>
          </a:prstGeom>
          <a:solidFill>
            <a:schemeClr val="accent2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4791571" y="5014494"/>
            <a:ext cx="238576" cy="238576"/>
          </a:xfrm>
          <a:prstGeom prst="ellipse">
            <a:avLst/>
          </a:prstGeom>
          <a:solidFill>
            <a:schemeClr val="accent2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1728636" y="3286741"/>
            <a:ext cx="231782" cy="231782"/>
          </a:xfrm>
          <a:prstGeom prst="ellipse">
            <a:avLst/>
          </a:prstGeom>
          <a:solidFill>
            <a:schemeClr val="accent2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10315975" y="7146061"/>
            <a:ext cx="559428" cy="55942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7470027" y="5295552"/>
            <a:ext cx="158543" cy="158543"/>
          </a:xfrm>
          <a:prstGeom prst="ellipse">
            <a:avLst/>
          </a:prstGeom>
          <a:solidFill>
            <a:schemeClr val="accent2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-2661539" y="6873189"/>
            <a:ext cx="205010" cy="205010"/>
          </a:xfrm>
          <a:prstGeom prst="ellipse">
            <a:avLst/>
          </a:prstGeom>
          <a:solidFill>
            <a:schemeClr val="accent2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9743169" y="9261662"/>
            <a:ext cx="171511" cy="171511"/>
          </a:xfrm>
          <a:prstGeom prst="ellipse">
            <a:avLst/>
          </a:prstGeom>
          <a:solidFill>
            <a:schemeClr val="accent2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9888927" y="5262480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-2055427" y="6658350"/>
            <a:ext cx="160209" cy="160209"/>
          </a:xfrm>
          <a:prstGeom prst="ellipse">
            <a:avLst/>
          </a:prstGeom>
          <a:solidFill>
            <a:schemeClr val="accent2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800755" y="7407411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10522872" y="170908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-2469022" y="1657579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bOrb" descr="Rdzeń AI obrońcó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868680"/>
            <a:ext cx="5120640" cy="5120640"/>
          </a:xfrm>
          <a:prstGeom prst="rect">
            <a:avLst/>
          </a:prstGeom>
        </p:spPr>
      </p:pic>
      <p:pic>
        <p:nvPicPr>
          <p:cNvPr id="58" name="!!aOrb" descr="Rdzeń AI atakujących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-3621024" y="4608576"/>
            <a:ext cx="1755648" cy="1755648"/>
          </a:xfrm>
          <a:prstGeom prst="rect">
            <a:avLst/>
          </a:prstGeom>
        </p:spPr>
      </p:pic>
      <p:sp>
        <p:nvSpPr>
          <p:cNvPr id="59" name="!!bigword"/>
          <p:cNvSpPr txBox="1"/>
          <p:nvPr/>
        </p:nvSpPr>
        <p:spPr>
          <a:xfrm>
            <a:off x="548640" y="2240280"/>
            <a:ext cx="73152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0" b="1" spc="200" kern="0" dirty="0">
                <a:solidFill>
                  <a:schemeClr val="accent2"/>
                </a:solidFill>
                <a:effectLst>
                  <a:glow rad="228600">
                    <a:srgbClr val="00E0FF">
                      <a:alpha val="35000"/>
                    </a:srgbClr>
                  </a:glow>
                </a:effectLst>
                <a:latin typeface="+mj-lt" pitchFamily="34" charset="0"/>
                <a:ea typeface="+mj-lt" pitchFamily="34" charset="-122"/>
                <a:cs typeface="+mj-lt" pitchFamily="34" charset="-120"/>
              </a:rPr>
              <a:t>OBROŃCY</a:t>
            </a:r>
            <a:endParaRPr lang="en-US" sz="8000" dirty="0"/>
          </a:p>
        </p:txBody>
      </p:sp>
      <p:sp>
        <p:nvSpPr>
          <p:cNvPr id="60" name="!!ring1"/>
          <p:cNvSpPr/>
          <p:nvPr/>
        </p:nvSpPr>
        <p:spPr>
          <a:xfrm rot="10800000">
            <a:off x="7543800" y="1188720"/>
            <a:ext cx="4480560" cy="448056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2">
                <a:alpha val="75000"/>
              </a:schemeClr>
            </a:solidFill>
            <a:prstDash val="solid"/>
          </a:ln>
        </p:spPr>
      </p:sp>
      <p:sp>
        <p:nvSpPr>
          <p:cNvPr id="61" name="!!ring2"/>
          <p:cNvSpPr/>
          <p:nvPr/>
        </p:nvSpPr>
        <p:spPr>
          <a:xfrm rot="5400000">
            <a:off x="7230161" y="875081"/>
            <a:ext cx="5107838" cy="5107838"/>
          </a:xfrm>
          <a:prstGeom prst="ellipse">
            <a:avLst/>
          </a:prstGeom>
          <a:noFill/>
          <a:ln w="9525">
            <a:solidFill>
              <a:schemeClr val="bg1">
                <a:alpha val="30000"/>
              </a:schemeClr>
            </a:solidFill>
            <a:prstDash val="dash"/>
          </a:ln>
        </p:spPr>
      </p:sp>
      <p:sp>
        <p:nvSpPr>
          <p:cNvPr id="62" name="!!ring3"/>
          <p:cNvSpPr/>
          <p:nvPr/>
        </p:nvSpPr>
        <p:spPr>
          <a:xfrm rot="10200000">
            <a:off x="7812634" y="1457554"/>
            <a:ext cx="3942893" cy="3942893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63" name="!!flare"/>
          <p:cNvSpPr/>
          <p:nvPr/>
        </p:nvSpPr>
        <p:spPr>
          <a:xfrm>
            <a:off x="5212080" y="3383280"/>
            <a:ext cx="9144000" cy="91440"/>
          </a:xfrm>
          <a:prstGeom prst="ellipse">
            <a:avLst/>
          </a:prstGeom>
          <a:solidFill>
            <a:schemeClr val="accent2">
              <a:alpha val="65000"/>
            </a:schemeClr>
          </a:solidFill>
          <a:ln/>
          <a:effectLst>
            <a:softEdge rad="36576"/>
          </a:effectLst>
        </p:spPr>
      </p:sp>
      <p:sp>
        <p:nvSpPr>
          <p:cNvPr id="64" name="!!s5_title"/>
          <p:cNvSpPr txBox="1"/>
          <p:nvPr/>
        </p:nvSpPr>
        <p:spPr>
          <a:xfrm>
            <a:off x="-1225296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Atak w tempie maszyny</a:t>
            </a:r>
            <a:endParaRPr lang="en-US" sz="3600" dirty="0"/>
          </a:p>
        </p:txBody>
      </p:sp>
      <p:sp>
        <p:nvSpPr>
          <p:cNvPr id="65" name="!!s5_rowH"/>
          <p:cNvSpPr txBox="1"/>
          <p:nvPr/>
        </p:nvSpPr>
        <p:spPr>
          <a:xfrm>
            <a:off x="-12252960" y="1938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CZŁOWIEK</a:t>
            </a:r>
            <a:endParaRPr lang="en-US" sz="1400" dirty="0"/>
          </a:p>
        </p:txBody>
      </p:sp>
      <p:sp>
        <p:nvSpPr>
          <p:cNvPr id="66" name="!!s5_rowA"/>
          <p:cNvSpPr txBox="1"/>
          <p:nvPr/>
        </p:nvSpPr>
        <p:spPr>
          <a:xfrm>
            <a:off x="-1225296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AI</a:t>
            </a:r>
            <a:endParaRPr lang="en-US" sz="1400" dirty="0"/>
          </a:p>
        </p:txBody>
      </p:sp>
      <p:sp>
        <p:nvSpPr>
          <p:cNvPr id="67" name="!!s5_h0"/>
          <p:cNvSpPr/>
          <p:nvPr/>
        </p:nvSpPr>
        <p:spPr>
          <a:xfrm>
            <a:off x="-12344400" y="1828800"/>
            <a:ext cx="2286000" cy="548640"/>
          </a:xfrm>
          <a:prstGeom prst="rect">
            <a:avLst/>
          </a:prstGeom>
          <a:solidFill>
            <a:schemeClr val="bg2">
              <a:alpha val="45000"/>
            </a:schemeClr>
          </a:solidFill>
          <a:ln/>
        </p:spPr>
      </p:sp>
      <p:sp>
        <p:nvSpPr>
          <p:cNvPr id="68" name="!!s5_hl0"/>
          <p:cNvSpPr txBox="1"/>
          <p:nvPr/>
        </p:nvSpPr>
        <p:spPr>
          <a:xfrm>
            <a:off x="-1225296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Rozpoznanie</a:t>
            </a:r>
            <a:endParaRPr lang="en-US" sz="1400" dirty="0"/>
          </a:p>
        </p:txBody>
      </p:sp>
      <p:sp>
        <p:nvSpPr>
          <p:cNvPr id="69" name="!!s5_a0"/>
          <p:cNvSpPr/>
          <p:nvPr/>
        </p:nvSpPr>
        <p:spPr>
          <a:xfrm>
            <a:off x="-8686800" y="3017520"/>
            <a:ext cx="603504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0" name="!!s5_h1"/>
          <p:cNvSpPr/>
          <p:nvPr/>
        </p:nvSpPr>
        <p:spPr>
          <a:xfrm>
            <a:off x="-11841480" y="1828800"/>
            <a:ext cx="2286000" cy="548640"/>
          </a:xfrm>
          <a:prstGeom prst="rect">
            <a:avLst/>
          </a:prstGeom>
          <a:solidFill>
            <a:schemeClr val="bg2">
              <a:alpha val="37000"/>
            </a:schemeClr>
          </a:solidFill>
          <a:ln/>
        </p:spPr>
      </p:sp>
      <p:sp>
        <p:nvSpPr>
          <p:cNvPr id="71" name="!!s5_hl1"/>
          <p:cNvSpPr txBox="1"/>
          <p:nvPr/>
        </p:nvSpPr>
        <p:spPr>
          <a:xfrm>
            <a:off x="-117500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Wejście</a:t>
            </a:r>
            <a:endParaRPr lang="en-US" sz="1400" dirty="0"/>
          </a:p>
        </p:txBody>
      </p:sp>
      <p:sp>
        <p:nvSpPr>
          <p:cNvPr id="72" name="!!s5_a1"/>
          <p:cNvSpPr/>
          <p:nvPr/>
        </p:nvSpPr>
        <p:spPr>
          <a:xfrm>
            <a:off x="-10789920" y="3017520"/>
            <a:ext cx="603504" cy="548640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73" name="!!s5_h2"/>
          <p:cNvSpPr/>
          <p:nvPr/>
        </p:nvSpPr>
        <p:spPr>
          <a:xfrm>
            <a:off x="-11338560" y="1828800"/>
            <a:ext cx="2286000" cy="548640"/>
          </a:xfrm>
          <a:prstGeom prst="rect">
            <a:avLst/>
          </a:prstGeom>
          <a:solidFill>
            <a:schemeClr val="bg2">
              <a:alpha val="29000"/>
            </a:schemeClr>
          </a:solidFill>
          <a:ln/>
        </p:spPr>
      </p:sp>
      <p:sp>
        <p:nvSpPr>
          <p:cNvPr id="74" name="!!s5_hl2"/>
          <p:cNvSpPr txBox="1"/>
          <p:nvPr/>
        </p:nvSpPr>
        <p:spPr>
          <a:xfrm>
            <a:off x="-1124712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Ruch w sieci</a:t>
            </a:r>
            <a:endParaRPr lang="en-US" sz="1400" dirty="0"/>
          </a:p>
        </p:txBody>
      </p:sp>
      <p:sp>
        <p:nvSpPr>
          <p:cNvPr id="75" name="!!s5_a2"/>
          <p:cNvSpPr/>
          <p:nvPr/>
        </p:nvSpPr>
        <p:spPr>
          <a:xfrm>
            <a:off x="-12893040" y="3017520"/>
            <a:ext cx="603504" cy="548640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76" name="!!s5_h3"/>
          <p:cNvSpPr/>
          <p:nvPr/>
        </p:nvSpPr>
        <p:spPr>
          <a:xfrm>
            <a:off x="-10835640" y="1828800"/>
            <a:ext cx="2286000" cy="548640"/>
          </a:xfrm>
          <a:prstGeom prst="rect">
            <a:avLst/>
          </a:prstGeom>
          <a:solidFill>
            <a:schemeClr val="bg2">
              <a:alpha val="21000"/>
            </a:schemeClr>
          </a:solidFill>
          <a:ln/>
        </p:spPr>
      </p:sp>
      <p:sp>
        <p:nvSpPr>
          <p:cNvPr id="77" name="!!s5_hl3"/>
          <p:cNvSpPr txBox="1"/>
          <p:nvPr/>
        </p:nvSpPr>
        <p:spPr>
          <a:xfrm>
            <a:off x="-1074420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Kradzież danych</a:t>
            </a:r>
            <a:endParaRPr lang="en-US" sz="1400" dirty="0"/>
          </a:p>
        </p:txBody>
      </p:sp>
      <p:sp>
        <p:nvSpPr>
          <p:cNvPr id="78" name="!!s5_a3"/>
          <p:cNvSpPr/>
          <p:nvPr/>
        </p:nvSpPr>
        <p:spPr>
          <a:xfrm>
            <a:off x="-14996160" y="3017520"/>
            <a:ext cx="603504" cy="548640"/>
          </a:xfrm>
          <a:prstGeom prst="rect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79" name="!!s5_hT"/>
          <p:cNvSpPr txBox="1"/>
          <p:nvPr/>
        </p:nvSpPr>
        <p:spPr>
          <a:xfrm>
            <a:off x="-1216152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dni – tygodnie</a:t>
            </a:r>
            <a:endParaRPr lang="en-US" sz="1400" dirty="0"/>
          </a:p>
        </p:txBody>
      </p:sp>
      <p:sp>
        <p:nvSpPr>
          <p:cNvPr id="80" name="!!s5_aT"/>
          <p:cNvSpPr txBox="1"/>
          <p:nvPr/>
        </p:nvSpPr>
        <p:spPr>
          <a:xfrm>
            <a:off x="-1517904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minuty – godziny</a:t>
            </a:r>
            <a:endParaRPr lang="en-US" sz="2000" dirty="0"/>
          </a:p>
        </p:txBody>
      </p:sp>
      <p:sp>
        <p:nvSpPr>
          <p:cNvPr id="81" name="!!s5_stat"/>
          <p:cNvSpPr txBox="1"/>
          <p:nvPr/>
        </p:nvSpPr>
        <p:spPr>
          <a:xfrm>
            <a:off x="-21396960" y="4480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80–90%</a:t>
            </a:r>
            <a:endParaRPr lang="en-US" sz="6000" dirty="0"/>
          </a:p>
        </p:txBody>
      </p:sp>
      <p:sp>
        <p:nvSpPr>
          <p:cNvPr id="82" name="!!s5_statD"/>
          <p:cNvSpPr txBox="1"/>
          <p:nvPr/>
        </p:nvSpPr>
        <p:spPr>
          <a:xfrm>
            <a:off x="-19751040" y="4617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działań w kampanii szpiegowskiej wykonał samodzielnie agent AI — człowiek podejmował tylko kluczowe decyzje. Kampanię wykryła i przerwała firma Anthropic (2025).</a:t>
            </a:r>
            <a:endParaRPr lang="en-US" sz="1600" dirty="0"/>
          </a:p>
        </p:txBody>
      </p:sp>
      <p:sp>
        <p:nvSpPr>
          <p:cNvPr id="83" name="!!s6_num"/>
          <p:cNvSpPr txBox="1"/>
          <p:nvPr/>
        </p:nvSpPr>
        <p:spPr>
          <a:xfrm>
            <a:off x="59436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</a:t>
            </a:r>
            <a:endParaRPr lang="en-US" sz="2400" dirty="0"/>
          </a:p>
        </p:txBody>
      </p:sp>
      <p:sp>
        <p:nvSpPr>
          <p:cNvPr id="84" name="!!s6_sub"/>
          <p:cNvSpPr txBox="1"/>
          <p:nvPr/>
        </p:nvSpPr>
        <p:spPr>
          <a:xfrm>
            <a:off x="59436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Jak AI wzmacnia tarczę</a:t>
            </a:r>
            <a:endParaRPr lang="en-US" sz="2400" dirty="0"/>
          </a:p>
        </p:txBody>
      </p:sp>
      <p:sp>
        <p:nvSpPr>
          <p:cNvPr id="85" name="!!s6_chip"/>
          <p:cNvSpPr/>
          <p:nvPr/>
        </p:nvSpPr>
        <p:spPr>
          <a:xfrm>
            <a:off x="594360" y="4434840"/>
            <a:ext cx="2514600" cy="457200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!!s6_chipT"/>
          <p:cNvSpPr txBox="1"/>
          <p:nvPr/>
        </p:nvSpPr>
        <p:spPr>
          <a:xfrm>
            <a:off x="59436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2</a:t>
            </a:r>
            <a:endParaRPr lang="en-US" sz="1400" dirty="0"/>
          </a:p>
        </p:txBody>
      </p:sp>
      <p:sp>
        <p:nvSpPr>
          <p:cNvPr id="87" name="!!s7_title"/>
          <p:cNvSpPr txBox="1"/>
          <p:nvPr/>
        </p:nvSpPr>
        <p:spPr>
          <a:xfrm>
            <a:off x="133502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SOC, który nie śpi</a:t>
            </a:r>
            <a:endParaRPr lang="en-US" sz="3600" dirty="0"/>
          </a:p>
        </p:txBody>
      </p:sp>
      <p:sp>
        <p:nvSpPr>
          <p:cNvPr id="88" name="!!s7_p1n"/>
          <p:cNvSpPr txBox="1"/>
          <p:nvPr/>
        </p:nvSpPr>
        <p:spPr>
          <a:xfrm>
            <a:off x="15179040" y="1682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9" name="!!s7_p1h"/>
          <p:cNvSpPr txBox="1"/>
          <p:nvPr/>
        </p:nvSpPr>
        <p:spPr>
          <a:xfrm>
            <a:off x="1572768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Widzi wszystko naraz</a:t>
            </a:r>
            <a:endParaRPr lang="en-US" sz="1800" dirty="0"/>
          </a:p>
        </p:txBody>
      </p:sp>
      <p:sp>
        <p:nvSpPr>
          <p:cNvPr id="90" name="!!s7_p1d"/>
          <p:cNvSpPr txBox="1"/>
          <p:nvPr/>
        </p:nvSpPr>
        <p:spPr>
          <a:xfrm>
            <a:off x="15727680" y="20299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Analizuje miliardy zdarzeń z sieci, chmury i urządzeń.</a:t>
            </a:r>
            <a:endParaRPr lang="en-US" sz="1400" dirty="0"/>
          </a:p>
        </p:txBody>
      </p:sp>
      <p:sp>
        <p:nvSpPr>
          <p:cNvPr id="91" name="!!s7_p2n"/>
          <p:cNvSpPr txBox="1"/>
          <p:nvPr/>
        </p:nvSpPr>
        <p:spPr>
          <a:xfrm>
            <a:off x="17007840" y="2642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92" name="!!s7_p2h"/>
          <p:cNvSpPr txBox="1"/>
          <p:nvPr/>
        </p:nvSpPr>
        <p:spPr>
          <a:xfrm>
            <a:off x="1755648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Wyłapuje anomalie</a:t>
            </a:r>
            <a:endParaRPr lang="en-US" sz="1800" dirty="0"/>
          </a:p>
        </p:txBody>
      </p:sp>
      <p:sp>
        <p:nvSpPr>
          <p:cNvPr id="93" name="!!s7_p2d"/>
          <p:cNvSpPr txBox="1"/>
          <p:nvPr/>
        </p:nvSpPr>
        <p:spPr>
          <a:xfrm>
            <a:off x="17556480" y="2990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Uczy się, jak wygląda „normalność”, i alarmuje przy odchyleniach.</a:t>
            </a:r>
            <a:endParaRPr lang="en-US" sz="1400" dirty="0"/>
          </a:p>
        </p:txBody>
      </p:sp>
      <p:sp>
        <p:nvSpPr>
          <p:cNvPr id="94" name="!!s7_p3n"/>
          <p:cNvSpPr txBox="1"/>
          <p:nvPr/>
        </p:nvSpPr>
        <p:spPr>
          <a:xfrm>
            <a:off x="18836640" y="3602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95" name="!!s7_p3h"/>
          <p:cNvSpPr txBox="1"/>
          <p:nvPr/>
        </p:nvSpPr>
        <p:spPr>
          <a:xfrm>
            <a:off x="1938528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Reaguje w sekundy</a:t>
            </a:r>
            <a:endParaRPr lang="en-US" sz="1800" dirty="0"/>
          </a:p>
        </p:txBody>
      </p:sp>
      <p:sp>
        <p:nvSpPr>
          <p:cNvPr id="96" name="!!s7_p3d"/>
          <p:cNvSpPr txBox="1"/>
          <p:nvPr/>
        </p:nvSpPr>
        <p:spPr>
          <a:xfrm>
            <a:off x="19385280" y="39502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Sam odcina zainfekowany komputer, zanim atak się rozleje.</a:t>
            </a:r>
            <a:endParaRPr lang="en-US" sz="1400" dirty="0"/>
          </a:p>
        </p:txBody>
      </p:sp>
      <p:sp>
        <p:nvSpPr>
          <p:cNvPr id="97" name="!!s7_s1"/>
          <p:cNvSpPr txBox="1"/>
          <p:nvPr/>
        </p:nvSpPr>
        <p:spPr>
          <a:xfrm>
            <a:off x="20665440" y="4617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2,2 mln $</a:t>
            </a:r>
            <a:endParaRPr lang="en-US" sz="3000" dirty="0"/>
          </a:p>
        </p:txBody>
      </p:sp>
      <p:sp>
        <p:nvSpPr>
          <p:cNvPr id="98" name="!!s7_s1d"/>
          <p:cNvSpPr txBox="1"/>
          <p:nvPr/>
        </p:nvSpPr>
        <p:spPr>
          <a:xfrm>
            <a:off x="20665440" y="51937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niższy średni koszt wycieku przy szerokim użyciu AI i automatyzacji (IBM, 2024)</a:t>
            </a:r>
            <a:endParaRPr lang="en-US" sz="1200" dirty="0"/>
          </a:p>
        </p:txBody>
      </p:sp>
      <p:sp>
        <p:nvSpPr>
          <p:cNvPr id="99" name="!!s7_s2"/>
          <p:cNvSpPr txBox="1"/>
          <p:nvPr/>
        </p:nvSpPr>
        <p:spPr>
          <a:xfrm>
            <a:off x="25420320" y="4617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~100 dni</a:t>
            </a:r>
            <a:endParaRPr lang="en-US" sz="3000" dirty="0"/>
          </a:p>
        </p:txBody>
      </p:sp>
      <p:sp>
        <p:nvSpPr>
          <p:cNvPr id="100" name="!!s7_s2d"/>
          <p:cNvSpPr txBox="1"/>
          <p:nvPr/>
        </p:nvSpPr>
        <p:spPr>
          <a:xfrm>
            <a:off x="25420320" y="51937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szybciej wykryty i opanowany incydent (IBM, 2024)</a:t>
            </a:r>
            <a:endParaRPr lang="en-US" sz="1200" dirty="0"/>
          </a:p>
        </p:txBody>
      </p:sp>
      <p:sp>
        <p:nvSpPr>
          <p:cNvPr id="101" name="!!s7_rc0"/>
          <p:cNvSpPr/>
          <p:nvPr/>
        </p:nvSpPr>
        <p:spPr>
          <a:xfrm>
            <a:off x="25374600" y="1645920"/>
            <a:ext cx="4023360" cy="4023360"/>
          </a:xfrm>
          <a:prstGeom prst="ellipse">
            <a:avLst/>
          </a:prstGeom>
          <a:noFill/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02" name="!!s7_rc1"/>
          <p:cNvSpPr/>
          <p:nvPr/>
        </p:nvSpPr>
        <p:spPr>
          <a:xfrm>
            <a:off x="26058571" y="2329891"/>
            <a:ext cx="2655418" cy="2655418"/>
          </a:xfrm>
          <a:prstGeom prst="ellipse">
            <a:avLst/>
          </a:prstGeom>
          <a:noFill/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03" name="!!s7_rc2"/>
          <p:cNvSpPr/>
          <p:nvPr/>
        </p:nvSpPr>
        <p:spPr>
          <a:xfrm>
            <a:off x="26722426" y="2993746"/>
            <a:ext cx="1327709" cy="1327709"/>
          </a:xfrm>
          <a:prstGeom prst="ellipse">
            <a:avLst/>
          </a:prstGeom>
          <a:noFill/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104" name="!!s7_rx"/>
          <p:cNvSpPr/>
          <p:nvPr/>
        </p:nvSpPr>
        <p:spPr>
          <a:xfrm>
            <a:off x="25374600" y="3657600"/>
            <a:ext cx="4023360" cy="0"/>
          </a:xfrm>
          <a:prstGeom prst="line">
            <a:avLst/>
          </a:prstGeom>
          <a:noFill/>
          <a:ln w="9525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05" name="!!s7_ry"/>
          <p:cNvSpPr/>
          <p:nvPr/>
        </p:nvSpPr>
        <p:spPr>
          <a:xfrm>
            <a:off x="27386280" y="1645920"/>
            <a:ext cx="0" cy="4023360"/>
          </a:xfrm>
          <a:prstGeom prst="line">
            <a:avLst/>
          </a:prstGeom>
          <a:noFill/>
          <a:ln w="9525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06" name="!!s7_sweep"/>
          <p:cNvSpPr/>
          <p:nvPr/>
        </p:nvSpPr>
        <p:spPr>
          <a:xfrm rot="12000000">
            <a:off x="25374600" y="1645920"/>
            <a:ext cx="4023360" cy="4023360"/>
          </a:xfrm>
          <a:prstGeom prst="pie">
            <a:avLst>
              <a:gd name="adj1" fmla="val 18000000"/>
              <a:gd name="adj2" fmla="val 0"/>
            </a:avLst>
          </a:prstGeom>
          <a:solidFill>
            <a:schemeClr val="accent2">
              <a:alpha val="28000"/>
            </a:schemeClr>
          </a:solidFill>
          <a:ln/>
          <a:effectLst>
            <a:softEdge rad="228600"/>
          </a:effectLst>
        </p:spPr>
      </p:sp>
      <p:sp>
        <p:nvSpPr>
          <p:cNvPr id="107" name="!!s7_b0"/>
          <p:cNvSpPr/>
          <p:nvPr/>
        </p:nvSpPr>
        <p:spPr>
          <a:xfrm>
            <a:off x="26215848" y="285292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8" name="!!s7_b1"/>
          <p:cNvSpPr/>
          <p:nvPr/>
        </p:nvSpPr>
        <p:spPr>
          <a:xfrm>
            <a:off x="28136088" y="230428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9" name="!!s7_b2"/>
          <p:cNvSpPr/>
          <p:nvPr/>
        </p:nvSpPr>
        <p:spPr>
          <a:xfrm>
            <a:off x="28684728" y="404164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0" name="!!s7_b3"/>
          <p:cNvSpPr/>
          <p:nvPr/>
        </p:nvSpPr>
        <p:spPr>
          <a:xfrm>
            <a:off x="26855928" y="477316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1" name="!!s7_b4"/>
          <p:cNvSpPr/>
          <p:nvPr/>
        </p:nvSpPr>
        <p:spPr>
          <a:xfrm>
            <a:off x="25758648" y="395020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2" name="!!s7_b5"/>
          <p:cNvSpPr/>
          <p:nvPr/>
        </p:nvSpPr>
        <p:spPr>
          <a:xfrm>
            <a:off x="27678888" y="376732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3" name="!!s7_anom"/>
          <p:cNvSpPr/>
          <p:nvPr/>
        </p:nvSpPr>
        <p:spPr>
          <a:xfrm>
            <a:off x="28218384" y="4672584"/>
            <a:ext cx="256032" cy="256032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114" name="!!s7_anomT"/>
          <p:cNvSpPr txBox="1"/>
          <p:nvPr/>
        </p:nvSpPr>
        <p:spPr>
          <a:xfrm>
            <a:off x="286207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ANOMALIA · 03:14</a:t>
            </a:r>
            <a:endParaRPr lang="en-US" sz="1100" dirty="0"/>
          </a:p>
        </p:txBody>
      </p:sp>
      <p:sp>
        <p:nvSpPr>
          <p:cNvPr id="115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OBROŃCY</a:t>
            </a:r>
            <a:endParaRPr lang="en-US" sz="1100" dirty="0"/>
          </a:p>
        </p:txBody>
      </p:sp>
      <p:sp>
        <p:nvSpPr>
          <p:cNvPr id="116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2</a:t>
            </a:r>
            <a:endParaRPr lang="en-US" sz="1100" dirty="0"/>
          </a:p>
        </p:txBody>
      </p:sp>
      <p:sp>
        <p:nvSpPr>
          <p:cNvPr id="117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8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9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0" name="!!tick2"/>
          <p:cNvSpPr/>
          <p:nvPr/>
        </p:nvSpPr>
        <p:spPr>
          <a:xfrm>
            <a:off x="98755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1" name="!!tick3"/>
          <p:cNvSpPr/>
          <p:nvPr/>
        </p:nvSpPr>
        <p:spPr>
          <a:xfrm>
            <a:off x="120700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2" name="!!tick4"/>
          <p:cNvSpPr/>
          <p:nvPr/>
        </p:nvSpPr>
        <p:spPr>
          <a:xfrm>
            <a:off x="1426464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3" name="!!tick5"/>
          <p:cNvSpPr/>
          <p:nvPr/>
        </p:nvSpPr>
        <p:spPr>
          <a:xfrm>
            <a:off x="1645920" y="6400800"/>
            <a:ext cx="45720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4" name="!!tick6"/>
          <p:cNvSpPr/>
          <p:nvPr/>
        </p:nvSpPr>
        <p:spPr>
          <a:xfrm>
            <a:off x="217627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5" name="!!tick7"/>
          <p:cNvSpPr/>
          <p:nvPr/>
        </p:nvSpPr>
        <p:spPr>
          <a:xfrm>
            <a:off x="2395728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6" name="!!tick8"/>
          <p:cNvSpPr/>
          <p:nvPr/>
        </p:nvSpPr>
        <p:spPr>
          <a:xfrm>
            <a:off x="261518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7" name="!!tick9"/>
          <p:cNvSpPr/>
          <p:nvPr/>
        </p:nvSpPr>
        <p:spPr>
          <a:xfrm>
            <a:off x="283464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8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9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30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200">
        <p159:morph option="byCha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5536" y="-4115897"/>
            <a:ext cx="26335049" cy="1481328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6424720" y="4330153"/>
            <a:ext cx="169902" cy="169902"/>
          </a:xfrm>
          <a:prstGeom prst="ellipse">
            <a:avLst/>
          </a:prstGeom>
          <a:solidFill>
            <a:schemeClr val="accent2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8258615" y="2727123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9300428" y="-943699"/>
            <a:ext cx="156834" cy="156834"/>
          </a:xfrm>
          <a:prstGeom prst="ellipse">
            <a:avLst/>
          </a:prstGeom>
          <a:solidFill>
            <a:schemeClr val="accent2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6053275" y="-1348307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3497500" y="6562022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2029688" y="9187909"/>
            <a:ext cx="647199" cy="647199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3582326" y="4097501"/>
            <a:ext cx="202991" cy="202991"/>
          </a:xfrm>
          <a:prstGeom prst="ellipse">
            <a:avLst/>
          </a:prstGeom>
          <a:solidFill>
            <a:schemeClr val="accent2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-2580817" y="-2737701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-4938887" y="3246093"/>
            <a:ext cx="167859" cy="167859"/>
          </a:xfrm>
          <a:prstGeom prst="ellipse">
            <a:avLst/>
          </a:prstGeom>
          <a:solidFill>
            <a:schemeClr val="accent2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323275" y="4843341"/>
            <a:ext cx="1087278" cy="108727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12321892" y="6111423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-1477922" y="7504201"/>
            <a:ext cx="139775" cy="139775"/>
          </a:xfrm>
          <a:prstGeom prst="ellipse">
            <a:avLst/>
          </a:prstGeom>
          <a:solidFill>
            <a:schemeClr val="accent2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10412022" y="1568427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-1709210" y="8289415"/>
            <a:ext cx="218591" cy="218591"/>
          </a:xfrm>
          <a:prstGeom prst="ellipse">
            <a:avLst/>
          </a:prstGeom>
          <a:solidFill>
            <a:schemeClr val="accent2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12987037" y="7974962"/>
            <a:ext cx="140841" cy="140841"/>
          </a:xfrm>
          <a:prstGeom prst="ellipse">
            <a:avLst/>
          </a:prstGeom>
          <a:solidFill>
            <a:schemeClr val="accent2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2720012" y="3877469"/>
            <a:ext cx="786257" cy="786257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15566567" y="8898807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11218325" y="5072789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10348721" y="4974187"/>
            <a:ext cx="1079414" cy="1079414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9815155" y="4998052"/>
            <a:ext cx="228948" cy="228948"/>
          </a:xfrm>
          <a:prstGeom prst="ellipse">
            <a:avLst/>
          </a:prstGeom>
          <a:solidFill>
            <a:schemeClr val="accent2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6438177" y="-218292"/>
            <a:ext cx="191645" cy="191645"/>
          </a:xfrm>
          <a:prstGeom prst="ellipse">
            <a:avLst/>
          </a:prstGeom>
          <a:solidFill>
            <a:schemeClr val="accent2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533514" y="-600104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-522288" y="7474406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2132496" y="3075238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1517018" y="4737534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14178864" y="-992015"/>
            <a:ext cx="227967" cy="227967"/>
          </a:xfrm>
          <a:prstGeom prst="ellipse">
            <a:avLst/>
          </a:prstGeom>
          <a:solidFill>
            <a:schemeClr val="accent2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12035691" y="-2176240"/>
            <a:ext cx="156456" cy="156456"/>
          </a:xfrm>
          <a:prstGeom prst="ellipse">
            <a:avLst/>
          </a:prstGeom>
          <a:solidFill>
            <a:schemeClr val="accent2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254762" y="1246264"/>
            <a:ext cx="156446" cy="156446"/>
          </a:xfrm>
          <a:prstGeom prst="ellipse">
            <a:avLst/>
          </a:prstGeom>
          <a:solidFill>
            <a:schemeClr val="accent2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-1059066" y="-60474"/>
            <a:ext cx="236050" cy="236050"/>
          </a:xfrm>
          <a:prstGeom prst="ellipse">
            <a:avLst/>
          </a:prstGeom>
          <a:solidFill>
            <a:schemeClr val="accent2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14272368" y="-1355940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5998877" y="4954902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12440967" y="6144517"/>
            <a:ext cx="595298" cy="59529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16463473" y="4981200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-2214469" y="6405108"/>
            <a:ext cx="204820" cy="204820"/>
          </a:xfrm>
          <a:prstGeom prst="ellipse">
            <a:avLst/>
          </a:prstGeom>
          <a:solidFill>
            <a:schemeClr val="accent2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12267561" y="4109281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12288624" y="3559893"/>
            <a:ext cx="171070" cy="171070"/>
          </a:xfrm>
          <a:prstGeom prst="ellipse">
            <a:avLst/>
          </a:prstGeom>
          <a:solidFill>
            <a:schemeClr val="accent2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13439096" y="2741667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1115677" y="-1700087"/>
            <a:ext cx="152405" cy="152405"/>
          </a:xfrm>
          <a:prstGeom prst="ellipse">
            <a:avLst/>
          </a:prstGeom>
          <a:solidFill>
            <a:schemeClr val="accent2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6277251" y="4216993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3104927" y="-2053172"/>
            <a:ext cx="107954" cy="107954"/>
          </a:xfrm>
          <a:prstGeom prst="ellipse">
            <a:avLst/>
          </a:prstGeom>
          <a:solidFill>
            <a:schemeClr val="accent2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8106045" y="8224984"/>
            <a:ext cx="116916" cy="116916"/>
          </a:xfrm>
          <a:prstGeom prst="ellipse">
            <a:avLst/>
          </a:prstGeom>
          <a:solidFill>
            <a:schemeClr val="accent2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3045891" y="3617950"/>
            <a:ext cx="238576" cy="238576"/>
          </a:xfrm>
          <a:prstGeom prst="ellipse">
            <a:avLst/>
          </a:prstGeom>
          <a:solidFill>
            <a:schemeClr val="accent2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50900" y="1944552"/>
            <a:ext cx="231782" cy="231782"/>
          </a:xfrm>
          <a:prstGeom prst="ellipse">
            <a:avLst/>
          </a:prstGeom>
          <a:solidFill>
            <a:schemeClr val="accent2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11547392" y="6160927"/>
            <a:ext cx="559428" cy="55942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6524678" y="4539273"/>
            <a:ext cx="158543" cy="158543"/>
          </a:xfrm>
          <a:prstGeom prst="ellipse">
            <a:avLst/>
          </a:prstGeom>
          <a:solidFill>
            <a:schemeClr val="accent2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-4071563" y="5745169"/>
            <a:ext cx="205010" cy="205010"/>
          </a:xfrm>
          <a:prstGeom prst="ellipse">
            <a:avLst/>
          </a:prstGeom>
          <a:solidFill>
            <a:schemeClr val="accent2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10818203" y="8401635"/>
            <a:ext cx="171511" cy="171511"/>
          </a:xfrm>
          <a:prstGeom prst="ellipse">
            <a:avLst/>
          </a:prstGeom>
          <a:solidFill>
            <a:schemeClr val="accent2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8280219" y="3975513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-3017434" y="5888745"/>
            <a:ext cx="160209" cy="160209"/>
          </a:xfrm>
          <a:prstGeom prst="ellipse">
            <a:avLst/>
          </a:prstGeom>
          <a:solidFill>
            <a:schemeClr val="accent2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-552593" y="6324733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11909131" y="-938099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-3157536" y="1106768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bOrb" descr="Rdzeń AI obrońców">    </p:cNvPr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9272016" y="-4626864"/>
            <a:ext cx="7607808" cy="7607808"/>
          </a:xfrm>
          <a:prstGeom prst="rect">
            <a:avLst/>
          </a:prstGeom>
        </p:spPr>
      </p:pic>
      <p:pic>
        <p:nvPicPr>
          <p:cNvPr id="58" name="!!aOrb" descr="Rdzeń AI atakujących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-3931920" y="2011680"/>
            <a:ext cx="1463040" cy="1463040"/>
          </a:xfrm>
          <a:prstGeom prst="rect">
            <a:avLst/>
          </a:prstGeom>
        </p:spPr>
      </p:pic>
      <p:sp>
        <p:nvSpPr>
          <p:cNvPr id="59" name="!!ring1"/>
          <p:cNvSpPr/>
          <p:nvPr/>
        </p:nvSpPr>
        <p:spPr>
          <a:xfrm rot="12000000">
            <a:off x="9418320" y="-4480560"/>
            <a:ext cx="7315200" cy="731520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0" name="!!ring2"/>
          <p:cNvSpPr/>
          <p:nvPr/>
        </p:nvSpPr>
        <p:spPr>
          <a:xfrm rot="6000000">
            <a:off x="8906256" y="-4992624"/>
            <a:ext cx="8339328" cy="8339328"/>
          </a:xfrm>
          <a:prstGeom prst="ellipse">
            <a:avLst/>
          </a:prstGeom>
          <a:noFill/>
          <a:ln w="9525">
            <a:solidFill>
              <a:schemeClr val="bg1">
                <a:alpha val="5000"/>
              </a:schemeClr>
            </a:solidFill>
            <a:prstDash val="dash"/>
          </a:ln>
        </p:spPr>
      </p:sp>
      <p:sp>
        <p:nvSpPr>
          <p:cNvPr id="61" name="!!ring3"/>
          <p:cNvSpPr/>
          <p:nvPr/>
        </p:nvSpPr>
        <p:spPr>
          <a:xfrm rot="9000000">
            <a:off x="9857232" y="-4041648"/>
            <a:ext cx="6437376" cy="6437376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62" name="!!flare"/>
          <p:cNvSpPr/>
          <p:nvPr/>
        </p:nvSpPr>
        <p:spPr>
          <a:xfrm>
            <a:off x="10058400" y="320040"/>
            <a:ext cx="3657600" cy="9144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  <a:effectLst>
            <a:softEdge rad="36576"/>
          </a:effectLst>
        </p:spPr>
      </p:sp>
      <p:sp>
        <p:nvSpPr>
          <p:cNvPr id="63" name="!!bigword"/>
          <p:cNvSpPr txBox="1"/>
          <p:nvPr/>
        </p:nvSpPr>
        <p:spPr>
          <a:xfrm>
            <a:off x="-365760" y="4480560"/>
            <a:ext cx="1645920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chemeClr val="accent2">
                    <a:alpha val="6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OBROŃCY</a:t>
            </a:r>
            <a:endParaRPr lang="en-US" sz="20000" dirty="0"/>
          </a:p>
        </p:txBody>
      </p:sp>
      <p:sp>
        <p:nvSpPr>
          <p:cNvPr id="64" name="!!s6_num"/>
          <p:cNvSpPr txBox="1"/>
          <p:nvPr/>
        </p:nvSpPr>
        <p:spPr>
          <a:xfrm>
            <a:off x="-1586484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</a:t>
            </a:r>
            <a:endParaRPr lang="en-US" sz="2400" dirty="0"/>
          </a:p>
        </p:txBody>
      </p:sp>
      <p:sp>
        <p:nvSpPr>
          <p:cNvPr id="65" name="!!s6_sub"/>
          <p:cNvSpPr txBox="1"/>
          <p:nvPr/>
        </p:nvSpPr>
        <p:spPr>
          <a:xfrm>
            <a:off x="-1769364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Jak AI wzmacnia tarczę</a:t>
            </a:r>
            <a:endParaRPr lang="en-US" sz="2400" dirty="0"/>
          </a:p>
        </p:txBody>
      </p:sp>
      <p:sp>
        <p:nvSpPr>
          <p:cNvPr id="66" name="!!s6_chip"/>
          <p:cNvSpPr/>
          <p:nvPr/>
        </p:nvSpPr>
        <p:spPr>
          <a:xfrm>
            <a:off x="-21351240" y="4434840"/>
            <a:ext cx="2514600" cy="457200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7" name="!!s6_chipT"/>
          <p:cNvSpPr txBox="1"/>
          <p:nvPr/>
        </p:nvSpPr>
        <p:spPr>
          <a:xfrm>
            <a:off x="-2135124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2</a:t>
            </a:r>
            <a:endParaRPr lang="en-US" sz="1400" dirty="0"/>
          </a:p>
        </p:txBody>
      </p:sp>
      <p:sp>
        <p:nvSpPr>
          <p:cNvPr id="68" name="!!s7_title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SOC, który nie śpi</a:t>
            </a:r>
            <a:endParaRPr lang="en-US" sz="3600" dirty="0"/>
          </a:p>
        </p:txBody>
      </p:sp>
      <p:sp>
        <p:nvSpPr>
          <p:cNvPr id="69" name="!!s7_p1n"/>
          <p:cNvSpPr txBox="1"/>
          <p:nvPr/>
        </p:nvSpPr>
        <p:spPr>
          <a:xfrm>
            <a:off x="548640" y="1682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0" name="!!s7_p1h"/>
          <p:cNvSpPr txBox="1"/>
          <p:nvPr/>
        </p:nvSpPr>
        <p:spPr>
          <a:xfrm>
            <a:off x="109728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Widzi wszystko naraz</a:t>
            </a:r>
            <a:endParaRPr lang="en-US" sz="1800" dirty="0"/>
          </a:p>
        </p:txBody>
      </p:sp>
      <p:sp>
        <p:nvSpPr>
          <p:cNvPr id="71" name="!!s7_p1d"/>
          <p:cNvSpPr txBox="1"/>
          <p:nvPr/>
        </p:nvSpPr>
        <p:spPr>
          <a:xfrm>
            <a:off x="1097280" y="20299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Analizuje miliardy zdarzeń z sieci, chmury i urządzeń.</a:t>
            </a:r>
            <a:endParaRPr lang="en-US" sz="1400" dirty="0"/>
          </a:p>
        </p:txBody>
      </p:sp>
      <p:sp>
        <p:nvSpPr>
          <p:cNvPr id="72" name="!!s7_p2n"/>
          <p:cNvSpPr txBox="1"/>
          <p:nvPr/>
        </p:nvSpPr>
        <p:spPr>
          <a:xfrm>
            <a:off x="548640" y="2642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73" name="!!s7_p2h"/>
          <p:cNvSpPr txBox="1"/>
          <p:nvPr/>
        </p:nvSpPr>
        <p:spPr>
          <a:xfrm>
            <a:off x="109728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Wyłapuje anomalie</a:t>
            </a:r>
            <a:endParaRPr lang="en-US" sz="1800" dirty="0"/>
          </a:p>
        </p:txBody>
      </p:sp>
      <p:sp>
        <p:nvSpPr>
          <p:cNvPr id="74" name="!!s7_p2d"/>
          <p:cNvSpPr txBox="1"/>
          <p:nvPr/>
        </p:nvSpPr>
        <p:spPr>
          <a:xfrm>
            <a:off x="1097280" y="2990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Uczy się, jak wygląda „normalność”, i alarmuje przy odchyleniach.</a:t>
            </a:r>
            <a:endParaRPr lang="en-US" sz="1400" dirty="0"/>
          </a:p>
        </p:txBody>
      </p:sp>
      <p:sp>
        <p:nvSpPr>
          <p:cNvPr id="75" name="!!s7_p3n"/>
          <p:cNvSpPr txBox="1"/>
          <p:nvPr/>
        </p:nvSpPr>
        <p:spPr>
          <a:xfrm>
            <a:off x="548640" y="3602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76" name="!!s7_p3h"/>
          <p:cNvSpPr txBox="1"/>
          <p:nvPr/>
        </p:nvSpPr>
        <p:spPr>
          <a:xfrm>
            <a:off x="109728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Reaguje w sekundy</a:t>
            </a:r>
            <a:endParaRPr lang="en-US" sz="1800" dirty="0"/>
          </a:p>
        </p:txBody>
      </p:sp>
      <p:sp>
        <p:nvSpPr>
          <p:cNvPr id="77" name="!!s7_p3d"/>
          <p:cNvSpPr txBox="1"/>
          <p:nvPr/>
        </p:nvSpPr>
        <p:spPr>
          <a:xfrm>
            <a:off x="1097280" y="39502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Sam odcina zainfekowany komputer, zanim atak się rozleje.</a:t>
            </a:r>
            <a:endParaRPr lang="en-US" sz="1400" dirty="0"/>
          </a:p>
        </p:txBody>
      </p:sp>
      <p:sp>
        <p:nvSpPr>
          <p:cNvPr id="78" name="!!s7_s1"/>
          <p:cNvSpPr txBox="1"/>
          <p:nvPr/>
        </p:nvSpPr>
        <p:spPr>
          <a:xfrm>
            <a:off x="548640" y="4617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2,2 mln $</a:t>
            </a:r>
            <a:endParaRPr lang="en-US" sz="3000" dirty="0"/>
          </a:p>
        </p:txBody>
      </p:sp>
      <p:sp>
        <p:nvSpPr>
          <p:cNvPr id="79" name="!!s7_s1d"/>
          <p:cNvSpPr txBox="1"/>
          <p:nvPr/>
        </p:nvSpPr>
        <p:spPr>
          <a:xfrm>
            <a:off x="548640" y="51937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niższy średni koszt wycieku przy szerokim użyciu AI i automatyzacji (IBM, 2024)</a:t>
            </a:r>
            <a:endParaRPr lang="en-US" sz="1200" dirty="0"/>
          </a:p>
        </p:txBody>
      </p:sp>
      <p:sp>
        <p:nvSpPr>
          <p:cNvPr id="80" name="!!s7_s2"/>
          <p:cNvSpPr txBox="1"/>
          <p:nvPr/>
        </p:nvSpPr>
        <p:spPr>
          <a:xfrm>
            <a:off x="3474720" y="4617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~100 dni</a:t>
            </a:r>
            <a:endParaRPr lang="en-US" sz="3000" dirty="0"/>
          </a:p>
        </p:txBody>
      </p:sp>
      <p:sp>
        <p:nvSpPr>
          <p:cNvPr id="81" name="!!s7_s2d"/>
          <p:cNvSpPr txBox="1"/>
          <p:nvPr/>
        </p:nvSpPr>
        <p:spPr>
          <a:xfrm>
            <a:off x="3474720" y="51937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szybciej wykryty i opanowany incydent (IBM, 2024)</a:t>
            </a:r>
            <a:endParaRPr lang="en-US" sz="1200" dirty="0"/>
          </a:p>
        </p:txBody>
      </p:sp>
      <p:sp>
        <p:nvSpPr>
          <p:cNvPr id="82" name="!!s7_rc0"/>
          <p:cNvSpPr/>
          <p:nvPr/>
        </p:nvSpPr>
        <p:spPr>
          <a:xfrm>
            <a:off x="7086600" y="1645920"/>
            <a:ext cx="4023360" cy="4023360"/>
          </a:xfrm>
          <a:prstGeom prst="ellipse">
            <a:avLst/>
          </a:prstGeom>
          <a:noFill/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83" name="!!s7_rc1"/>
          <p:cNvSpPr/>
          <p:nvPr/>
        </p:nvSpPr>
        <p:spPr>
          <a:xfrm>
            <a:off x="7770571" y="2329891"/>
            <a:ext cx="2655418" cy="2655418"/>
          </a:xfrm>
          <a:prstGeom prst="ellipse">
            <a:avLst/>
          </a:prstGeom>
          <a:noFill/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84" name="!!s7_rc2"/>
          <p:cNvSpPr/>
          <p:nvPr/>
        </p:nvSpPr>
        <p:spPr>
          <a:xfrm>
            <a:off x="8434426" y="2993746"/>
            <a:ext cx="1327709" cy="1327709"/>
          </a:xfrm>
          <a:prstGeom prst="ellipse">
            <a:avLst/>
          </a:prstGeom>
          <a:noFill/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85" name="!!s7_rx"/>
          <p:cNvSpPr/>
          <p:nvPr/>
        </p:nvSpPr>
        <p:spPr>
          <a:xfrm>
            <a:off x="7086600" y="3657600"/>
            <a:ext cx="4023360" cy="0"/>
          </a:xfrm>
          <a:prstGeom prst="line">
            <a:avLst/>
          </a:prstGeom>
          <a:noFill/>
          <a:ln w="9525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86" name="!!s7_ry"/>
          <p:cNvSpPr/>
          <p:nvPr/>
        </p:nvSpPr>
        <p:spPr>
          <a:xfrm>
            <a:off x="9098280" y="1645920"/>
            <a:ext cx="0" cy="4023360"/>
          </a:xfrm>
          <a:prstGeom prst="line">
            <a:avLst/>
          </a:prstGeom>
          <a:noFill/>
          <a:ln w="9525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87" name="!!s7_sweep"/>
          <p:cNvSpPr/>
          <p:nvPr/>
        </p:nvSpPr>
        <p:spPr>
          <a:xfrm rot="12000000">
            <a:off x="7086600" y="1645920"/>
            <a:ext cx="4023360" cy="4023360"/>
          </a:xfrm>
          <a:prstGeom prst="pie">
            <a:avLst>
              <a:gd name="adj1" fmla="val 18000000"/>
              <a:gd name="adj2" fmla="val 0"/>
            </a:avLst>
          </a:prstGeom>
          <a:solidFill>
            <a:schemeClr val="accent2">
              <a:alpha val="28000"/>
            </a:schemeClr>
          </a:solidFill>
          <a:ln/>
          <a:effectLst>
            <a:softEdge rad="228600"/>
          </a:effectLst>
        </p:spPr>
      </p:sp>
      <p:sp>
        <p:nvSpPr>
          <p:cNvPr id="88" name="!!s7_b0"/>
          <p:cNvSpPr/>
          <p:nvPr/>
        </p:nvSpPr>
        <p:spPr>
          <a:xfrm>
            <a:off x="7927848" y="285292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9" name="!!s7_b1"/>
          <p:cNvSpPr/>
          <p:nvPr/>
        </p:nvSpPr>
        <p:spPr>
          <a:xfrm>
            <a:off x="9848088" y="230428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0" name="!!s7_b2"/>
          <p:cNvSpPr/>
          <p:nvPr/>
        </p:nvSpPr>
        <p:spPr>
          <a:xfrm>
            <a:off x="10396728" y="404164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1" name="!!s7_b3"/>
          <p:cNvSpPr/>
          <p:nvPr/>
        </p:nvSpPr>
        <p:spPr>
          <a:xfrm>
            <a:off x="8567928" y="477316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2" name="!!s7_b4"/>
          <p:cNvSpPr/>
          <p:nvPr/>
        </p:nvSpPr>
        <p:spPr>
          <a:xfrm>
            <a:off x="7470648" y="395020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3" name="!!s7_b5"/>
          <p:cNvSpPr/>
          <p:nvPr/>
        </p:nvSpPr>
        <p:spPr>
          <a:xfrm>
            <a:off x="9390888" y="376732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4" name="!!s7_anom"/>
          <p:cNvSpPr/>
          <p:nvPr/>
        </p:nvSpPr>
        <p:spPr>
          <a:xfrm>
            <a:off x="9930384" y="4672584"/>
            <a:ext cx="256032" cy="256032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95" name="!!s7_anomT"/>
          <p:cNvSpPr txBox="1"/>
          <p:nvPr/>
        </p:nvSpPr>
        <p:spPr>
          <a:xfrm>
            <a:off x="103327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ANOMALIA · 03:14</a:t>
            </a:r>
            <a:endParaRPr lang="en-US" sz="1100" dirty="0"/>
          </a:p>
        </p:txBody>
      </p:sp>
      <p:sp>
        <p:nvSpPr>
          <p:cNvPr id="96" name="!!s8_title"/>
          <p:cNvSpPr txBox="1"/>
          <p:nvPr/>
        </p:nvSpPr>
        <p:spPr>
          <a:xfrm>
            <a:off x="133502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łata luki, zanim ktoś je znajdzie</a:t>
            </a:r>
            <a:endParaRPr lang="en-US" sz="3600" dirty="0"/>
          </a:p>
        </p:txBody>
      </p:sp>
      <p:sp>
        <p:nvSpPr>
          <p:cNvPr id="97" name="!!s8_c0"/>
          <p:cNvSpPr/>
          <p:nvPr/>
        </p:nvSpPr>
        <p:spPr>
          <a:xfrm>
            <a:off x="16184880" y="1783080"/>
            <a:ext cx="1280160" cy="128016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98" name="!!s8_ci0" descr="ZNAJDŹ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3208" y="2121408"/>
            <a:ext cx="603504" cy="603504"/>
          </a:xfrm>
          <a:prstGeom prst="rect">
            <a:avLst/>
          </a:prstGeom>
        </p:spPr>
      </p:pic>
      <p:sp>
        <p:nvSpPr>
          <p:cNvPr id="99" name="!!s8_ch0"/>
          <p:cNvSpPr txBox="1"/>
          <p:nvPr/>
        </p:nvSpPr>
        <p:spPr>
          <a:xfrm>
            <a:off x="151790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ZNAJDŹ</a:t>
            </a:r>
            <a:endParaRPr lang="en-US" sz="1800" dirty="0"/>
          </a:p>
        </p:txBody>
      </p:sp>
      <p:sp>
        <p:nvSpPr>
          <p:cNvPr id="100" name="!!s8_cd0"/>
          <p:cNvSpPr txBox="1"/>
          <p:nvPr/>
        </p:nvSpPr>
        <p:spPr>
          <a:xfrm>
            <a:off x="1517904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przeszukuje kod szybciej niż cały zespół testerów.</a:t>
            </a:r>
            <a:endParaRPr lang="en-US" sz="1400" dirty="0"/>
          </a:p>
        </p:txBody>
      </p:sp>
      <p:sp>
        <p:nvSpPr>
          <p:cNvPr id="101" name="!!s8_ar0"/>
          <p:cNvSpPr/>
          <p:nvPr/>
        </p:nvSpPr>
        <p:spPr>
          <a:xfrm>
            <a:off x="17693640" y="2423160"/>
            <a:ext cx="2167128" cy="0"/>
          </a:xfrm>
          <a:prstGeom prst="line">
            <a:avLst/>
          </a:prstGeom>
          <a:noFill/>
          <a:ln w="15875">
            <a:solidFill>
              <a:schemeClr val="accent2">
                <a:alpha val="70000"/>
              </a:schemeClr>
            </a:solidFill>
            <a:prstDash val="dash"/>
            <a:tailEnd type="triangle"/>
          </a:ln>
        </p:spPr>
      </p:sp>
      <p:sp>
        <p:nvSpPr>
          <p:cNvPr id="102" name="!!s8_c1"/>
          <p:cNvSpPr/>
          <p:nvPr/>
        </p:nvSpPr>
        <p:spPr>
          <a:xfrm>
            <a:off x="22832568" y="1783080"/>
            <a:ext cx="1280160" cy="128016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3" name="!!s8_ci1" descr="NAPRA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70896" y="2121408"/>
            <a:ext cx="603504" cy="603504"/>
          </a:xfrm>
          <a:prstGeom prst="rect">
            <a:avLst/>
          </a:prstGeom>
        </p:spPr>
      </p:pic>
      <p:sp>
        <p:nvSpPr>
          <p:cNvPr id="104" name="!!s8_ch1"/>
          <p:cNvSpPr txBox="1"/>
          <p:nvPr/>
        </p:nvSpPr>
        <p:spPr>
          <a:xfrm>
            <a:off x="21826728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NAPRAW</a:t>
            </a:r>
            <a:endParaRPr lang="en-US" sz="1800" dirty="0"/>
          </a:p>
        </p:txBody>
      </p:sp>
      <p:sp>
        <p:nvSpPr>
          <p:cNvPr id="105" name="!!s8_cd1"/>
          <p:cNvSpPr txBox="1"/>
          <p:nvPr/>
        </p:nvSpPr>
        <p:spPr>
          <a:xfrm>
            <a:off x="21826728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Proponuje poprawkę i sprawdza, czy niczego nie psuje.</a:t>
            </a:r>
            <a:endParaRPr lang="en-US" sz="1400" dirty="0"/>
          </a:p>
        </p:txBody>
      </p:sp>
      <p:sp>
        <p:nvSpPr>
          <p:cNvPr id="106" name="!!s8_ar1"/>
          <p:cNvSpPr/>
          <p:nvPr/>
        </p:nvSpPr>
        <p:spPr>
          <a:xfrm>
            <a:off x="24341328" y="2423160"/>
            <a:ext cx="2167128" cy="0"/>
          </a:xfrm>
          <a:prstGeom prst="line">
            <a:avLst/>
          </a:prstGeom>
          <a:noFill/>
          <a:ln w="15875">
            <a:solidFill>
              <a:schemeClr val="accent2">
                <a:alpha val="70000"/>
              </a:schemeClr>
            </a:solidFill>
            <a:prstDash val="dash"/>
            <a:tailEnd type="triangle"/>
          </a:ln>
        </p:spPr>
      </p:sp>
      <p:sp>
        <p:nvSpPr>
          <p:cNvPr id="107" name="!!s8_c2"/>
          <p:cNvSpPr/>
          <p:nvPr/>
        </p:nvSpPr>
        <p:spPr>
          <a:xfrm>
            <a:off x="29480256" y="1783080"/>
            <a:ext cx="1280160" cy="128016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8" name="!!s8_ci2" descr="ZABEZPIECZ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18584" y="2121408"/>
            <a:ext cx="603504" cy="603504"/>
          </a:xfrm>
          <a:prstGeom prst="rect">
            <a:avLst/>
          </a:prstGeom>
        </p:spPr>
      </p:pic>
      <p:sp>
        <p:nvSpPr>
          <p:cNvPr id="109" name="!!s8_ch2"/>
          <p:cNvSpPr txBox="1"/>
          <p:nvPr/>
        </p:nvSpPr>
        <p:spPr>
          <a:xfrm>
            <a:off x="28474416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ZABEZPIECZ</a:t>
            </a:r>
            <a:endParaRPr lang="en-US" sz="1800" dirty="0"/>
          </a:p>
        </p:txBody>
      </p:sp>
      <p:sp>
        <p:nvSpPr>
          <p:cNvPr id="110" name="!!s8_cd2"/>
          <p:cNvSpPr txBox="1"/>
          <p:nvPr/>
        </p:nvSpPr>
        <p:spPr>
          <a:xfrm>
            <a:off x="28474416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Luka znika, zanim przestępcy w ogóle się o niej dowiedzą.</a:t>
            </a:r>
            <a:endParaRPr lang="en-US" sz="1400" dirty="0"/>
          </a:p>
        </p:txBody>
      </p:sp>
      <p:sp>
        <p:nvSpPr>
          <p:cNvPr id="111" name="!!s8_k0"/>
          <p:cNvSpPr/>
          <p:nvPr/>
        </p:nvSpPr>
        <p:spPr>
          <a:xfrm>
            <a:off x="20665440" y="4617720"/>
            <a:ext cx="5440680" cy="1325880"/>
          </a:xfrm>
          <a:prstGeom prst="rect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112" name="!!s8_kh0"/>
          <p:cNvSpPr txBox="1"/>
          <p:nvPr/>
        </p:nvSpPr>
        <p:spPr>
          <a:xfrm>
            <a:off x="20894040" y="4754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BIG SLEEP · 2024</a:t>
            </a:r>
            <a:endParaRPr lang="en-US" sz="1200" dirty="0"/>
          </a:p>
        </p:txBody>
      </p:sp>
      <p:sp>
        <p:nvSpPr>
          <p:cNvPr id="113" name="!!s8_kd0"/>
          <p:cNvSpPr txBox="1"/>
          <p:nvPr/>
        </p:nvSpPr>
        <p:spPr>
          <a:xfrm>
            <a:off x="20894040" y="5074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Agent AI znalazł groźną, nieznaną lukę w popularnej bazie danych SQLite — zanim trafiła do użytkowników.</a:t>
            </a:r>
            <a:endParaRPr lang="en-US" sz="1400" dirty="0"/>
          </a:p>
        </p:txBody>
      </p:sp>
      <p:sp>
        <p:nvSpPr>
          <p:cNvPr id="114" name="!!s8_k1"/>
          <p:cNvSpPr/>
          <p:nvPr/>
        </p:nvSpPr>
        <p:spPr>
          <a:xfrm>
            <a:off x="29050488" y="4617720"/>
            <a:ext cx="5440680" cy="1325880"/>
          </a:xfrm>
          <a:prstGeom prst="rect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115" name="!!s8_kh1"/>
          <p:cNvSpPr txBox="1"/>
          <p:nvPr/>
        </p:nvSpPr>
        <p:spPr>
          <a:xfrm>
            <a:off x="29279088" y="4754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DARPA AIxCC · 2025</a:t>
            </a:r>
            <a:endParaRPr lang="en-US" sz="1200" dirty="0"/>
          </a:p>
        </p:txBody>
      </p:sp>
      <p:sp>
        <p:nvSpPr>
          <p:cNvPr id="116" name="!!s8_kd1"/>
          <p:cNvSpPr txBox="1"/>
          <p:nvPr/>
        </p:nvSpPr>
        <p:spPr>
          <a:xfrm>
            <a:off x="29279088" y="5074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 finale konkursu systemy AI samodzielnie wykrywały i łatały luki w otwartym oprogramowaniu.</a:t>
            </a:r>
            <a:endParaRPr lang="en-US" sz="1400" dirty="0"/>
          </a:p>
        </p:txBody>
      </p:sp>
      <p:sp>
        <p:nvSpPr>
          <p:cNvPr id="117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OBROŃCY</a:t>
            </a:r>
            <a:endParaRPr lang="en-US" sz="1100" dirty="0"/>
          </a:p>
        </p:txBody>
      </p:sp>
      <p:sp>
        <p:nvSpPr>
          <p:cNvPr id="118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2</a:t>
            </a:r>
            <a:endParaRPr lang="en-US" sz="1100" dirty="0"/>
          </a:p>
        </p:txBody>
      </p:sp>
      <p:sp>
        <p:nvSpPr>
          <p:cNvPr id="119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0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1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2" name="!!tick2"/>
          <p:cNvSpPr/>
          <p:nvPr/>
        </p:nvSpPr>
        <p:spPr>
          <a:xfrm>
            <a:off x="98755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3" name="!!tick3"/>
          <p:cNvSpPr/>
          <p:nvPr/>
        </p:nvSpPr>
        <p:spPr>
          <a:xfrm>
            <a:off x="120700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4" name="!!tick4"/>
          <p:cNvSpPr/>
          <p:nvPr/>
        </p:nvSpPr>
        <p:spPr>
          <a:xfrm>
            <a:off x="1426464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5" name="!!tick5"/>
          <p:cNvSpPr/>
          <p:nvPr/>
        </p:nvSpPr>
        <p:spPr>
          <a:xfrm>
            <a:off x="164592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26" name="!!tick6"/>
          <p:cNvSpPr/>
          <p:nvPr/>
        </p:nvSpPr>
        <p:spPr>
          <a:xfrm>
            <a:off x="1865376" y="6400800"/>
            <a:ext cx="45720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7" name="!!tick7"/>
          <p:cNvSpPr/>
          <p:nvPr/>
        </p:nvSpPr>
        <p:spPr>
          <a:xfrm>
            <a:off x="2395728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8" name="!!tick8"/>
          <p:cNvSpPr/>
          <p:nvPr/>
        </p:nvSpPr>
        <p:spPr>
          <a:xfrm>
            <a:off x="261518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9" name="!!tick9"/>
          <p:cNvSpPr/>
          <p:nvPr/>
        </p:nvSpPr>
        <p:spPr>
          <a:xfrm>
            <a:off x="283464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30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31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32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131872" y="-4466844"/>
            <a:ext cx="26822735" cy="1508760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5365776" y="4012470"/>
            <a:ext cx="169902" cy="169902"/>
          </a:xfrm>
          <a:prstGeom prst="ellipse">
            <a:avLst/>
          </a:prstGeom>
          <a:solidFill>
            <a:schemeClr val="accent2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7815277" y="2594121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8372163" y="-1222178"/>
            <a:ext cx="156834" cy="156834"/>
          </a:xfrm>
          <a:prstGeom prst="ellipse">
            <a:avLst/>
          </a:prstGeom>
          <a:solidFill>
            <a:schemeClr val="accent2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5159329" y="-1616491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2571459" y="6284210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1341493" y="8981450"/>
            <a:ext cx="647199" cy="647199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2192493" y="3680551"/>
            <a:ext cx="202991" cy="202991"/>
          </a:xfrm>
          <a:prstGeom prst="ellipse">
            <a:avLst/>
          </a:prstGeom>
          <a:solidFill>
            <a:schemeClr val="accent2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-4122078" y="-3200079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-5977393" y="2934541"/>
            <a:ext cx="167859" cy="167859"/>
          </a:xfrm>
          <a:prstGeom prst="ellipse">
            <a:avLst/>
          </a:prstGeom>
          <a:solidFill>
            <a:schemeClr val="accent2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-924692" y="4468950"/>
            <a:ext cx="1087278" cy="108727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13316056" y="5813174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-2235591" y="7276900"/>
            <a:ext cx="139775" cy="139775"/>
          </a:xfrm>
          <a:prstGeom prst="ellipse">
            <a:avLst/>
          </a:prstGeom>
          <a:solidFill>
            <a:schemeClr val="accent2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11640202" y="1199973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-3255044" y="7825665"/>
            <a:ext cx="218591" cy="218591"/>
          </a:xfrm>
          <a:prstGeom prst="ellipse">
            <a:avLst/>
          </a:prstGeom>
          <a:solidFill>
            <a:schemeClr val="accent2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13755368" y="7744463"/>
            <a:ext cx="140841" cy="140841"/>
          </a:xfrm>
          <a:prstGeom prst="ellipse">
            <a:avLst/>
          </a:prstGeom>
          <a:solidFill>
            <a:schemeClr val="accent2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2214671" y="3725867"/>
            <a:ext cx="786257" cy="786257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14439021" y="8560543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12365140" y="4728744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11691462" y="4571364"/>
            <a:ext cx="1079414" cy="1079414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8165757" y="4503233"/>
            <a:ext cx="228948" cy="228948"/>
          </a:xfrm>
          <a:prstGeom prst="ellipse">
            <a:avLst/>
          </a:prstGeom>
          <a:solidFill>
            <a:schemeClr val="accent2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5161804" y="-601204"/>
            <a:ext cx="191645" cy="191645"/>
          </a:xfrm>
          <a:prstGeom prst="ellipse">
            <a:avLst/>
          </a:prstGeom>
          <a:solidFill>
            <a:schemeClr val="accent2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73079" y="-738235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-1922184" y="7054438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906542" y="2707452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1096971" y="4611520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15818455" y="-1483893"/>
            <a:ext cx="227967" cy="227967"/>
          </a:xfrm>
          <a:prstGeom prst="ellipse">
            <a:avLst/>
          </a:prstGeom>
          <a:solidFill>
            <a:schemeClr val="accent2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12960173" y="-2453585"/>
            <a:ext cx="156456" cy="156456"/>
          </a:xfrm>
          <a:prstGeom prst="ellipse">
            <a:avLst/>
          </a:prstGeom>
          <a:solidFill>
            <a:schemeClr val="accent2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-669621" y="968949"/>
            <a:ext cx="156446" cy="156446"/>
          </a:xfrm>
          <a:prstGeom prst="ellipse">
            <a:avLst/>
          </a:prstGeom>
          <a:solidFill>
            <a:schemeClr val="accent2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-2779489" y="-576601"/>
            <a:ext cx="236050" cy="236050"/>
          </a:xfrm>
          <a:prstGeom prst="ellipse">
            <a:avLst/>
          </a:prstGeom>
          <a:solidFill>
            <a:schemeClr val="accent2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15403861" y="-1695388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6521586" y="4798089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13929008" y="5698105"/>
            <a:ext cx="595298" cy="59529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15645400" y="4735778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-3622590" y="5982671"/>
            <a:ext cx="204820" cy="204820"/>
          </a:xfrm>
          <a:prstGeom prst="ellipse">
            <a:avLst/>
          </a:prstGeom>
          <a:solidFill>
            <a:schemeClr val="accent2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12794419" y="3951224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13359240" y="3238708"/>
            <a:ext cx="171070" cy="171070"/>
          </a:xfrm>
          <a:prstGeom prst="ellipse">
            <a:avLst/>
          </a:prstGeom>
          <a:solidFill>
            <a:schemeClr val="accent2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11708023" y="2222345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231707" y="-1965278"/>
            <a:ext cx="152405" cy="152405"/>
          </a:xfrm>
          <a:prstGeom prst="ellipse">
            <a:avLst/>
          </a:prstGeom>
          <a:solidFill>
            <a:schemeClr val="accent2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5822007" y="4080419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3544385" y="-2185009"/>
            <a:ext cx="107954" cy="107954"/>
          </a:xfrm>
          <a:prstGeom prst="ellipse">
            <a:avLst/>
          </a:prstGeom>
          <a:solidFill>
            <a:schemeClr val="accent2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8635129" y="8066259"/>
            <a:ext cx="116916" cy="116916"/>
          </a:xfrm>
          <a:prstGeom prst="ellipse">
            <a:avLst/>
          </a:prstGeom>
          <a:solidFill>
            <a:schemeClr val="accent2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1300210" y="3094245"/>
            <a:ext cx="238576" cy="238576"/>
          </a:xfrm>
          <a:prstGeom prst="ellipse">
            <a:avLst/>
          </a:prstGeom>
          <a:solidFill>
            <a:schemeClr val="accent2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-1626837" y="1441231"/>
            <a:ext cx="231782" cy="231782"/>
          </a:xfrm>
          <a:prstGeom prst="ellipse">
            <a:avLst/>
          </a:prstGeom>
          <a:solidFill>
            <a:schemeClr val="accent2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12778809" y="5791502"/>
            <a:ext cx="559428" cy="55942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5579328" y="4255668"/>
            <a:ext cx="158543" cy="158543"/>
          </a:xfrm>
          <a:prstGeom prst="ellipse">
            <a:avLst/>
          </a:prstGeom>
          <a:solidFill>
            <a:schemeClr val="accent2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-5481588" y="5322162"/>
            <a:ext cx="205010" cy="205010"/>
          </a:xfrm>
          <a:prstGeom prst="ellipse">
            <a:avLst/>
          </a:prstGeom>
          <a:solidFill>
            <a:schemeClr val="accent2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11893237" y="8079124"/>
            <a:ext cx="171511" cy="171511"/>
          </a:xfrm>
          <a:prstGeom prst="ellipse">
            <a:avLst/>
          </a:prstGeom>
          <a:solidFill>
            <a:schemeClr val="accent2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6671511" y="3492901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-3979441" y="5600143"/>
            <a:ext cx="160209" cy="160209"/>
          </a:xfrm>
          <a:prstGeom prst="ellipse">
            <a:avLst/>
          </a:prstGeom>
          <a:solidFill>
            <a:schemeClr val="accent2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-1905940" y="5918729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13295390" y="-1353977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-3846049" y="900214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bOrb" descr="Rdzeń AI obrońców">    </p:cNvPr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2002536" y="4681728"/>
            <a:ext cx="8193024" cy="8193024"/>
          </a:xfrm>
          <a:prstGeom prst="rect">
            <a:avLst/>
          </a:prstGeom>
        </p:spPr>
      </p:pic>
      <p:pic>
        <p:nvPicPr>
          <p:cNvPr id="58" name="!!aOrb" descr="Rdzeń AI atakujących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-3931920" y="2011680"/>
            <a:ext cx="1463040" cy="1463040"/>
          </a:xfrm>
          <a:prstGeom prst="rect">
            <a:avLst/>
          </a:prstGeom>
        </p:spPr>
      </p:pic>
      <p:sp>
        <p:nvSpPr>
          <p:cNvPr id="59" name="!!ring1"/>
          <p:cNvSpPr/>
          <p:nvPr/>
        </p:nvSpPr>
        <p:spPr>
          <a:xfrm rot="13200000">
            <a:off x="2075688" y="4754880"/>
            <a:ext cx="8046720" cy="804672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0" name="!!ring2"/>
          <p:cNvSpPr/>
          <p:nvPr/>
        </p:nvSpPr>
        <p:spPr>
          <a:xfrm rot="6600000">
            <a:off x="1512418" y="4191610"/>
            <a:ext cx="9173261" cy="9173261"/>
          </a:xfrm>
          <a:prstGeom prst="ellipse">
            <a:avLst/>
          </a:prstGeom>
          <a:noFill/>
          <a:ln w="9525">
            <a:solidFill>
              <a:schemeClr val="bg1">
                <a:alpha val="5000"/>
              </a:schemeClr>
            </a:solidFill>
            <a:prstDash val="dash"/>
          </a:ln>
        </p:spPr>
      </p:sp>
      <p:sp>
        <p:nvSpPr>
          <p:cNvPr id="61" name="!!ring3"/>
          <p:cNvSpPr/>
          <p:nvPr/>
        </p:nvSpPr>
        <p:spPr>
          <a:xfrm rot="7800000">
            <a:off x="2558491" y="5237683"/>
            <a:ext cx="7081114" cy="7081114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62" name="!!flare"/>
          <p:cNvSpPr/>
          <p:nvPr/>
        </p:nvSpPr>
        <p:spPr>
          <a:xfrm>
            <a:off x="3813048" y="6537960"/>
            <a:ext cx="4572000" cy="9144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  <a:effectLst>
            <a:softEdge rad="36576"/>
          </a:effectLst>
        </p:spPr>
      </p:sp>
      <p:sp>
        <p:nvSpPr>
          <p:cNvPr id="63" name="!!bigword"/>
          <p:cNvSpPr txBox="1"/>
          <p:nvPr/>
        </p:nvSpPr>
        <p:spPr>
          <a:xfrm>
            <a:off x="-2377440" y="4480560"/>
            <a:ext cx="1645920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chemeClr val="accent2">
                    <a:alpha val="6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OBROŃCY</a:t>
            </a:r>
            <a:endParaRPr lang="en-US" sz="20000" dirty="0"/>
          </a:p>
        </p:txBody>
      </p:sp>
      <p:sp>
        <p:nvSpPr>
          <p:cNvPr id="64" name="!!s7_title"/>
          <p:cNvSpPr txBox="1"/>
          <p:nvPr/>
        </p:nvSpPr>
        <p:spPr>
          <a:xfrm>
            <a:off x="-1225296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SOC, który nie śpi</a:t>
            </a:r>
            <a:endParaRPr lang="en-US" sz="3600" dirty="0"/>
          </a:p>
        </p:txBody>
      </p:sp>
      <p:sp>
        <p:nvSpPr>
          <p:cNvPr id="65" name="!!s7_p1n"/>
          <p:cNvSpPr txBox="1"/>
          <p:nvPr/>
        </p:nvSpPr>
        <p:spPr>
          <a:xfrm>
            <a:off x="-14081760" y="1682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66" name="!!s7_p1h"/>
          <p:cNvSpPr txBox="1"/>
          <p:nvPr/>
        </p:nvSpPr>
        <p:spPr>
          <a:xfrm>
            <a:off x="-1353312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Widzi wszystko naraz</a:t>
            </a:r>
            <a:endParaRPr lang="en-US" sz="1800" dirty="0"/>
          </a:p>
        </p:txBody>
      </p:sp>
      <p:sp>
        <p:nvSpPr>
          <p:cNvPr id="67" name="!!s7_p1d"/>
          <p:cNvSpPr txBox="1"/>
          <p:nvPr/>
        </p:nvSpPr>
        <p:spPr>
          <a:xfrm>
            <a:off x="-13533120" y="20299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Analizuje miliardy zdarzeń z sieci, chmury i urządzeń.</a:t>
            </a:r>
            <a:endParaRPr lang="en-US" sz="1400" dirty="0"/>
          </a:p>
        </p:txBody>
      </p:sp>
      <p:sp>
        <p:nvSpPr>
          <p:cNvPr id="68" name="!!s7_p2n"/>
          <p:cNvSpPr txBox="1"/>
          <p:nvPr/>
        </p:nvSpPr>
        <p:spPr>
          <a:xfrm>
            <a:off x="-15910560" y="2642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69" name="!!s7_p2h"/>
          <p:cNvSpPr txBox="1"/>
          <p:nvPr/>
        </p:nvSpPr>
        <p:spPr>
          <a:xfrm>
            <a:off x="-1536192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Wyłapuje anomalie</a:t>
            </a:r>
            <a:endParaRPr lang="en-US" sz="1800" dirty="0"/>
          </a:p>
        </p:txBody>
      </p:sp>
      <p:sp>
        <p:nvSpPr>
          <p:cNvPr id="70" name="!!s7_p2d"/>
          <p:cNvSpPr txBox="1"/>
          <p:nvPr/>
        </p:nvSpPr>
        <p:spPr>
          <a:xfrm>
            <a:off x="-15361920" y="2990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Uczy się, jak wygląda „normalność”, i alarmuje przy odchyleniach.</a:t>
            </a:r>
            <a:endParaRPr lang="en-US" sz="1400" dirty="0"/>
          </a:p>
        </p:txBody>
      </p:sp>
      <p:sp>
        <p:nvSpPr>
          <p:cNvPr id="71" name="!!s7_p3n"/>
          <p:cNvSpPr txBox="1"/>
          <p:nvPr/>
        </p:nvSpPr>
        <p:spPr>
          <a:xfrm>
            <a:off x="-17739360" y="3602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72" name="!!s7_p3h"/>
          <p:cNvSpPr txBox="1"/>
          <p:nvPr/>
        </p:nvSpPr>
        <p:spPr>
          <a:xfrm>
            <a:off x="-1719072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Reaguje w sekundy</a:t>
            </a:r>
            <a:endParaRPr lang="en-US" sz="1800" dirty="0"/>
          </a:p>
        </p:txBody>
      </p:sp>
      <p:sp>
        <p:nvSpPr>
          <p:cNvPr id="73" name="!!s7_p3d"/>
          <p:cNvSpPr txBox="1"/>
          <p:nvPr/>
        </p:nvSpPr>
        <p:spPr>
          <a:xfrm>
            <a:off x="-17190720" y="39502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Sam odcina zainfekowany komputer, zanim atak się rozleje.</a:t>
            </a:r>
            <a:endParaRPr lang="en-US" sz="1400" dirty="0"/>
          </a:p>
        </p:txBody>
      </p:sp>
      <p:sp>
        <p:nvSpPr>
          <p:cNvPr id="74" name="!!s7_s1"/>
          <p:cNvSpPr txBox="1"/>
          <p:nvPr/>
        </p:nvSpPr>
        <p:spPr>
          <a:xfrm>
            <a:off x="-19568160" y="4617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2,2 mln $</a:t>
            </a:r>
            <a:endParaRPr lang="en-US" sz="3000" dirty="0"/>
          </a:p>
        </p:txBody>
      </p:sp>
      <p:sp>
        <p:nvSpPr>
          <p:cNvPr id="75" name="!!s7_s1d"/>
          <p:cNvSpPr txBox="1"/>
          <p:nvPr/>
        </p:nvSpPr>
        <p:spPr>
          <a:xfrm>
            <a:off x="-19568160" y="51937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niższy średni koszt wycieku przy szerokim użyciu AI i automatyzacji (IBM, 2024)</a:t>
            </a:r>
            <a:endParaRPr lang="en-US" sz="1200" dirty="0"/>
          </a:p>
        </p:txBody>
      </p:sp>
      <p:sp>
        <p:nvSpPr>
          <p:cNvPr id="76" name="!!s7_s2"/>
          <p:cNvSpPr txBox="1"/>
          <p:nvPr/>
        </p:nvSpPr>
        <p:spPr>
          <a:xfrm>
            <a:off x="-18470880" y="4617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~100 dni</a:t>
            </a:r>
            <a:endParaRPr lang="en-US" sz="3000" dirty="0"/>
          </a:p>
        </p:txBody>
      </p:sp>
      <p:sp>
        <p:nvSpPr>
          <p:cNvPr id="77" name="!!s7_s2d"/>
          <p:cNvSpPr txBox="1"/>
          <p:nvPr/>
        </p:nvSpPr>
        <p:spPr>
          <a:xfrm>
            <a:off x="-18470880" y="51937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szybciej wykryty i opanowany incydent (IBM, 2024)</a:t>
            </a:r>
            <a:endParaRPr lang="en-US" sz="1200" dirty="0"/>
          </a:p>
        </p:txBody>
      </p:sp>
      <p:sp>
        <p:nvSpPr>
          <p:cNvPr id="78" name="!!s7_rc0"/>
          <p:cNvSpPr/>
          <p:nvPr/>
        </p:nvSpPr>
        <p:spPr>
          <a:xfrm>
            <a:off x="-11201400" y="1645920"/>
            <a:ext cx="4023360" cy="4023360"/>
          </a:xfrm>
          <a:prstGeom prst="ellipse">
            <a:avLst/>
          </a:prstGeom>
          <a:noFill/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79" name="!!s7_rc1"/>
          <p:cNvSpPr/>
          <p:nvPr/>
        </p:nvSpPr>
        <p:spPr>
          <a:xfrm>
            <a:off x="-10517429" y="2329891"/>
            <a:ext cx="2655418" cy="2655418"/>
          </a:xfrm>
          <a:prstGeom prst="ellipse">
            <a:avLst/>
          </a:prstGeom>
          <a:noFill/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80" name="!!s7_rc2"/>
          <p:cNvSpPr/>
          <p:nvPr/>
        </p:nvSpPr>
        <p:spPr>
          <a:xfrm>
            <a:off x="-9853574" y="2993746"/>
            <a:ext cx="1327709" cy="1327709"/>
          </a:xfrm>
          <a:prstGeom prst="ellipse">
            <a:avLst/>
          </a:prstGeom>
          <a:noFill/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81" name="!!s7_rx"/>
          <p:cNvSpPr/>
          <p:nvPr/>
        </p:nvSpPr>
        <p:spPr>
          <a:xfrm>
            <a:off x="-11201400" y="3657600"/>
            <a:ext cx="4023360" cy="0"/>
          </a:xfrm>
          <a:prstGeom prst="line">
            <a:avLst/>
          </a:prstGeom>
          <a:noFill/>
          <a:ln w="9525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82" name="!!s7_ry"/>
          <p:cNvSpPr/>
          <p:nvPr/>
        </p:nvSpPr>
        <p:spPr>
          <a:xfrm>
            <a:off x="-9189720" y="1645920"/>
            <a:ext cx="0" cy="4023360"/>
          </a:xfrm>
          <a:prstGeom prst="line">
            <a:avLst/>
          </a:prstGeom>
          <a:noFill/>
          <a:ln w="9525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83" name="!!s7_sweep"/>
          <p:cNvSpPr/>
          <p:nvPr/>
        </p:nvSpPr>
        <p:spPr>
          <a:xfrm rot="12000000">
            <a:off x="-11201400" y="1645920"/>
            <a:ext cx="4023360" cy="4023360"/>
          </a:xfrm>
          <a:prstGeom prst="pie">
            <a:avLst>
              <a:gd name="adj1" fmla="val 18000000"/>
              <a:gd name="adj2" fmla="val 0"/>
            </a:avLst>
          </a:prstGeom>
          <a:solidFill>
            <a:schemeClr val="accent2">
              <a:alpha val="28000"/>
            </a:schemeClr>
          </a:solidFill>
          <a:ln/>
          <a:effectLst>
            <a:softEdge rad="228600"/>
          </a:effectLst>
        </p:spPr>
      </p:sp>
      <p:sp>
        <p:nvSpPr>
          <p:cNvPr id="84" name="!!s7_b0"/>
          <p:cNvSpPr/>
          <p:nvPr/>
        </p:nvSpPr>
        <p:spPr>
          <a:xfrm>
            <a:off x="-10360152" y="285292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5" name="!!s7_b1"/>
          <p:cNvSpPr/>
          <p:nvPr/>
        </p:nvSpPr>
        <p:spPr>
          <a:xfrm>
            <a:off x="-8439912" y="230428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6" name="!!s7_b2"/>
          <p:cNvSpPr/>
          <p:nvPr/>
        </p:nvSpPr>
        <p:spPr>
          <a:xfrm>
            <a:off x="-7891272" y="404164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7" name="!!s7_b3"/>
          <p:cNvSpPr/>
          <p:nvPr/>
        </p:nvSpPr>
        <p:spPr>
          <a:xfrm>
            <a:off x="-9720072" y="477316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8" name="!!s7_b4"/>
          <p:cNvSpPr/>
          <p:nvPr/>
        </p:nvSpPr>
        <p:spPr>
          <a:xfrm>
            <a:off x="-10817352" y="395020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9" name="!!s7_b5"/>
          <p:cNvSpPr/>
          <p:nvPr/>
        </p:nvSpPr>
        <p:spPr>
          <a:xfrm>
            <a:off x="-8897112" y="376732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0" name="!!s7_anom"/>
          <p:cNvSpPr/>
          <p:nvPr/>
        </p:nvSpPr>
        <p:spPr>
          <a:xfrm>
            <a:off x="-8357616" y="4672584"/>
            <a:ext cx="256032" cy="256032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91" name="!!s7_anomT"/>
          <p:cNvSpPr txBox="1"/>
          <p:nvPr/>
        </p:nvSpPr>
        <p:spPr>
          <a:xfrm>
            <a:off x="-795528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ANOMALIA · 03:14</a:t>
            </a:r>
            <a:endParaRPr lang="en-US" sz="1100" dirty="0"/>
          </a:p>
        </p:txBody>
      </p:sp>
      <p:sp>
        <p:nvSpPr>
          <p:cNvPr id="92" name="!!s8_title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łata luki, zanim ktoś je znajdzie</a:t>
            </a:r>
            <a:endParaRPr lang="en-US" sz="3600" dirty="0"/>
          </a:p>
        </p:txBody>
      </p:sp>
      <p:sp>
        <p:nvSpPr>
          <p:cNvPr id="93" name="!!s8_c0"/>
          <p:cNvSpPr/>
          <p:nvPr/>
        </p:nvSpPr>
        <p:spPr>
          <a:xfrm>
            <a:off x="1554480" y="1783080"/>
            <a:ext cx="1280160" cy="128016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94" name="!!s8_ci0" descr="ZNAJDŹ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2808" y="2121408"/>
            <a:ext cx="603504" cy="603504"/>
          </a:xfrm>
          <a:prstGeom prst="rect">
            <a:avLst/>
          </a:prstGeom>
        </p:spPr>
      </p:pic>
      <p:sp>
        <p:nvSpPr>
          <p:cNvPr id="95" name="!!s8_ch0"/>
          <p:cNvSpPr txBox="1"/>
          <p:nvPr/>
        </p:nvSpPr>
        <p:spPr>
          <a:xfrm>
            <a:off x="5486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ZNAJDŹ</a:t>
            </a:r>
            <a:endParaRPr lang="en-US" sz="1800" dirty="0"/>
          </a:p>
        </p:txBody>
      </p:sp>
      <p:sp>
        <p:nvSpPr>
          <p:cNvPr id="96" name="!!s8_cd0"/>
          <p:cNvSpPr txBox="1"/>
          <p:nvPr/>
        </p:nvSpPr>
        <p:spPr>
          <a:xfrm>
            <a:off x="54864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przeszukuje kod szybciej niż cały zespół testerów.</a:t>
            </a:r>
            <a:endParaRPr lang="en-US" sz="1400" dirty="0"/>
          </a:p>
        </p:txBody>
      </p:sp>
      <p:sp>
        <p:nvSpPr>
          <p:cNvPr id="97" name="!!s8_ar0"/>
          <p:cNvSpPr/>
          <p:nvPr/>
        </p:nvSpPr>
        <p:spPr>
          <a:xfrm>
            <a:off x="3063240" y="2423160"/>
            <a:ext cx="2167128" cy="0"/>
          </a:xfrm>
          <a:prstGeom prst="line">
            <a:avLst/>
          </a:prstGeom>
          <a:noFill/>
          <a:ln w="15875">
            <a:solidFill>
              <a:schemeClr val="accent2">
                <a:alpha val="70000"/>
              </a:schemeClr>
            </a:solidFill>
            <a:prstDash val="dash"/>
            <a:tailEnd type="triangle"/>
          </a:ln>
        </p:spPr>
      </p:sp>
      <p:sp>
        <p:nvSpPr>
          <p:cNvPr id="98" name="!!s8_c1"/>
          <p:cNvSpPr/>
          <p:nvPr/>
        </p:nvSpPr>
        <p:spPr>
          <a:xfrm>
            <a:off x="5458968" y="1783080"/>
            <a:ext cx="1280160" cy="128016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99" name="!!s8_ci1" descr="NAPRA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7296" y="2121408"/>
            <a:ext cx="603504" cy="603504"/>
          </a:xfrm>
          <a:prstGeom prst="rect">
            <a:avLst/>
          </a:prstGeom>
        </p:spPr>
      </p:pic>
      <p:sp>
        <p:nvSpPr>
          <p:cNvPr id="100" name="!!s8_ch1"/>
          <p:cNvSpPr txBox="1"/>
          <p:nvPr/>
        </p:nvSpPr>
        <p:spPr>
          <a:xfrm>
            <a:off x="4453128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NAPRAW</a:t>
            </a:r>
            <a:endParaRPr lang="en-US" sz="1800" dirty="0"/>
          </a:p>
        </p:txBody>
      </p:sp>
      <p:sp>
        <p:nvSpPr>
          <p:cNvPr id="101" name="!!s8_cd1"/>
          <p:cNvSpPr txBox="1"/>
          <p:nvPr/>
        </p:nvSpPr>
        <p:spPr>
          <a:xfrm>
            <a:off x="4453128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Proponuje poprawkę i sprawdza, czy niczego nie psuje.</a:t>
            </a:r>
            <a:endParaRPr lang="en-US" sz="1400" dirty="0"/>
          </a:p>
        </p:txBody>
      </p:sp>
      <p:sp>
        <p:nvSpPr>
          <p:cNvPr id="102" name="!!s8_ar1"/>
          <p:cNvSpPr/>
          <p:nvPr/>
        </p:nvSpPr>
        <p:spPr>
          <a:xfrm>
            <a:off x="6967728" y="2423160"/>
            <a:ext cx="2167128" cy="0"/>
          </a:xfrm>
          <a:prstGeom prst="line">
            <a:avLst/>
          </a:prstGeom>
          <a:noFill/>
          <a:ln w="15875">
            <a:solidFill>
              <a:schemeClr val="accent2">
                <a:alpha val="70000"/>
              </a:schemeClr>
            </a:solidFill>
            <a:prstDash val="dash"/>
            <a:tailEnd type="triangle"/>
          </a:ln>
        </p:spPr>
      </p:sp>
      <p:sp>
        <p:nvSpPr>
          <p:cNvPr id="103" name="!!s8_c2"/>
          <p:cNvSpPr/>
          <p:nvPr/>
        </p:nvSpPr>
        <p:spPr>
          <a:xfrm>
            <a:off x="9363456" y="1783080"/>
            <a:ext cx="1280160" cy="128016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4" name="!!s8_ci2" descr="ZABEZPIECZ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1784" y="2121408"/>
            <a:ext cx="603504" cy="603504"/>
          </a:xfrm>
          <a:prstGeom prst="rect">
            <a:avLst/>
          </a:prstGeom>
        </p:spPr>
      </p:pic>
      <p:sp>
        <p:nvSpPr>
          <p:cNvPr id="105" name="!!s8_ch2"/>
          <p:cNvSpPr txBox="1"/>
          <p:nvPr/>
        </p:nvSpPr>
        <p:spPr>
          <a:xfrm>
            <a:off x="8357616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ZABEZPIECZ</a:t>
            </a:r>
            <a:endParaRPr lang="en-US" sz="1800" dirty="0"/>
          </a:p>
        </p:txBody>
      </p:sp>
      <p:sp>
        <p:nvSpPr>
          <p:cNvPr id="106" name="!!s8_cd2"/>
          <p:cNvSpPr txBox="1"/>
          <p:nvPr/>
        </p:nvSpPr>
        <p:spPr>
          <a:xfrm>
            <a:off x="8357616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Luka znika, zanim przestępcy w ogóle się o niej dowiedzą.</a:t>
            </a:r>
            <a:endParaRPr lang="en-US" sz="1400" dirty="0"/>
          </a:p>
        </p:txBody>
      </p:sp>
      <p:sp>
        <p:nvSpPr>
          <p:cNvPr id="107" name="!!s8_k0"/>
          <p:cNvSpPr/>
          <p:nvPr/>
        </p:nvSpPr>
        <p:spPr>
          <a:xfrm>
            <a:off x="548640" y="4617720"/>
            <a:ext cx="5440680" cy="1325880"/>
          </a:xfrm>
          <a:prstGeom prst="rect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108" name="!!s8_kh0"/>
          <p:cNvSpPr txBox="1"/>
          <p:nvPr/>
        </p:nvSpPr>
        <p:spPr>
          <a:xfrm>
            <a:off x="777240" y="4754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BIG SLEEP · 2024</a:t>
            </a:r>
            <a:endParaRPr lang="en-US" sz="1200" dirty="0"/>
          </a:p>
        </p:txBody>
      </p:sp>
      <p:sp>
        <p:nvSpPr>
          <p:cNvPr id="109" name="!!s8_kd0"/>
          <p:cNvSpPr txBox="1"/>
          <p:nvPr/>
        </p:nvSpPr>
        <p:spPr>
          <a:xfrm>
            <a:off x="777240" y="5074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Agent AI znalazł groźną, nieznaną lukę w popularnej bazie danych SQLite — zanim trafiła do użytkowników.</a:t>
            </a:r>
            <a:endParaRPr lang="en-US" sz="1400" dirty="0"/>
          </a:p>
        </p:txBody>
      </p:sp>
      <p:sp>
        <p:nvSpPr>
          <p:cNvPr id="110" name="!!s8_k1"/>
          <p:cNvSpPr/>
          <p:nvPr/>
        </p:nvSpPr>
        <p:spPr>
          <a:xfrm>
            <a:off x="6190488" y="4617720"/>
            <a:ext cx="5440680" cy="1325880"/>
          </a:xfrm>
          <a:prstGeom prst="rect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111" name="!!s8_kh1"/>
          <p:cNvSpPr txBox="1"/>
          <p:nvPr/>
        </p:nvSpPr>
        <p:spPr>
          <a:xfrm>
            <a:off x="6419088" y="4754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DARPA AIxCC · 2025</a:t>
            </a:r>
            <a:endParaRPr lang="en-US" sz="1200" dirty="0"/>
          </a:p>
        </p:txBody>
      </p:sp>
      <p:sp>
        <p:nvSpPr>
          <p:cNvPr id="112" name="!!s8_kd1"/>
          <p:cNvSpPr txBox="1"/>
          <p:nvPr/>
        </p:nvSpPr>
        <p:spPr>
          <a:xfrm>
            <a:off x="6419088" y="5074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 finale konkursu systemy AI samodzielnie wykrywały i łatały luki w otwartym oprogramowaniu.</a:t>
            </a:r>
            <a:endParaRPr lang="en-US" sz="1400" dirty="0"/>
          </a:p>
        </p:txBody>
      </p:sp>
      <p:sp>
        <p:nvSpPr>
          <p:cNvPr id="113" name="!!s9_title"/>
          <p:cNvSpPr txBox="1"/>
          <p:nvPr/>
        </p:nvSpPr>
        <p:spPr>
          <a:xfrm>
            <a:off x="133502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Człowiek + AI: przewaga gospodarza</a:t>
            </a:r>
            <a:endParaRPr lang="en-US" sz="3600" dirty="0"/>
          </a:p>
        </p:txBody>
      </p:sp>
      <p:sp>
        <p:nvSpPr>
          <p:cNvPr id="114" name="!!s9_stat"/>
          <p:cNvSpPr txBox="1"/>
          <p:nvPr/>
        </p:nvSpPr>
        <p:spPr>
          <a:xfrm>
            <a:off x="13350240" y="1828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4,8 mln</a:t>
            </a:r>
            <a:endParaRPr lang="en-US" sz="7200" dirty="0"/>
          </a:p>
        </p:txBody>
      </p:sp>
      <p:sp>
        <p:nvSpPr>
          <p:cNvPr id="115" name="!!s9_statD"/>
          <p:cNvSpPr txBox="1"/>
          <p:nvPr/>
        </p:nvSpPr>
        <p:spPr>
          <a:xfrm>
            <a:off x="15179040" y="3108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tylu specjalistów od cyberbezpieczeństwa brakuje na świecie (ISC2, 2024). AI pomaga zapełnić tę lukę.</a:t>
            </a:r>
            <a:endParaRPr lang="en-US" sz="1600" dirty="0"/>
          </a:p>
        </p:txBody>
      </p:sp>
      <p:sp>
        <p:nvSpPr>
          <p:cNvPr id="116" name="!!s9_quote"/>
          <p:cNvSpPr txBox="1"/>
          <p:nvPr/>
        </p:nvSpPr>
        <p:spPr>
          <a:xfrm>
            <a:off x="17007840" y="4251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Obrońca gra u siebie: zna własną sieć, ma dane i pełną telemetrię. Atakujący widzi tylko fragment.</a:t>
            </a:r>
            <a:endParaRPr lang="en-US" sz="1800" dirty="0"/>
          </a:p>
        </p:txBody>
      </p:sp>
      <p:sp>
        <p:nvSpPr>
          <p:cNvPr id="117" name="!!s9_h1"/>
          <p:cNvSpPr/>
          <p:nvPr/>
        </p:nvSpPr>
        <p:spPr>
          <a:xfrm>
            <a:off x="25191720" y="1691640"/>
            <a:ext cx="1371600" cy="1371600"/>
          </a:xfrm>
          <a:prstGeom prst="ellipse">
            <a:avLst/>
          </a:prstGeom>
          <a:solidFill>
            <a:schemeClr val="bg1">
              <a:alpha val="10000"/>
            </a:schemeClr>
          </a:solidFill>
          <a:ln w="15875">
            <a:solidFill>
              <a:schemeClr val="bg1"/>
            </a:solidFill>
            <a:prstDash val="solid"/>
          </a:ln>
        </p:spPr>
      </p:sp>
      <p:pic>
        <p:nvPicPr>
          <p:cNvPr id="118" name="!!s9_h1i" descr="Anality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57480" y="2057400"/>
            <a:ext cx="640080" cy="640080"/>
          </a:xfrm>
          <a:prstGeom prst="rect">
            <a:avLst/>
          </a:prstGeom>
        </p:spPr>
      </p:pic>
      <p:sp>
        <p:nvSpPr>
          <p:cNvPr id="119" name="!!s9_plus"/>
          <p:cNvSpPr txBox="1"/>
          <p:nvPr/>
        </p:nvSpPr>
        <p:spPr>
          <a:xfrm>
            <a:off x="26700480" y="18745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</a:t>
            </a:r>
            <a:endParaRPr lang="en-US" sz="4800" dirty="0"/>
          </a:p>
        </p:txBody>
      </p:sp>
      <p:sp>
        <p:nvSpPr>
          <p:cNvPr id="120" name="!!s9_h2"/>
          <p:cNvSpPr/>
          <p:nvPr/>
        </p:nvSpPr>
        <p:spPr>
          <a:xfrm>
            <a:off x="27660600" y="1691640"/>
            <a:ext cx="1371600" cy="137160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1" name="!!s9_h2i" descr="Asystent A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26360" y="2057400"/>
            <a:ext cx="640080" cy="640080"/>
          </a:xfrm>
          <a:prstGeom prst="rect">
            <a:avLst/>
          </a:prstGeom>
        </p:spPr>
      </p:pic>
      <p:sp>
        <p:nvSpPr>
          <p:cNvPr id="122" name="!!s9_p1n"/>
          <p:cNvSpPr txBox="1"/>
          <p:nvPr/>
        </p:nvSpPr>
        <p:spPr>
          <a:xfrm>
            <a:off x="26517600" y="3465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123" name="!!s9_p1h"/>
          <p:cNvSpPr txBox="1"/>
          <p:nvPr/>
        </p:nvSpPr>
        <p:spPr>
          <a:xfrm>
            <a:off x="2706624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Asystent analityka</a:t>
            </a:r>
            <a:endParaRPr lang="en-US" sz="1800" dirty="0"/>
          </a:p>
        </p:txBody>
      </p:sp>
      <p:sp>
        <p:nvSpPr>
          <p:cNvPr id="124" name="!!s9_p1d"/>
          <p:cNvSpPr txBox="1"/>
          <p:nvPr/>
        </p:nvSpPr>
        <p:spPr>
          <a:xfrm>
            <a:off x="27066240" y="38130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Streszcza incydent i podpowiada kolejny krok.</a:t>
            </a:r>
            <a:endParaRPr lang="en-US" sz="1400" dirty="0"/>
          </a:p>
        </p:txBody>
      </p:sp>
      <p:sp>
        <p:nvSpPr>
          <p:cNvPr id="125" name="!!s9_p2n"/>
          <p:cNvSpPr txBox="1"/>
          <p:nvPr/>
        </p:nvSpPr>
        <p:spPr>
          <a:xfrm>
            <a:off x="28346400" y="4471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26" name="!!s9_p2h"/>
          <p:cNvSpPr txBox="1"/>
          <p:nvPr/>
        </p:nvSpPr>
        <p:spPr>
          <a:xfrm>
            <a:off x="2889504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Junior jak senior</a:t>
            </a:r>
            <a:endParaRPr lang="en-US" sz="1800" dirty="0"/>
          </a:p>
        </p:txBody>
      </p:sp>
      <p:sp>
        <p:nvSpPr>
          <p:cNvPr id="127" name="!!s9_p2d"/>
          <p:cNvSpPr txBox="1"/>
          <p:nvPr/>
        </p:nvSpPr>
        <p:spPr>
          <a:xfrm>
            <a:off x="28895040" y="48188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skraca naukę i wyrównuje braki doświadczenia.</a:t>
            </a:r>
            <a:endParaRPr lang="en-US" sz="1400" dirty="0"/>
          </a:p>
        </p:txBody>
      </p:sp>
      <p:sp>
        <p:nvSpPr>
          <p:cNvPr id="128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OBROŃCY</a:t>
            </a:r>
            <a:endParaRPr lang="en-US" sz="1100" dirty="0"/>
          </a:p>
        </p:txBody>
      </p:sp>
      <p:sp>
        <p:nvSpPr>
          <p:cNvPr id="129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2</a:t>
            </a:r>
            <a:endParaRPr lang="en-US" sz="1100" dirty="0"/>
          </a:p>
        </p:txBody>
      </p:sp>
      <p:sp>
        <p:nvSpPr>
          <p:cNvPr id="130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1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2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3" name="!!tick2"/>
          <p:cNvSpPr/>
          <p:nvPr/>
        </p:nvSpPr>
        <p:spPr>
          <a:xfrm>
            <a:off x="98755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4" name="!!tick3"/>
          <p:cNvSpPr/>
          <p:nvPr/>
        </p:nvSpPr>
        <p:spPr>
          <a:xfrm>
            <a:off x="120700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5" name="!!tick4"/>
          <p:cNvSpPr/>
          <p:nvPr/>
        </p:nvSpPr>
        <p:spPr>
          <a:xfrm>
            <a:off x="1426464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6" name="!!tick5"/>
          <p:cNvSpPr/>
          <p:nvPr/>
        </p:nvSpPr>
        <p:spPr>
          <a:xfrm>
            <a:off x="164592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7" name="!!tick6"/>
          <p:cNvSpPr/>
          <p:nvPr/>
        </p:nvSpPr>
        <p:spPr>
          <a:xfrm>
            <a:off x="186537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38" name="!!tick7"/>
          <p:cNvSpPr/>
          <p:nvPr/>
        </p:nvSpPr>
        <p:spPr>
          <a:xfrm>
            <a:off x="2084832" y="6400800"/>
            <a:ext cx="45720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9" name="!!tick8"/>
          <p:cNvSpPr/>
          <p:nvPr/>
        </p:nvSpPr>
        <p:spPr>
          <a:xfrm>
            <a:off x="2615184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0" name="!!tick9"/>
          <p:cNvSpPr/>
          <p:nvPr/>
        </p:nvSpPr>
        <p:spPr>
          <a:xfrm>
            <a:off x="283464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1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2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43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605588" y="-4531309"/>
            <a:ext cx="28041951" cy="1577340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4306831" y="4436047"/>
            <a:ext cx="169902" cy="169902"/>
          </a:xfrm>
          <a:prstGeom prst="ellipse">
            <a:avLst/>
          </a:prstGeom>
          <a:solidFill>
            <a:schemeClr val="accent2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7371938" y="2771457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7443899" y="-850873"/>
            <a:ext cx="156834" cy="156834"/>
          </a:xfrm>
          <a:prstGeom prst="ellipse">
            <a:avLst/>
          </a:prstGeom>
          <a:solidFill>
            <a:schemeClr val="accent2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4265382" y="-1258913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1645418" y="6654626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0653298" y="9256728"/>
            <a:ext cx="647199" cy="647199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802659" y="4236485"/>
            <a:ext cx="202991" cy="202991"/>
          </a:xfrm>
          <a:prstGeom prst="ellipse">
            <a:avLst/>
          </a:prstGeom>
          <a:solidFill>
            <a:schemeClr val="accent2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-5663339" y="-2583575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-7015899" y="3349944"/>
            <a:ext cx="167859" cy="167859"/>
          </a:xfrm>
          <a:prstGeom prst="ellipse">
            <a:avLst/>
          </a:prstGeom>
          <a:solidFill>
            <a:schemeClr val="accent2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-2172659" y="4968137"/>
            <a:ext cx="1087278" cy="108727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14310219" y="6210840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-2993259" y="7579968"/>
            <a:ext cx="139775" cy="139775"/>
          </a:xfrm>
          <a:prstGeom prst="ellipse">
            <a:avLst/>
          </a:prstGeom>
          <a:solidFill>
            <a:schemeClr val="accent2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12868381" y="1691245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-4800879" y="8443999"/>
            <a:ext cx="218591" cy="218591"/>
          </a:xfrm>
          <a:prstGeom prst="ellipse">
            <a:avLst/>
          </a:prstGeom>
          <a:solidFill>
            <a:schemeClr val="accent2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14523699" y="8051795"/>
            <a:ext cx="140841" cy="140841"/>
          </a:xfrm>
          <a:prstGeom prst="ellipse">
            <a:avLst/>
          </a:prstGeom>
          <a:solidFill>
            <a:schemeClr val="accent2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1709330" y="3928003"/>
            <a:ext cx="786257" cy="786257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13311474" y="9011561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13511955" y="5187470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13034203" y="5108461"/>
            <a:ext cx="1079414" cy="1079414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6516358" y="5162992"/>
            <a:ext cx="228948" cy="228948"/>
          </a:xfrm>
          <a:prstGeom prst="ellipse">
            <a:avLst/>
          </a:prstGeom>
          <a:solidFill>
            <a:schemeClr val="accent2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3885431" y="-90654"/>
            <a:ext cx="191645" cy="191645"/>
          </a:xfrm>
          <a:prstGeom prst="ellipse">
            <a:avLst/>
          </a:prstGeom>
          <a:solidFill>
            <a:schemeClr val="accent2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-387357" y="-554061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-3322080" y="7614396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-319411" y="3197834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0676925" y="4779538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17458046" y="-828056"/>
            <a:ext cx="227967" cy="227967"/>
          </a:xfrm>
          <a:prstGeom prst="ellipse">
            <a:avLst/>
          </a:prstGeom>
          <a:solidFill>
            <a:schemeClr val="accent2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13884655" y="-2083792"/>
            <a:ext cx="156456" cy="156456"/>
          </a:xfrm>
          <a:prstGeom prst="ellipse">
            <a:avLst/>
          </a:prstGeom>
          <a:solidFill>
            <a:schemeClr val="accent2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-1594004" y="1338703"/>
            <a:ext cx="156446" cy="156446"/>
          </a:xfrm>
          <a:prstGeom prst="ellipse">
            <a:avLst/>
          </a:prstGeom>
          <a:solidFill>
            <a:schemeClr val="accent2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-4499912" y="111568"/>
            <a:ext cx="236050" cy="236050"/>
          </a:xfrm>
          <a:prstGeom prst="ellipse">
            <a:avLst/>
          </a:prstGeom>
          <a:solidFill>
            <a:schemeClr val="accent2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16535354" y="-1242791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7044296" y="5007173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15417048" y="6293321"/>
            <a:ext cx="595298" cy="59529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14827327" y="5063007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-5030711" y="6545920"/>
            <a:ext cx="204820" cy="204820"/>
          </a:xfrm>
          <a:prstGeom prst="ellipse">
            <a:avLst/>
          </a:prstGeom>
          <a:solidFill>
            <a:schemeClr val="accent2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13321278" y="4161967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14429857" y="3666955"/>
            <a:ext cx="171070" cy="171070"/>
          </a:xfrm>
          <a:prstGeom prst="ellipse">
            <a:avLst/>
          </a:prstGeom>
          <a:solidFill>
            <a:schemeClr val="accent2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9976951" y="2914774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-652262" y="-1611690"/>
            <a:ext cx="152405" cy="152405"/>
          </a:xfrm>
          <a:prstGeom prst="ellipse">
            <a:avLst/>
          </a:prstGeom>
          <a:solidFill>
            <a:schemeClr val="accent2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5366763" y="4262517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3983843" y="-2009226"/>
            <a:ext cx="107954" cy="107954"/>
          </a:xfrm>
          <a:prstGeom prst="ellipse">
            <a:avLst/>
          </a:prstGeom>
          <a:solidFill>
            <a:schemeClr val="accent2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9164212" y="8277893"/>
            <a:ext cx="116916" cy="116916"/>
          </a:xfrm>
          <a:prstGeom prst="ellipse">
            <a:avLst/>
          </a:prstGeom>
          <a:solidFill>
            <a:schemeClr val="accent2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-445470" y="3792518"/>
            <a:ext cx="238576" cy="238576"/>
          </a:xfrm>
          <a:prstGeom prst="ellipse">
            <a:avLst/>
          </a:prstGeom>
          <a:solidFill>
            <a:schemeClr val="accent2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-3304573" y="2112326"/>
            <a:ext cx="231782" cy="231782"/>
          </a:xfrm>
          <a:prstGeom prst="ellipse">
            <a:avLst/>
          </a:prstGeom>
          <a:solidFill>
            <a:schemeClr val="accent2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14010226" y="6284069"/>
            <a:ext cx="559428" cy="559428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4633979" y="4633808"/>
            <a:ext cx="158543" cy="158543"/>
          </a:xfrm>
          <a:prstGeom prst="ellipse">
            <a:avLst/>
          </a:prstGeom>
          <a:solidFill>
            <a:schemeClr val="accent2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-6891612" y="5886172"/>
            <a:ext cx="205010" cy="205010"/>
          </a:xfrm>
          <a:prstGeom prst="ellipse">
            <a:avLst/>
          </a:prstGeom>
          <a:solidFill>
            <a:schemeClr val="accent2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12968271" y="8509138"/>
            <a:ext cx="171511" cy="171511"/>
          </a:xfrm>
          <a:prstGeom prst="ellipse">
            <a:avLst/>
          </a:prstGeom>
          <a:solidFill>
            <a:schemeClr val="accent2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5062802" y="4136384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-4941448" y="5984945"/>
            <a:ext cx="160209" cy="160209"/>
          </a:xfrm>
          <a:prstGeom prst="ellipse">
            <a:avLst/>
          </a:prstGeom>
          <a:solidFill>
            <a:schemeClr val="accent2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-3259288" y="6460068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14681649" y="-799473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-4534563" y="1175619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bOrb" descr="Rdzeń AI obrońców">    </p:cNvPr>
          <p:cNvPicPr>
            <a:picLocks noChangeAspect="1"/>
          </p:cNvPicPr>
          <p:nvPr/>
        </p:nvPicPr>
        <p:blipFill>
          <a:blip r:embed="rId4">
            <a:alphaModFix amt="78000"/>
          </a:blip>
          <a:stretch>
            <a:fillRect/>
          </a:stretch>
        </p:blipFill>
        <p:spPr>
          <a:xfrm>
            <a:off x="-4992624" y="-4718304"/>
            <a:ext cx="7607808" cy="7607808"/>
          </a:xfrm>
          <a:prstGeom prst="rect">
            <a:avLst/>
          </a:prstGeom>
        </p:spPr>
      </p:pic>
      <p:pic>
        <p:nvPicPr>
          <p:cNvPr id="58" name="!!aOrb" descr="Rdzeń AI atakujących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-3931920" y="2011680"/>
            <a:ext cx="1463040" cy="1463040"/>
          </a:xfrm>
          <a:prstGeom prst="rect">
            <a:avLst/>
          </a:prstGeom>
        </p:spPr>
      </p:pic>
      <p:sp>
        <p:nvSpPr>
          <p:cNvPr id="59" name="!!ring1"/>
          <p:cNvSpPr/>
          <p:nvPr/>
        </p:nvSpPr>
        <p:spPr>
          <a:xfrm rot="14400000">
            <a:off x="-4846320" y="-4572000"/>
            <a:ext cx="7315200" cy="731520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2">
                <a:alpha val="25000"/>
              </a:schemeClr>
            </a:solidFill>
            <a:prstDash val="solid"/>
          </a:ln>
        </p:spPr>
      </p:sp>
      <p:sp>
        <p:nvSpPr>
          <p:cNvPr id="60" name="!!ring2"/>
          <p:cNvSpPr/>
          <p:nvPr/>
        </p:nvSpPr>
        <p:spPr>
          <a:xfrm rot="7200000">
            <a:off x="-5358384" y="-5084064"/>
            <a:ext cx="8339328" cy="8339328"/>
          </a:xfrm>
          <a:prstGeom prst="ellipse">
            <a:avLst/>
          </a:prstGeom>
          <a:noFill/>
          <a:ln w="9525">
            <a:solidFill>
              <a:schemeClr val="bg1">
                <a:alpha val="5000"/>
              </a:schemeClr>
            </a:solidFill>
            <a:prstDash val="dash"/>
          </a:ln>
        </p:spPr>
      </p:sp>
      <p:sp>
        <p:nvSpPr>
          <p:cNvPr id="61" name="!!ring3"/>
          <p:cNvSpPr/>
          <p:nvPr/>
        </p:nvSpPr>
        <p:spPr>
          <a:xfrm rot="6600000">
            <a:off x="-4407408" y="-4133088"/>
            <a:ext cx="6437376" cy="6437376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62" name="!!flare"/>
          <p:cNvSpPr/>
          <p:nvPr/>
        </p:nvSpPr>
        <p:spPr>
          <a:xfrm>
            <a:off x="-914400" y="502920"/>
            <a:ext cx="3657600" cy="914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  <a:effectLst>
            <a:softEdge rad="36576"/>
          </a:effectLst>
        </p:spPr>
      </p:sp>
      <p:sp>
        <p:nvSpPr>
          <p:cNvPr id="63" name="!!bigword"/>
          <p:cNvSpPr txBox="1"/>
          <p:nvPr/>
        </p:nvSpPr>
        <p:spPr>
          <a:xfrm>
            <a:off x="-4389120" y="4480560"/>
            <a:ext cx="1645920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chemeClr val="accent2">
                    <a:alpha val="6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OBROŃCY</a:t>
            </a:r>
            <a:endParaRPr lang="en-US" sz="20000" dirty="0"/>
          </a:p>
        </p:txBody>
      </p:sp>
      <p:sp>
        <p:nvSpPr>
          <p:cNvPr id="64" name="!!beam"/>
          <p:cNvSpPr/>
          <p:nvPr/>
        </p:nvSpPr>
        <p:spPr>
          <a:xfrm>
            <a:off x="7498080" y="9569196"/>
            <a:ext cx="4023360" cy="64008"/>
          </a:xfrm>
          <a:prstGeom prst="rect">
            <a:avLst/>
          </a:prstGeom>
          <a:solidFill>
            <a:schemeClr val="bg1">
              <a:alpha val="85000"/>
            </a:schemeClr>
          </a:solidFill>
          <a:ln/>
        </p:spPr>
      </p:sp>
      <p:sp>
        <p:nvSpPr>
          <p:cNvPr id="65" name="!!fulcrum"/>
          <p:cNvSpPr/>
          <p:nvPr/>
        </p:nvSpPr>
        <p:spPr>
          <a:xfrm>
            <a:off x="9217152" y="9646920"/>
            <a:ext cx="585216" cy="640080"/>
          </a:xfrm>
          <a:prstGeom prst="triangle">
            <a:avLst/>
          </a:prstGeom>
          <a:solidFill>
            <a:schemeClr val="bg2">
              <a:alpha val="45000"/>
            </a:schemeClr>
          </a:solidFill>
          <a:ln/>
        </p:spPr>
      </p:sp>
      <p:sp>
        <p:nvSpPr>
          <p:cNvPr id="66" name="!!pivot"/>
          <p:cNvSpPr/>
          <p:nvPr/>
        </p:nvSpPr>
        <p:spPr>
          <a:xfrm>
            <a:off x="9427464" y="9518904"/>
            <a:ext cx="164592" cy="16459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7" name="!!s8_title"/>
          <p:cNvSpPr txBox="1"/>
          <p:nvPr/>
        </p:nvSpPr>
        <p:spPr>
          <a:xfrm>
            <a:off x="-1225296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łata luki, zanim ktoś je znajdzie</a:t>
            </a:r>
            <a:endParaRPr lang="en-US" sz="3600" dirty="0"/>
          </a:p>
        </p:txBody>
      </p:sp>
      <p:sp>
        <p:nvSpPr>
          <p:cNvPr id="68" name="!!s8_c0"/>
          <p:cNvSpPr/>
          <p:nvPr/>
        </p:nvSpPr>
        <p:spPr>
          <a:xfrm>
            <a:off x="-13075920" y="1783080"/>
            <a:ext cx="1280160" cy="128016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69" name="!!s8_ci0" descr="ZNAJDŹ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737592" y="2121408"/>
            <a:ext cx="603504" cy="603504"/>
          </a:xfrm>
          <a:prstGeom prst="rect">
            <a:avLst/>
          </a:prstGeom>
        </p:spPr>
      </p:pic>
      <p:sp>
        <p:nvSpPr>
          <p:cNvPr id="70" name="!!s8_ch0"/>
          <p:cNvSpPr txBox="1"/>
          <p:nvPr/>
        </p:nvSpPr>
        <p:spPr>
          <a:xfrm>
            <a:off x="-140817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ZNAJDŹ</a:t>
            </a:r>
            <a:endParaRPr lang="en-US" sz="1800" dirty="0"/>
          </a:p>
        </p:txBody>
      </p:sp>
      <p:sp>
        <p:nvSpPr>
          <p:cNvPr id="71" name="!!s8_cd0"/>
          <p:cNvSpPr txBox="1"/>
          <p:nvPr/>
        </p:nvSpPr>
        <p:spPr>
          <a:xfrm>
            <a:off x="-1408176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przeszukuje kod szybciej niż cały zespół testerów.</a:t>
            </a:r>
            <a:endParaRPr lang="en-US" sz="1400" dirty="0"/>
          </a:p>
        </p:txBody>
      </p:sp>
      <p:sp>
        <p:nvSpPr>
          <p:cNvPr id="72" name="!!s8_ar0"/>
          <p:cNvSpPr/>
          <p:nvPr/>
        </p:nvSpPr>
        <p:spPr>
          <a:xfrm>
            <a:off x="-11567160" y="2423160"/>
            <a:ext cx="2167128" cy="0"/>
          </a:xfrm>
          <a:prstGeom prst="line">
            <a:avLst/>
          </a:prstGeom>
          <a:noFill/>
          <a:ln w="15875">
            <a:solidFill>
              <a:schemeClr val="accent2">
                <a:alpha val="70000"/>
              </a:schemeClr>
            </a:solidFill>
            <a:prstDash val="dash"/>
            <a:tailEnd type="triangle"/>
          </a:ln>
        </p:spPr>
      </p:sp>
      <p:sp>
        <p:nvSpPr>
          <p:cNvPr id="73" name="!!s8_c1"/>
          <p:cNvSpPr/>
          <p:nvPr/>
        </p:nvSpPr>
        <p:spPr>
          <a:xfrm>
            <a:off x="-11914632" y="1783080"/>
            <a:ext cx="1280160" cy="128016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74" name="!!s8_ci1" descr="NAPRA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576304" y="2121408"/>
            <a:ext cx="603504" cy="603504"/>
          </a:xfrm>
          <a:prstGeom prst="rect">
            <a:avLst/>
          </a:prstGeom>
        </p:spPr>
      </p:pic>
      <p:sp>
        <p:nvSpPr>
          <p:cNvPr id="75" name="!!s8_ch1"/>
          <p:cNvSpPr txBox="1"/>
          <p:nvPr/>
        </p:nvSpPr>
        <p:spPr>
          <a:xfrm>
            <a:off x="-12920472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NAPRAW</a:t>
            </a:r>
            <a:endParaRPr lang="en-US" sz="1800" dirty="0"/>
          </a:p>
        </p:txBody>
      </p:sp>
      <p:sp>
        <p:nvSpPr>
          <p:cNvPr id="76" name="!!s8_cd1"/>
          <p:cNvSpPr txBox="1"/>
          <p:nvPr/>
        </p:nvSpPr>
        <p:spPr>
          <a:xfrm>
            <a:off x="-12920472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Proponuje poprawkę i sprawdza, czy niczego nie psuje.</a:t>
            </a:r>
            <a:endParaRPr lang="en-US" sz="1400" dirty="0"/>
          </a:p>
        </p:txBody>
      </p:sp>
      <p:sp>
        <p:nvSpPr>
          <p:cNvPr id="77" name="!!s8_ar1"/>
          <p:cNvSpPr/>
          <p:nvPr/>
        </p:nvSpPr>
        <p:spPr>
          <a:xfrm>
            <a:off x="-10405872" y="2423160"/>
            <a:ext cx="2167128" cy="0"/>
          </a:xfrm>
          <a:prstGeom prst="line">
            <a:avLst/>
          </a:prstGeom>
          <a:noFill/>
          <a:ln w="15875">
            <a:solidFill>
              <a:schemeClr val="accent2">
                <a:alpha val="70000"/>
              </a:schemeClr>
            </a:solidFill>
            <a:prstDash val="dash"/>
            <a:tailEnd type="triangle"/>
          </a:ln>
        </p:spPr>
      </p:sp>
      <p:sp>
        <p:nvSpPr>
          <p:cNvPr id="78" name="!!s8_c2"/>
          <p:cNvSpPr/>
          <p:nvPr/>
        </p:nvSpPr>
        <p:spPr>
          <a:xfrm>
            <a:off x="-10753344" y="1783080"/>
            <a:ext cx="1280160" cy="128016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79" name="!!s8_ci2" descr="ZABEZPIECZ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415016" y="2121408"/>
            <a:ext cx="603504" cy="603504"/>
          </a:xfrm>
          <a:prstGeom prst="rect">
            <a:avLst/>
          </a:prstGeom>
        </p:spPr>
      </p:pic>
      <p:sp>
        <p:nvSpPr>
          <p:cNvPr id="80" name="!!s8_ch2"/>
          <p:cNvSpPr txBox="1"/>
          <p:nvPr/>
        </p:nvSpPr>
        <p:spPr>
          <a:xfrm>
            <a:off x="-11759184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ZABEZPIECZ</a:t>
            </a:r>
            <a:endParaRPr lang="en-US" sz="1800" dirty="0"/>
          </a:p>
        </p:txBody>
      </p:sp>
      <p:sp>
        <p:nvSpPr>
          <p:cNvPr id="81" name="!!s8_cd2"/>
          <p:cNvSpPr txBox="1"/>
          <p:nvPr/>
        </p:nvSpPr>
        <p:spPr>
          <a:xfrm>
            <a:off x="-11759184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Luka znika, zanim przestępcy w ogóle się o niej dowiedzą.</a:t>
            </a:r>
            <a:endParaRPr lang="en-US" sz="1400" dirty="0"/>
          </a:p>
        </p:txBody>
      </p:sp>
      <p:sp>
        <p:nvSpPr>
          <p:cNvPr id="82" name="!!s8_k0"/>
          <p:cNvSpPr/>
          <p:nvPr/>
        </p:nvSpPr>
        <p:spPr>
          <a:xfrm>
            <a:off x="-19568160" y="4617720"/>
            <a:ext cx="5440680" cy="1325880"/>
          </a:xfrm>
          <a:prstGeom prst="rect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83" name="!!s8_kh0"/>
          <p:cNvSpPr txBox="1"/>
          <p:nvPr/>
        </p:nvSpPr>
        <p:spPr>
          <a:xfrm>
            <a:off x="-19339560" y="4754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BIG SLEEP · 2024</a:t>
            </a:r>
            <a:endParaRPr lang="en-US" sz="1200" dirty="0"/>
          </a:p>
        </p:txBody>
      </p:sp>
      <p:sp>
        <p:nvSpPr>
          <p:cNvPr id="84" name="!!s8_kd0"/>
          <p:cNvSpPr txBox="1"/>
          <p:nvPr/>
        </p:nvSpPr>
        <p:spPr>
          <a:xfrm>
            <a:off x="-19339560" y="5074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Agent AI znalazł groźną, nieznaną lukę w popularnej bazie danych SQLite — zanim trafiła do użytkowników.</a:t>
            </a:r>
            <a:endParaRPr lang="en-US" sz="1400" dirty="0"/>
          </a:p>
        </p:txBody>
      </p:sp>
      <p:sp>
        <p:nvSpPr>
          <p:cNvPr id="85" name="!!s8_k1"/>
          <p:cNvSpPr/>
          <p:nvPr/>
        </p:nvSpPr>
        <p:spPr>
          <a:xfrm>
            <a:off x="-16669512" y="4617720"/>
            <a:ext cx="5440680" cy="1325880"/>
          </a:xfrm>
          <a:prstGeom prst="rect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86" name="!!s8_kh1"/>
          <p:cNvSpPr txBox="1"/>
          <p:nvPr/>
        </p:nvSpPr>
        <p:spPr>
          <a:xfrm>
            <a:off x="-16440912" y="4754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DARPA AIxCC · 2025</a:t>
            </a:r>
            <a:endParaRPr lang="en-US" sz="1200" dirty="0"/>
          </a:p>
        </p:txBody>
      </p:sp>
      <p:sp>
        <p:nvSpPr>
          <p:cNvPr id="87" name="!!s8_kd1"/>
          <p:cNvSpPr txBox="1"/>
          <p:nvPr/>
        </p:nvSpPr>
        <p:spPr>
          <a:xfrm>
            <a:off x="-16440912" y="5074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 finale konkursu systemy AI samodzielnie wykrywały i łatały luki w otwartym oprogramowaniu.</a:t>
            </a:r>
            <a:endParaRPr lang="en-US" sz="1400" dirty="0"/>
          </a:p>
        </p:txBody>
      </p:sp>
      <p:sp>
        <p:nvSpPr>
          <p:cNvPr id="88" name="!!s9_title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Człowiek + AI: przewaga gospodarza</a:t>
            </a:r>
            <a:endParaRPr lang="en-US" sz="3600" dirty="0"/>
          </a:p>
        </p:txBody>
      </p:sp>
      <p:sp>
        <p:nvSpPr>
          <p:cNvPr id="89" name="!!s9_stat"/>
          <p:cNvSpPr txBox="1"/>
          <p:nvPr/>
        </p:nvSpPr>
        <p:spPr>
          <a:xfrm>
            <a:off x="548640" y="1828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4,8 mln</a:t>
            </a:r>
            <a:endParaRPr lang="en-US" sz="7200" dirty="0"/>
          </a:p>
        </p:txBody>
      </p:sp>
      <p:sp>
        <p:nvSpPr>
          <p:cNvPr id="90" name="!!s9_statD"/>
          <p:cNvSpPr txBox="1"/>
          <p:nvPr/>
        </p:nvSpPr>
        <p:spPr>
          <a:xfrm>
            <a:off x="548640" y="3108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tylu specjalistów od cyberbezpieczeństwa brakuje na świecie (ISC2, 2024). AI pomaga zapełnić tę lukę.</a:t>
            </a:r>
            <a:endParaRPr lang="en-US" sz="1600" dirty="0"/>
          </a:p>
        </p:txBody>
      </p:sp>
      <p:sp>
        <p:nvSpPr>
          <p:cNvPr id="91" name="!!s9_quote"/>
          <p:cNvSpPr txBox="1"/>
          <p:nvPr/>
        </p:nvSpPr>
        <p:spPr>
          <a:xfrm>
            <a:off x="548640" y="4251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Obrońca gra u siebie: zna własną sieć, ma dane i pełną telemetrię. Atakujący widzi tylko fragment.</a:t>
            </a:r>
            <a:endParaRPr lang="en-US" sz="1800" dirty="0"/>
          </a:p>
        </p:txBody>
      </p:sp>
      <p:sp>
        <p:nvSpPr>
          <p:cNvPr id="92" name="!!s9_h1"/>
          <p:cNvSpPr/>
          <p:nvPr/>
        </p:nvSpPr>
        <p:spPr>
          <a:xfrm>
            <a:off x="6903720" y="1691640"/>
            <a:ext cx="1371600" cy="1371600"/>
          </a:xfrm>
          <a:prstGeom prst="ellipse">
            <a:avLst/>
          </a:prstGeom>
          <a:solidFill>
            <a:schemeClr val="bg1">
              <a:alpha val="10000"/>
            </a:schemeClr>
          </a:solidFill>
          <a:ln w="15875">
            <a:solidFill>
              <a:schemeClr val="bg1"/>
            </a:solidFill>
            <a:prstDash val="solid"/>
          </a:ln>
        </p:spPr>
      </p:sp>
      <p:pic>
        <p:nvPicPr>
          <p:cNvPr id="93" name="!!s9_h1i" descr="Anality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480" y="2057400"/>
            <a:ext cx="640080" cy="640080"/>
          </a:xfrm>
          <a:prstGeom prst="rect">
            <a:avLst/>
          </a:prstGeom>
        </p:spPr>
      </p:pic>
      <p:sp>
        <p:nvSpPr>
          <p:cNvPr id="94" name="!!s9_plus"/>
          <p:cNvSpPr txBox="1"/>
          <p:nvPr/>
        </p:nvSpPr>
        <p:spPr>
          <a:xfrm>
            <a:off x="8412480" y="18745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</a:t>
            </a:r>
            <a:endParaRPr lang="en-US" sz="4800" dirty="0"/>
          </a:p>
        </p:txBody>
      </p:sp>
      <p:sp>
        <p:nvSpPr>
          <p:cNvPr id="95" name="!!s9_h2"/>
          <p:cNvSpPr/>
          <p:nvPr/>
        </p:nvSpPr>
        <p:spPr>
          <a:xfrm>
            <a:off x="9372600" y="1691640"/>
            <a:ext cx="1371600" cy="137160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96" name="!!s9_h2i" descr="Asystent A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8360" y="2057400"/>
            <a:ext cx="640080" cy="640080"/>
          </a:xfrm>
          <a:prstGeom prst="rect">
            <a:avLst/>
          </a:prstGeom>
        </p:spPr>
      </p:pic>
      <p:sp>
        <p:nvSpPr>
          <p:cNvPr id="97" name="!!s9_p1n"/>
          <p:cNvSpPr txBox="1"/>
          <p:nvPr/>
        </p:nvSpPr>
        <p:spPr>
          <a:xfrm>
            <a:off x="6400800" y="3465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98" name="!!s9_p1h"/>
          <p:cNvSpPr txBox="1"/>
          <p:nvPr/>
        </p:nvSpPr>
        <p:spPr>
          <a:xfrm>
            <a:off x="694944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Asystent analityka</a:t>
            </a:r>
            <a:endParaRPr lang="en-US" sz="1800" dirty="0"/>
          </a:p>
        </p:txBody>
      </p:sp>
      <p:sp>
        <p:nvSpPr>
          <p:cNvPr id="99" name="!!s9_p1d"/>
          <p:cNvSpPr txBox="1"/>
          <p:nvPr/>
        </p:nvSpPr>
        <p:spPr>
          <a:xfrm>
            <a:off x="6949440" y="38130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Streszcza incydent i podpowiada kolejny krok.</a:t>
            </a:r>
            <a:endParaRPr lang="en-US" sz="1400" dirty="0"/>
          </a:p>
        </p:txBody>
      </p:sp>
      <p:sp>
        <p:nvSpPr>
          <p:cNvPr id="100" name="!!s9_p2n"/>
          <p:cNvSpPr txBox="1"/>
          <p:nvPr/>
        </p:nvSpPr>
        <p:spPr>
          <a:xfrm>
            <a:off x="6400800" y="4471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01" name="!!s9_p2h"/>
          <p:cNvSpPr txBox="1"/>
          <p:nvPr/>
        </p:nvSpPr>
        <p:spPr>
          <a:xfrm>
            <a:off x="694944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Junior jak senior</a:t>
            </a:r>
            <a:endParaRPr lang="en-US" sz="1800" dirty="0"/>
          </a:p>
        </p:txBody>
      </p:sp>
      <p:sp>
        <p:nvSpPr>
          <p:cNvPr id="102" name="!!s9_p2d"/>
          <p:cNvSpPr txBox="1"/>
          <p:nvPr/>
        </p:nvSpPr>
        <p:spPr>
          <a:xfrm>
            <a:off x="6949440" y="48188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skraca naukę i wyrównuje braki doświadczenia.</a:t>
            </a:r>
            <a:endParaRPr lang="en-US" sz="1400" dirty="0"/>
          </a:p>
        </p:txBody>
      </p:sp>
      <p:sp>
        <p:nvSpPr>
          <p:cNvPr id="103" name="!!s10_num"/>
          <p:cNvSpPr txBox="1"/>
          <p:nvPr/>
        </p:nvSpPr>
        <p:spPr>
          <a:xfrm>
            <a:off x="12557455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</a:t>
            </a:r>
            <a:endParaRPr lang="en-US" sz="2400" dirty="0"/>
          </a:p>
        </p:txBody>
      </p:sp>
      <p:sp>
        <p:nvSpPr>
          <p:cNvPr id="104" name="!!s10_sub"/>
          <p:cNvSpPr txBox="1"/>
          <p:nvPr/>
        </p:nvSpPr>
        <p:spPr>
          <a:xfrm>
            <a:off x="1888236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Kto wygrywa ten wyścig?</a:t>
            </a:r>
            <a:endParaRPr lang="en-US" sz="2400" dirty="0"/>
          </a:p>
        </p:txBody>
      </p:sp>
      <p:sp>
        <p:nvSpPr>
          <p:cNvPr id="105" name="!!s10_chip"/>
          <p:cNvSpPr/>
          <p:nvPr/>
        </p:nvSpPr>
        <p:spPr>
          <a:xfrm>
            <a:off x="22539960" y="4434840"/>
            <a:ext cx="2514600" cy="457200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6" name="!!s10_chipT"/>
          <p:cNvSpPr txBox="1"/>
          <p:nvPr/>
        </p:nvSpPr>
        <p:spPr>
          <a:xfrm>
            <a:off x="2253996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3</a:t>
            </a:r>
            <a:endParaRPr lang="en-US" sz="1400" dirty="0"/>
          </a:p>
        </p:txBody>
      </p:sp>
      <p:sp>
        <p:nvSpPr>
          <p:cNvPr id="107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OBROŃCY</a:t>
            </a:r>
            <a:endParaRPr lang="en-US" sz="1100" dirty="0"/>
          </a:p>
        </p:txBody>
      </p:sp>
      <p:sp>
        <p:nvSpPr>
          <p:cNvPr id="108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2</a:t>
            </a:r>
            <a:endParaRPr lang="en-US" sz="1100" dirty="0"/>
          </a:p>
        </p:txBody>
      </p:sp>
      <p:sp>
        <p:nvSpPr>
          <p:cNvPr id="109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0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1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2" name="!!tick2"/>
          <p:cNvSpPr/>
          <p:nvPr/>
        </p:nvSpPr>
        <p:spPr>
          <a:xfrm>
            <a:off x="98755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3" name="!!tick3"/>
          <p:cNvSpPr/>
          <p:nvPr/>
        </p:nvSpPr>
        <p:spPr>
          <a:xfrm>
            <a:off x="120700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4" name="!!tick4"/>
          <p:cNvSpPr/>
          <p:nvPr/>
        </p:nvSpPr>
        <p:spPr>
          <a:xfrm>
            <a:off x="1426464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5" name="!!tick5"/>
          <p:cNvSpPr/>
          <p:nvPr/>
        </p:nvSpPr>
        <p:spPr>
          <a:xfrm>
            <a:off x="164592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6" name="!!tick6"/>
          <p:cNvSpPr/>
          <p:nvPr/>
        </p:nvSpPr>
        <p:spPr>
          <a:xfrm>
            <a:off x="186537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7" name="!!tick7"/>
          <p:cNvSpPr/>
          <p:nvPr/>
        </p:nvSpPr>
        <p:spPr>
          <a:xfrm>
            <a:off x="208483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18" name="!!tick8"/>
          <p:cNvSpPr/>
          <p:nvPr/>
        </p:nvSpPr>
        <p:spPr>
          <a:xfrm>
            <a:off x="2304288" y="6400800"/>
            <a:ext cx="45720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9" name="!!tick9"/>
          <p:cNvSpPr/>
          <p:nvPr/>
        </p:nvSpPr>
        <p:spPr>
          <a:xfrm>
            <a:off x="2834640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0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1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22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1100" dirty="0"/>
          </a:p>
        </p:txBody>
      </p:sp>
      <p:sp>
        <p:nvSpPr>
          <p:cNvPr id="123" name="!!lblA"/>
          <p:cNvSpPr txBox="1"/>
          <p:nvPr/>
        </p:nvSpPr>
        <p:spPr>
          <a:xfrm>
            <a:off x="6400800" y="9738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ATAKUJĄCY</a:t>
            </a:r>
            <a:endParaRPr lang="en-US" sz="1200" dirty="0"/>
          </a:p>
        </p:txBody>
      </p:sp>
      <p:sp>
        <p:nvSpPr>
          <p:cNvPr id="124" name="!!lblB"/>
          <p:cNvSpPr txBox="1"/>
          <p:nvPr/>
        </p:nvSpPr>
        <p:spPr>
          <a:xfrm>
            <a:off x="10424160" y="9738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OBROŃCY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915857" y="-2693822"/>
            <a:ext cx="23408933" cy="1316736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9072082" y="5336150"/>
            <a:ext cx="169902" cy="169902"/>
          </a:xfrm>
          <a:prstGeom prst="ellipse">
            <a:avLst/>
          </a:prstGeom>
          <a:solidFill>
            <a:schemeClr val="accent3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9366961" y="3148294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11621088" y="-61848"/>
            <a:ext cx="156834" cy="156834"/>
          </a:xfrm>
          <a:prstGeom prst="ellipse">
            <a:avLst/>
          </a:prstGeom>
          <a:solidFill>
            <a:schemeClr val="accent3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8288140" y="-499058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5812603" y="7441761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3750177" y="9841694"/>
            <a:ext cx="647199" cy="647199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7056910" y="5417843"/>
            <a:ext cx="202991" cy="202991"/>
          </a:xfrm>
          <a:prstGeom prst="ellipse">
            <a:avLst/>
          </a:prstGeom>
          <a:solidFill>
            <a:schemeClr val="accent3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1272334" y="-1273503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-2342622" y="4232674"/>
            <a:ext cx="167859" cy="167859"/>
          </a:xfrm>
          <a:prstGeom prst="ellipse">
            <a:avLst/>
          </a:prstGeom>
          <a:solidFill>
            <a:schemeClr val="accent3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3443194" y="6028910"/>
            <a:ext cx="1087278" cy="108727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9836484" y="7055878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416249" y="8223986"/>
            <a:ext cx="139775" cy="139775"/>
          </a:xfrm>
          <a:prstGeom prst="ellipse">
            <a:avLst/>
          </a:prstGeom>
          <a:solidFill>
            <a:schemeClr val="accent3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7341572" y="2735197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2155376" y="9757958"/>
            <a:ext cx="218591" cy="218591"/>
          </a:xfrm>
          <a:prstGeom prst="ellipse">
            <a:avLst/>
          </a:prstGeom>
          <a:solidFill>
            <a:schemeClr val="accent3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11066209" y="8704877"/>
            <a:ext cx="140841" cy="140841"/>
          </a:xfrm>
          <a:prstGeom prst="ellipse">
            <a:avLst/>
          </a:prstGeom>
          <a:solidFill>
            <a:schemeClr val="accent3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3983365" y="4357543"/>
            <a:ext cx="786257" cy="786257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18385434" y="9969976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8351288" y="6162263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6991868" y="6249791"/>
            <a:ext cx="1079414" cy="1079414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13938652" y="6564981"/>
            <a:ext cx="228948" cy="228948"/>
          </a:xfrm>
          <a:prstGeom prst="ellipse">
            <a:avLst/>
          </a:prstGeom>
          <a:solidFill>
            <a:schemeClr val="accent3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9629110" y="994263"/>
            <a:ext cx="191645" cy="191645"/>
          </a:xfrm>
          <a:prstGeom prst="ellipse">
            <a:avLst/>
          </a:prstGeom>
          <a:solidFill>
            <a:schemeClr val="accent3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1684602" y="-162691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2977452" y="8804308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5197379" y="4239894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2567134" y="5136578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10079885" y="565597"/>
            <a:ext cx="227967" cy="227967"/>
          </a:xfrm>
          <a:prstGeom prst="ellipse">
            <a:avLst/>
          </a:prstGeom>
          <a:solidFill>
            <a:schemeClr val="accent3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9724485" y="-1297982"/>
            <a:ext cx="156456" cy="156456"/>
          </a:xfrm>
          <a:prstGeom prst="ellipse">
            <a:avLst/>
          </a:prstGeom>
          <a:solidFill>
            <a:schemeClr val="accent3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2565719" y="2124428"/>
            <a:ext cx="156446" cy="156446"/>
          </a:xfrm>
          <a:prstGeom prst="ellipse">
            <a:avLst/>
          </a:prstGeom>
          <a:solidFill>
            <a:schemeClr val="accent3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3241991" y="1573927"/>
            <a:ext cx="236050" cy="236050"/>
          </a:xfrm>
          <a:prstGeom prst="ellipse">
            <a:avLst/>
          </a:prstGeom>
          <a:solidFill>
            <a:schemeClr val="accent3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11443636" y="-281022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4692103" y="5451476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8720866" y="7558155"/>
            <a:ext cx="595298" cy="59529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18508655" y="5758369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1305833" y="7742823"/>
            <a:ext cx="204820" cy="204820"/>
          </a:xfrm>
          <a:prstGeom prst="ellipse">
            <a:avLst/>
          </a:prstGeom>
          <a:solidFill>
            <a:schemeClr val="accent3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10950415" y="4609797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9612083" y="4576979"/>
            <a:ext cx="171070" cy="171070"/>
          </a:xfrm>
          <a:prstGeom prst="ellipse">
            <a:avLst/>
          </a:prstGeom>
          <a:solidFill>
            <a:schemeClr val="accent3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17766777" y="4386186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3325600" y="-860316"/>
            <a:ext cx="152405" cy="152405"/>
          </a:xfrm>
          <a:prstGeom prst="ellipse">
            <a:avLst/>
          </a:prstGeom>
          <a:solidFill>
            <a:schemeClr val="accent3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7415361" y="4649474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2006281" y="-1635686"/>
            <a:ext cx="107954" cy="107954"/>
          </a:xfrm>
          <a:prstGeom prst="ellipse">
            <a:avLst/>
          </a:prstGeom>
          <a:solidFill>
            <a:schemeClr val="accent3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6783336" y="8727614"/>
            <a:ext cx="116916" cy="116916"/>
          </a:xfrm>
          <a:prstGeom prst="ellipse">
            <a:avLst/>
          </a:prstGeom>
          <a:solidFill>
            <a:schemeClr val="accent3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7410091" y="5276346"/>
            <a:ext cx="238576" cy="238576"/>
          </a:xfrm>
          <a:prstGeom prst="ellipse">
            <a:avLst/>
          </a:prstGeom>
          <a:solidFill>
            <a:schemeClr val="accent3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4245241" y="3538402"/>
            <a:ext cx="231782" cy="231782"/>
          </a:xfrm>
          <a:prstGeom prst="ellipse">
            <a:avLst/>
          </a:prstGeom>
          <a:solidFill>
            <a:schemeClr val="accent3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8468850" y="7330773"/>
            <a:ext cx="559428" cy="55942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8888051" y="5437355"/>
            <a:ext cx="158543" cy="158543"/>
          </a:xfrm>
          <a:prstGeom prst="ellipse">
            <a:avLst/>
          </a:prstGeom>
          <a:solidFill>
            <a:schemeClr val="accent3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-546502" y="7084693"/>
            <a:ext cx="205010" cy="205010"/>
          </a:xfrm>
          <a:prstGeom prst="ellipse">
            <a:avLst/>
          </a:prstGeom>
          <a:solidFill>
            <a:schemeClr val="accent3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8130617" y="9422917"/>
            <a:ext cx="171511" cy="171511"/>
          </a:xfrm>
          <a:prstGeom prst="ellipse">
            <a:avLst/>
          </a:prstGeom>
          <a:solidFill>
            <a:schemeClr val="accent3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12301990" y="5503786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-612417" y="6802651"/>
            <a:ext cx="160209" cy="160209"/>
          </a:xfrm>
          <a:prstGeom prst="ellipse">
            <a:avLst/>
          </a:prstGeom>
          <a:solidFill>
            <a:schemeClr val="accent3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2830776" y="7610414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8443484" y="378847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-1436251" y="1760856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aOrb" descr="Rdzeń AI atakujący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060954"/>
            <a:ext cx="1609344" cy="1609344"/>
          </a:xfrm>
          <a:prstGeom prst="rect">
            <a:avLst/>
          </a:prstGeom>
        </p:spPr>
      </p:pic>
      <p:pic>
        <p:nvPicPr>
          <p:cNvPr id="58" name="!!bOrb" descr="Rdzeń AI obrońcó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6768" y="3060954"/>
            <a:ext cx="1609344" cy="1609344"/>
          </a:xfrm>
          <a:prstGeom prst="rect">
            <a:avLst/>
          </a:prstGeom>
        </p:spPr>
      </p:pic>
      <p:sp>
        <p:nvSpPr>
          <p:cNvPr id="59" name="!!bigword"/>
          <p:cNvSpPr txBox="1"/>
          <p:nvPr/>
        </p:nvSpPr>
        <p:spPr>
          <a:xfrm>
            <a:off x="548640" y="2240280"/>
            <a:ext cx="73152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0" b="1" spc="200" kern="0" dirty="0">
                <a:solidFill>
                  <a:schemeClr val="accent3"/>
                </a:solidFill>
                <a:effectLst>
                  <a:glow rad="228600">
                    <a:srgbClr val="A970FF">
                      <a:alpha val="35000"/>
                    </a:srgbClr>
                  </a:glow>
                </a:effectLst>
                <a:latin typeface="+mj-lt" pitchFamily="34" charset="0"/>
                <a:ea typeface="+mj-lt" pitchFamily="34" charset="-122"/>
                <a:cs typeface="+mj-lt" pitchFamily="34" charset="-120"/>
              </a:rPr>
              <a:t>WERDYKT</a:t>
            </a:r>
            <a:endParaRPr lang="en-US" sz="8000" dirty="0"/>
          </a:p>
        </p:txBody>
      </p:sp>
      <p:sp>
        <p:nvSpPr>
          <p:cNvPr id="60" name="!!beam"/>
          <p:cNvSpPr/>
          <p:nvPr/>
        </p:nvSpPr>
        <p:spPr>
          <a:xfrm>
            <a:off x="7498080" y="4311396"/>
            <a:ext cx="4023360" cy="64008"/>
          </a:xfrm>
          <a:prstGeom prst="rect">
            <a:avLst/>
          </a:prstGeom>
          <a:solidFill>
            <a:schemeClr val="bg1">
              <a:alpha val="85000"/>
            </a:schemeClr>
          </a:solidFill>
          <a:ln/>
        </p:spPr>
      </p:sp>
      <p:sp>
        <p:nvSpPr>
          <p:cNvPr id="61" name="!!fulcrum"/>
          <p:cNvSpPr/>
          <p:nvPr/>
        </p:nvSpPr>
        <p:spPr>
          <a:xfrm>
            <a:off x="9217152" y="4389120"/>
            <a:ext cx="585216" cy="640080"/>
          </a:xfrm>
          <a:prstGeom prst="triangle">
            <a:avLst/>
          </a:prstGeom>
          <a:solidFill>
            <a:schemeClr val="bg2">
              <a:alpha val="45000"/>
            </a:schemeClr>
          </a:solidFill>
          <a:ln/>
        </p:spPr>
      </p:sp>
      <p:sp>
        <p:nvSpPr>
          <p:cNvPr id="62" name="!!pivot"/>
          <p:cNvSpPr/>
          <p:nvPr/>
        </p:nvSpPr>
        <p:spPr>
          <a:xfrm>
            <a:off x="9427464" y="4261104"/>
            <a:ext cx="164592" cy="16459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3" name="!!ring1"/>
          <p:cNvSpPr/>
          <p:nvPr/>
        </p:nvSpPr>
        <p:spPr>
          <a:xfrm rot="18000000">
            <a:off x="7040880" y="1188720"/>
            <a:ext cx="4937760" cy="493776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64" name="!!ring2"/>
          <p:cNvSpPr/>
          <p:nvPr/>
        </p:nvSpPr>
        <p:spPr>
          <a:xfrm rot="9000000">
            <a:off x="6695237" y="843077"/>
            <a:ext cx="5629046" cy="5629046"/>
          </a:xfrm>
          <a:prstGeom prst="ellips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dash"/>
          </a:ln>
        </p:spPr>
      </p:sp>
      <p:sp>
        <p:nvSpPr>
          <p:cNvPr id="65" name="!!ring3"/>
          <p:cNvSpPr/>
          <p:nvPr/>
        </p:nvSpPr>
        <p:spPr>
          <a:xfrm rot="3000000">
            <a:off x="7337146" y="1484986"/>
            <a:ext cx="4345229" cy="4345229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3">
                <a:alpha val="75000"/>
              </a:schemeClr>
            </a:solidFill>
            <a:prstDash val="solid"/>
          </a:ln>
        </p:spPr>
      </p:sp>
      <p:sp>
        <p:nvSpPr>
          <p:cNvPr id="66" name="!!flare"/>
          <p:cNvSpPr/>
          <p:nvPr/>
        </p:nvSpPr>
        <p:spPr>
          <a:xfrm>
            <a:off x="5394960" y="4297680"/>
            <a:ext cx="8229600" cy="91440"/>
          </a:xfrm>
          <a:prstGeom prst="ellipse">
            <a:avLst/>
          </a:prstGeom>
          <a:solidFill>
            <a:schemeClr val="accent3">
              <a:alpha val="55000"/>
            </a:schemeClr>
          </a:solidFill>
          <a:ln/>
          <a:effectLst>
            <a:softEdge rad="36576"/>
          </a:effectLst>
        </p:spPr>
      </p:sp>
      <p:sp>
        <p:nvSpPr>
          <p:cNvPr id="67" name="!!s9_title"/>
          <p:cNvSpPr txBox="1"/>
          <p:nvPr/>
        </p:nvSpPr>
        <p:spPr>
          <a:xfrm>
            <a:off x="-1225296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Człowiek + AI: przewaga gospodarza</a:t>
            </a:r>
            <a:endParaRPr lang="en-US" sz="3600" dirty="0"/>
          </a:p>
        </p:txBody>
      </p:sp>
      <p:sp>
        <p:nvSpPr>
          <p:cNvPr id="68" name="!!s9_stat"/>
          <p:cNvSpPr txBox="1"/>
          <p:nvPr/>
        </p:nvSpPr>
        <p:spPr>
          <a:xfrm>
            <a:off x="-12252960" y="1828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4,8 mln</a:t>
            </a:r>
            <a:endParaRPr lang="en-US" sz="7200" dirty="0"/>
          </a:p>
        </p:txBody>
      </p:sp>
      <p:sp>
        <p:nvSpPr>
          <p:cNvPr id="69" name="!!s9_statD"/>
          <p:cNvSpPr txBox="1"/>
          <p:nvPr/>
        </p:nvSpPr>
        <p:spPr>
          <a:xfrm>
            <a:off x="-14081760" y="3108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tylu specjalistów od cyberbezpieczeństwa brakuje na świecie (ISC2, 2024). AI pomaga zapełnić tę lukę.</a:t>
            </a:r>
            <a:endParaRPr lang="en-US" sz="1600" dirty="0"/>
          </a:p>
        </p:txBody>
      </p:sp>
      <p:sp>
        <p:nvSpPr>
          <p:cNvPr id="70" name="!!s9_quote"/>
          <p:cNvSpPr txBox="1"/>
          <p:nvPr/>
        </p:nvSpPr>
        <p:spPr>
          <a:xfrm>
            <a:off x="-15910560" y="4251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Obrońca gra u siebie: zna własną sieć, ma dane i pełną telemetrię. Atakujący widzi tylko fragment.</a:t>
            </a:r>
            <a:endParaRPr lang="en-US" sz="1800" dirty="0"/>
          </a:p>
        </p:txBody>
      </p:sp>
      <p:sp>
        <p:nvSpPr>
          <p:cNvPr id="71" name="!!s9_h1"/>
          <p:cNvSpPr/>
          <p:nvPr/>
        </p:nvSpPr>
        <p:spPr>
          <a:xfrm>
            <a:off x="-11384280" y="1691640"/>
            <a:ext cx="1371600" cy="1371600"/>
          </a:xfrm>
          <a:prstGeom prst="ellipse">
            <a:avLst/>
          </a:prstGeom>
          <a:solidFill>
            <a:schemeClr val="bg1">
              <a:alpha val="10000"/>
            </a:schemeClr>
          </a:solidFill>
          <a:ln w="15875">
            <a:solidFill>
              <a:schemeClr val="bg1"/>
            </a:solidFill>
            <a:prstDash val="solid"/>
          </a:ln>
        </p:spPr>
      </p:sp>
      <p:pic>
        <p:nvPicPr>
          <p:cNvPr id="72" name="!!s9_h1i" descr="Anality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018520" y="2057400"/>
            <a:ext cx="640080" cy="640080"/>
          </a:xfrm>
          <a:prstGeom prst="rect">
            <a:avLst/>
          </a:prstGeom>
        </p:spPr>
      </p:pic>
      <p:sp>
        <p:nvSpPr>
          <p:cNvPr id="73" name="!!s9_plus"/>
          <p:cNvSpPr txBox="1"/>
          <p:nvPr/>
        </p:nvSpPr>
        <p:spPr>
          <a:xfrm>
            <a:off x="-9875520" y="18745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</a:t>
            </a:r>
            <a:endParaRPr lang="en-US" sz="4800" dirty="0"/>
          </a:p>
        </p:txBody>
      </p:sp>
      <p:sp>
        <p:nvSpPr>
          <p:cNvPr id="74" name="!!s9_h2"/>
          <p:cNvSpPr/>
          <p:nvPr/>
        </p:nvSpPr>
        <p:spPr>
          <a:xfrm>
            <a:off x="-8915400" y="1691640"/>
            <a:ext cx="1371600" cy="137160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75" name="!!s9_h2i" descr="Asystent A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549640" y="2057400"/>
            <a:ext cx="640080" cy="640080"/>
          </a:xfrm>
          <a:prstGeom prst="rect">
            <a:avLst/>
          </a:prstGeom>
        </p:spPr>
      </p:pic>
      <p:sp>
        <p:nvSpPr>
          <p:cNvPr id="76" name="!!s9_p1n"/>
          <p:cNvSpPr txBox="1"/>
          <p:nvPr/>
        </p:nvSpPr>
        <p:spPr>
          <a:xfrm>
            <a:off x="-13716000" y="3465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7" name="!!s9_p1h"/>
          <p:cNvSpPr txBox="1"/>
          <p:nvPr/>
        </p:nvSpPr>
        <p:spPr>
          <a:xfrm>
            <a:off x="-1316736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Asystent analityka</a:t>
            </a:r>
            <a:endParaRPr lang="en-US" sz="1800" dirty="0"/>
          </a:p>
        </p:txBody>
      </p:sp>
      <p:sp>
        <p:nvSpPr>
          <p:cNvPr id="78" name="!!s9_p1d"/>
          <p:cNvSpPr txBox="1"/>
          <p:nvPr/>
        </p:nvSpPr>
        <p:spPr>
          <a:xfrm>
            <a:off x="-13167360" y="38130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Streszcza incydent i podpowiada kolejny krok.</a:t>
            </a:r>
            <a:endParaRPr lang="en-US" sz="1400" dirty="0"/>
          </a:p>
        </p:txBody>
      </p:sp>
      <p:sp>
        <p:nvSpPr>
          <p:cNvPr id="79" name="!!s9_p2n"/>
          <p:cNvSpPr txBox="1"/>
          <p:nvPr/>
        </p:nvSpPr>
        <p:spPr>
          <a:xfrm>
            <a:off x="-15544800" y="4471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80" name="!!s9_p2h"/>
          <p:cNvSpPr txBox="1"/>
          <p:nvPr/>
        </p:nvSpPr>
        <p:spPr>
          <a:xfrm>
            <a:off x="-1499616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Junior jak senior</a:t>
            </a:r>
            <a:endParaRPr lang="en-US" sz="1800" dirty="0"/>
          </a:p>
        </p:txBody>
      </p:sp>
      <p:sp>
        <p:nvSpPr>
          <p:cNvPr id="81" name="!!s9_p2d"/>
          <p:cNvSpPr txBox="1"/>
          <p:nvPr/>
        </p:nvSpPr>
        <p:spPr>
          <a:xfrm>
            <a:off x="-14996160" y="48188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skraca naukę i wyrównuje braki doświadczenia.</a:t>
            </a:r>
            <a:endParaRPr lang="en-US" sz="1400" dirty="0"/>
          </a:p>
        </p:txBody>
      </p:sp>
      <p:sp>
        <p:nvSpPr>
          <p:cNvPr id="82" name="!!s10_num"/>
          <p:cNvSpPr txBox="1"/>
          <p:nvPr/>
        </p:nvSpPr>
        <p:spPr>
          <a:xfrm>
            <a:off x="59436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</a:t>
            </a:r>
            <a:endParaRPr lang="en-US" sz="2400" dirty="0"/>
          </a:p>
        </p:txBody>
      </p:sp>
      <p:sp>
        <p:nvSpPr>
          <p:cNvPr id="83" name="!!s10_sub"/>
          <p:cNvSpPr txBox="1"/>
          <p:nvPr/>
        </p:nvSpPr>
        <p:spPr>
          <a:xfrm>
            <a:off x="59436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Kto wygrywa ten wyścig?</a:t>
            </a:r>
            <a:endParaRPr lang="en-US" sz="2400" dirty="0"/>
          </a:p>
        </p:txBody>
      </p:sp>
      <p:sp>
        <p:nvSpPr>
          <p:cNvPr id="84" name="!!s10_chip"/>
          <p:cNvSpPr/>
          <p:nvPr/>
        </p:nvSpPr>
        <p:spPr>
          <a:xfrm>
            <a:off x="594360" y="4434840"/>
            <a:ext cx="2514600" cy="457200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5" name="!!s10_chipT"/>
          <p:cNvSpPr txBox="1"/>
          <p:nvPr/>
        </p:nvSpPr>
        <p:spPr>
          <a:xfrm>
            <a:off x="59436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3</a:t>
            </a:r>
            <a:endParaRPr lang="en-US" sz="1400" dirty="0"/>
          </a:p>
        </p:txBody>
      </p:sp>
      <p:sp>
        <p:nvSpPr>
          <p:cNvPr id="86" name="!!s11_title"/>
          <p:cNvSpPr txBox="1"/>
          <p:nvPr/>
        </p:nvSpPr>
        <p:spPr>
          <a:xfrm>
            <a:off x="133502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Dziś szala przechyla się ku atakującym</a:t>
            </a:r>
            <a:endParaRPr lang="en-US" sz="3600" dirty="0"/>
          </a:p>
        </p:txBody>
      </p:sp>
      <p:sp>
        <p:nvSpPr>
          <p:cNvPr id="87" name="!!s11_hA"/>
          <p:cNvSpPr txBox="1"/>
          <p:nvPr/>
        </p:nvSpPr>
        <p:spPr>
          <a:xfrm>
            <a:off x="133502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 STRONIE ATAKUJĄCYCH</a:t>
            </a:r>
            <a:endParaRPr lang="en-US" sz="1400" dirty="0"/>
          </a:p>
        </p:txBody>
      </p:sp>
      <p:sp>
        <p:nvSpPr>
          <p:cNvPr id="88" name="!!s11_hB"/>
          <p:cNvSpPr txBox="1"/>
          <p:nvPr/>
        </p:nvSpPr>
        <p:spPr>
          <a:xfrm>
            <a:off x="229514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ATUTY OBROŃCÓW</a:t>
            </a:r>
            <a:endParaRPr lang="en-US" sz="1400" dirty="0"/>
          </a:p>
        </p:txBody>
      </p:sp>
      <p:sp>
        <p:nvSpPr>
          <p:cNvPr id="89" name="!!s11_a0"/>
          <p:cNvSpPr txBox="1"/>
          <p:nvPr/>
        </p:nvSpPr>
        <p:spPr>
          <a:xfrm>
            <a:off x="1426464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Tanio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Narzędzia AI są powszechne i często darmowe.</a:t>
            </a:r>
            <a:endParaRPr lang="en-US" sz="1500" dirty="0"/>
          </a:p>
        </p:txBody>
      </p:sp>
      <p:sp>
        <p:nvSpPr>
          <p:cNvPr id="90" name="!!s11_a1"/>
          <p:cNvSpPr txBox="1"/>
          <p:nvPr/>
        </p:nvSpPr>
        <p:spPr>
          <a:xfrm>
            <a:off x="15179040" y="2670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Szybko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Żadnych procedur, audytów ani zgód.</a:t>
            </a:r>
            <a:endParaRPr lang="en-US" sz="1500" dirty="0"/>
          </a:p>
        </p:txBody>
      </p:sp>
      <p:sp>
        <p:nvSpPr>
          <p:cNvPr id="91" name="!!s11_a2"/>
          <p:cNvSpPr txBox="1"/>
          <p:nvPr/>
        </p:nvSpPr>
        <p:spPr>
          <a:xfrm>
            <a:off x="16093440" y="32369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Jedno trafienie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Wystarczy, że raz się uda.</a:t>
            </a:r>
            <a:endParaRPr lang="en-US" sz="1500" dirty="0"/>
          </a:p>
        </p:txBody>
      </p:sp>
      <p:sp>
        <p:nvSpPr>
          <p:cNvPr id="92" name="!!s11_b0"/>
          <p:cNvSpPr txBox="1"/>
          <p:nvPr/>
        </p:nvSpPr>
        <p:spPr>
          <a:xfrm>
            <a:off x="2386584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Dane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Pełna widoczność własnej sieci.</a:t>
            </a:r>
            <a:endParaRPr lang="en-US" sz="1500" dirty="0"/>
          </a:p>
        </p:txBody>
      </p:sp>
      <p:sp>
        <p:nvSpPr>
          <p:cNvPr id="93" name="!!s11_b1"/>
          <p:cNvSpPr txBox="1"/>
          <p:nvPr/>
        </p:nvSpPr>
        <p:spPr>
          <a:xfrm>
            <a:off x="24780240" y="2670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Skala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chroni miliony urządzeń naraz.</a:t>
            </a:r>
            <a:endParaRPr lang="en-US" sz="1500" dirty="0"/>
          </a:p>
        </p:txBody>
      </p:sp>
      <p:sp>
        <p:nvSpPr>
          <p:cNvPr id="94" name="!!s11_b2"/>
          <p:cNvSpPr txBox="1"/>
          <p:nvPr/>
        </p:nvSpPr>
        <p:spPr>
          <a:xfrm>
            <a:off x="25694640" y="32369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Prewencja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Luki można łatać, zanim ktoś je wykorzysta.</a:t>
            </a:r>
            <a:endParaRPr lang="en-US" sz="1500" dirty="0"/>
          </a:p>
        </p:txBody>
      </p:sp>
      <p:sp>
        <p:nvSpPr>
          <p:cNvPr id="95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WERDYKT</a:t>
            </a:r>
            <a:endParaRPr lang="en-US" sz="1100" dirty="0"/>
          </a:p>
        </p:txBody>
      </p:sp>
      <p:sp>
        <p:nvSpPr>
          <p:cNvPr id="96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3</a:t>
            </a:r>
            <a:endParaRPr lang="en-US" sz="1100" dirty="0"/>
          </a:p>
        </p:txBody>
      </p:sp>
      <p:sp>
        <p:nvSpPr>
          <p:cNvPr id="97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8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9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0" name="!!tick2"/>
          <p:cNvSpPr/>
          <p:nvPr/>
        </p:nvSpPr>
        <p:spPr>
          <a:xfrm>
            <a:off x="98755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1" name="!!tick3"/>
          <p:cNvSpPr/>
          <p:nvPr/>
        </p:nvSpPr>
        <p:spPr>
          <a:xfrm>
            <a:off x="120700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2" name="!!tick4"/>
          <p:cNvSpPr/>
          <p:nvPr/>
        </p:nvSpPr>
        <p:spPr>
          <a:xfrm>
            <a:off x="1426464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3" name="!!tick5"/>
          <p:cNvSpPr/>
          <p:nvPr/>
        </p:nvSpPr>
        <p:spPr>
          <a:xfrm>
            <a:off x="164592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4" name="!!tick6"/>
          <p:cNvSpPr/>
          <p:nvPr/>
        </p:nvSpPr>
        <p:spPr>
          <a:xfrm>
            <a:off x="186537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5" name="!!tick7"/>
          <p:cNvSpPr/>
          <p:nvPr/>
        </p:nvSpPr>
        <p:spPr>
          <a:xfrm>
            <a:off x="208483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6" name="!!tick8"/>
          <p:cNvSpPr/>
          <p:nvPr/>
        </p:nvSpPr>
        <p:spPr>
          <a:xfrm>
            <a:off x="230428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7" name="!!tick9"/>
          <p:cNvSpPr/>
          <p:nvPr/>
        </p:nvSpPr>
        <p:spPr>
          <a:xfrm>
            <a:off x="2523744" y="6400800"/>
            <a:ext cx="45720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8" name="!!tick10"/>
          <p:cNvSpPr/>
          <p:nvPr/>
        </p:nvSpPr>
        <p:spPr>
          <a:xfrm>
            <a:off x="3054096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09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10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1100" dirty="0"/>
          </a:p>
        </p:txBody>
      </p:sp>
      <p:sp>
        <p:nvSpPr>
          <p:cNvPr id="111" name="!!lblA"/>
          <p:cNvSpPr txBox="1"/>
          <p:nvPr/>
        </p:nvSpPr>
        <p:spPr>
          <a:xfrm>
            <a:off x="640080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ATAKUJĄCY</a:t>
            </a:r>
            <a:endParaRPr lang="en-US" sz="1200" dirty="0"/>
          </a:p>
        </p:txBody>
      </p:sp>
      <p:sp>
        <p:nvSpPr>
          <p:cNvPr id="112" name="!!lblB"/>
          <p:cNvSpPr txBox="1"/>
          <p:nvPr/>
        </p:nvSpPr>
        <p:spPr>
          <a:xfrm>
            <a:off x="1042416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OBROŃCY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200">
        <p159:morph option="byCha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736385" y="-3236976"/>
            <a:ext cx="24384305" cy="1371600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8542609" y="4859625"/>
            <a:ext cx="169902" cy="169902"/>
          </a:xfrm>
          <a:prstGeom prst="ellipse">
            <a:avLst/>
          </a:prstGeom>
          <a:solidFill>
            <a:schemeClr val="accent3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9145292" y="2948792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11156956" y="-479567"/>
            <a:ext cx="156834" cy="156834"/>
          </a:xfrm>
          <a:prstGeom prst="ellipse">
            <a:avLst/>
          </a:prstGeom>
          <a:solidFill>
            <a:schemeClr val="accent3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7841167" y="-901334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5349582" y="7025043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3406079" y="9532006"/>
            <a:ext cx="647199" cy="647199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6361993" y="4792418"/>
            <a:ext cx="202991" cy="202991"/>
          </a:xfrm>
          <a:prstGeom prst="ellipse">
            <a:avLst/>
          </a:prstGeom>
          <a:solidFill>
            <a:schemeClr val="accent3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501704" y="-1967070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-2861875" y="3765346"/>
            <a:ext cx="167859" cy="167859"/>
          </a:xfrm>
          <a:prstGeom prst="ellipse">
            <a:avLst/>
          </a:prstGeom>
          <a:solidFill>
            <a:schemeClr val="accent3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2819210" y="5467324"/>
            <a:ext cx="1087278" cy="108727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10333565" y="6608505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37415" y="7883035"/>
            <a:ext cx="139775" cy="139775"/>
          </a:xfrm>
          <a:prstGeom prst="ellipse">
            <a:avLst/>
          </a:prstGeom>
          <a:solidFill>
            <a:schemeClr val="accent3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7955662" y="2182517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1382459" y="9062333"/>
            <a:ext cx="218591" cy="218591"/>
          </a:xfrm>
          <a:prstGeom prst="ellipse">
            <a:avLst/>
          </a:prstGeom>
          <a:solidFill>
            <a:schemeClr val="accent3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11450374" y="8359128"/>
            <a:ext cx="140841" cy="140841"/>
          </a:xfrm>
          <a:prstGeom prst="ellipse">
            <a:avLst/>
          </a:prstGeom>
          <a:solidFill>
            <a:schemeClr val="accent3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3730695" y="4130140"/>
            <a:ext cx="786257" cy="786257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17821661" y="9462580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8924696" y="5646196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7663239" y="5645557"/>
            <a:ext cx="1079414" cy="1079414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13113953" y="5822752"/>
            <a:ext cx="228948" cy="228948"/>
          </a:xfrm>
          <a:prstGeom prst="ellipse">
            <a:avLst/>
          </a:prstGeom>
          <a:solidFill>
            <a:schemeClr val="accent3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8990923" y="419895"/>
            <a:ext cx="191645" cy="191645"/>
          </a:xfrm>
          <a:prstGeom prst="ellipse">
            <a:avLst/>
          </a:prstGeom>
          <a:solidFill>
            <a:schemeClr val="accent3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1454385" y="-369886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2277504" y="8174354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4584402" y="3688215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2357111" y="4947557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10899681" y="-172220"/>
            <a:ext cx="227967" cy="227967"/>
          </a:xfrm>
          <a:prstGeom prst="ellipse">
            <a:avLst/>
          </a:prstGeom>
          <a:solidFill>
            <a:schemeClr val="accent3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10186726" y="-1713999"/>
            <a:ext cx="156456" cy="156456"/>
          </a:xfrm>
          <a:prstGeom prst="ellipse">
            <a:avLst/>
          </a:prstGeom>
          <a:solidFill>
            <a:schemeClr val="accent3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2103528" y="1708456"/>
            <a:ext cx="156446" cy="156446"/>
          </a:xfrm>
          <a:prstGeom prst="ellipse">
            <a:avLst/>
          </a:prstGeom>
          <a:solidFill>
            <a:schemeClr val="accent3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2381779" y="799737"/>
            <a:ext cx="236050" cy="236050"/>
          </a:xfrm>
          <a:prstGeom prst="ellipse">
            <a:avLst/>
          </a:prstGeom>
          <a:solidFill>
            <a:schemeClr val="accent3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12009382" y="-790193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4953458" y="5216257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9464886" y="6888537"/>
            <a:ext cx="595298" cy="59529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18099618" y="5390236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601773" y="7109168"/>
            <a:ext cx="204820" cy="204820"/>
          </a:xfrm>
          <a:prstGeom prst="ellipse">
            <a:avLst/>
          </a:prstGeom>
          <a:solidFill>
            <a:schemeClr val="accent3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11213844" y="4372710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10147391" y="4095201"/>
            <a:ext cx="171070" cy="171070"/>
          </a:xfrm>
          <a:prstGeom prst="ellipse">
            <a:avLst/>
          </a:prstGeom>
          <a:solidFill>
            <a:schemeClr val="accent3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16901241" y="3607203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2883615" y="-1258103"/>
            <a:ext cx="152405" cy="152405"/>
          </a:xfrm>
          <a:prstGeom prst="ellipse">
            <a:avLst/>
          </a:prstGeom>
          <a:solidFill>
            <a:schemeClr val="accent3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7187739" y="4444615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2226010" y="-1833442"/>
            <a:ext cx="107954" cy="107954"/>
          </a:xfrm>
          <a:prstGeom prst="ellipse">
            <a:avLst/>
          </a:prstGeom>
          <a:solidFill>
            <a:schemeClr val="accent3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7047878" y="8489526"/>
            <a:ext cx="116916" cy="116916"/>
          </a:xfrm>
          <a:prstGeom prst="ellipse">
            <a:avLst/>
          </a:prstGeom>
          <a:solidFill>
            <a:schemeClr val="accent3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6537251" y="4490790"/>
            <a:ext cx="238576" cy="238576"/>
          </a:xfrm>
          <a:prstGeom prst="ellipse">
            <a:avLst/>
          </a:prstGeom>
          <a:solidFill>
            <a:schemeClr val="accent3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3406372" y="2783420"/>
            <a:ext cx="231782" cy="231782"/>
          </a:xfrm>
          <a:prstGeom prst="ellipse">
            <a:avLst/>
          </a:prstGeom>
          <a:solidFill>
            <a:schemeClr val="accent3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9084558" y="6776636"/>
            <a:ext cx="559428" cy="55942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8415376" y="5011948"/>
            <a:ext cx="158543" cy="158543"/>
          </a:xfrm>
          <a:prstGeom prst="ellipse">
            <a:avLst/>
          </a:prstGeom>
          <a:solidFill>
            <a:schemeClr val="accent3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-1251514" y="6450182"/>
            <a:ext cx="205010" cy="205010"/>
          </a:xfrm>
          <a:prstGeom prst="ellipse">
            <a:avLst/>
          </a:prstGeom>
          <a:solidFill>
            <a:schemeClr val="accent3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8668135" y="8939152"/>
            <a:ext cx="171511" cy="171511"/>
          </a:xfrm>
          <a:prstGeom prst="ellipse">
            <a:avLst/>
          </a:prstGeom>
          <a:solidFill>
            <a:schemeClr val="accent3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11497636" y="4779867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-1093420" y="6369748"/>
            <a:ext cx="160209" cy="160209"/>
          </a:xfrm>
          <a:prstGeom prst="ellipse">
            <a:avLst/>
          </a:prstGeom>
          <a:solidFill>
            <a:schemeClr val="accent3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2154102" y="7001407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9136613" y="-244969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-1780508" y="1451025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aOrb" descr="Rdzeń AI atakujący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556" y="4170216"/>
            <a:ext cx="1609344" cy="1609344"/>
          </a:xfrm>
          <a:prstGeom prst="rect">
            <a:avLst/>
          </a:prstGeom>
        </p:spPr>
      </p:pic>
      <p:pic>
        <p:nvPicPr>
          <p:cNvPr id="58" name="!!bOrb" descr="Rdzeń AI obrońcó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196" y="3323292"/>
            <a:ext cx="1609344" cy="1609344"/>
          </a:xfrm>
          <a:prstGeom prst="rect">
            <a:avLst/>
          </a:prstGeom>
        </p:spPr>
      </p:pic>
      <p:sp>
        <p:nvSpPr>
          <p:cNvPr id="59" name="!!beam"/>
          <p:cNvSpPr/>
          <p:nvPr/>
        </p:nvSpPr>
        <p:spPr>
          <a:xfrm rot="-420000">
            <a:off x="2624328" y="4997196"/>
            <a:ext cx="6949440" cy="64008"/>
          </a:xfrm>
          <a:prstGeom prst="rect">
            <a:avLst/>
          </a:prstGeom>
          <a:solidFill>
            <a:schemeClr val="bg1">
              <a:alpha val="85000"/>
            </a:schemeClr>
          </a:solidFill>
          <a:ln/>
        </p:spPr>
      </p:sp>
      <p:sp>
        <p:nvSpPr>
          <p:cNvPr id="60" name="!!fulcrum"/>
          <p:cNvSpPr/>
          <p:nvPr/>
        </p:nvSpPr>
        <p:spPr>
          <a:xfrm>
            <a:off x="5806440" y="5074920"/>
            <a:ext cx="585216" cy="640080"/>
          </a:xfrm>
          <a:prstGeom prst="triangle">
            <a:avLst/>
          </a:prstGeom>
          <a:solidFill>
            <a:schemeClr val="bg2">
              <a:alpha val="45000"/>
            </a:schemeClr>
          </a:solidFill>
          <a:ln/>
        </p:spPr>
      </p:sp>
      <p:sp>
        <p:nvSpPr>
          <p:cNvPr id="61" name="!!pivot"/>
          <p:cNvSpPr/>
          <p:nvPr/>
        </p:nvSpPr>
        <p:spPr>
          <a:xfrm>
            <a:off x="6016752" y="4946904"/>
            <a:ext cx="164592" cy="16459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2" name="!!ring1"/>
          <p:cNvSpPr/>
          <p:nvPr/>
        </p:nvSpPr>
        <p:spPr>
          <a:xfrm rot="19200000">
            <a:off x="155448" y="-914400"/>
            <a:ext cx="11887200" cy="1188720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3">
                <a:alpha val="15000"/>
              </a:schemeClr>
            </a:solidFill>
            <a:prstDash val="solid"/>
          </a:ln>
        </p:spPr>
      </p:sp>
      <p:sp>
        <p:nvSpPr>
          <p:cNvPr id="63" name="!!ring2"/>
          <p:cNvSpPr/>
          <p:nvPr/>
        </p:nvSpPr>
        <p:spPr>
          <a:xfrm rot="9600000">
            <a:off x="-676656" y="-1746504"/>
            <a:ext cx="13551408" cy="13551408"/>
          </a:xfrm>
          <a:prstGeom prst="ellipse">
            <a:avLst/>
          </a:prstGeom>
          <a:noFill/>
          <a:ln w="9525">
            <a:solidFill>
              <a:schemeClr val="bg1">
                <a:alpha val="5000"/>
              </a:schemeClr>
            </a:solidFill>
            <a:prstDash val="dash"/>
          </a:ln>
        </p:spPr>
      </p:sp>
      <p:sp>
        <p:nvSpPr>
          <p:cNvPr id="64" name="!!ring3"/>
          <p:cNvSpPr/>
          <p:nvPr/>
        </p:nvSpPr>
        <p:spPr>
          <a:xfrm rot="1800000">
            <a:off x="868680" y="-201168"/>
            <a:ext cx="10460736" cy="10460736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5" name="!!flare"/>
          <p:cNvSpPr/>
          <p:nvPr/>
        </p:nvSpPr>
        <p:spPr>
          <a:xfrm>
            <a:off x="612648" y="4983480"/>
            <a:ext cx="10972800" cy="91440"/>
          </a:xfrm>
          <a:prstGeom prst="ellipse">
            <a:avLst/>
          </a:prstGeom>
          <a:solidFill>
            <a:schemeClr val="accent3">
              <a:alpha val="20000"/>
            </a:schemeClr>
          </a:solidFill>
          <a:ln/>
          <a:effectLst>
            <a:softEdge rad="36576"/>
          </a:effectLst>
        </p:spPr>
      </p:sp>
      <p:sp>
        <p:nvSpPr>
          <p:cNvPr id="66" name="!!bigword"/>
          <p:cNvSpPr txBox="1"/>
          <p:nvPr/>
        </p:nvSpPr>
        <p:spPr>
          <a:xfrm>
            <a:off x="-914400" y="4480560"/>
            <a:ext cx="1645920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chemeClr val="accent3">
                    <a:alpha val="6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WERDYKT</a:t>
            </a:r>
            <a:endParaRPr lang="en-US" sz="20000" dirty="0"/>
          </a:p>
        </p:txBody>
      </p:sp>
      <p:sp>
        <p:nvSpPr>
          <p:cNvPr id="67" name="!!s10_num"/>
          <p:cNvSpPr txBox="1"/>
          <p:nvPr/>
        </p:nvSpPr>
        <p:spPr>
          <a:xfrm>
            <a:off x="-1586484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</a:t>
            </a:r>
            <a:endParaRPr lang="en-US" sz="2400" dirty="0"/>
          </a:p>
        </p:txBody>
      </p:sp>
      <p:sp>
        <p:nvSpPr>
          <p:cNvPr id="68" name="!!s10_sub"/>
          <p:cNvSpPr txBox="1"/>
          <p:nvPr/>
        </p:nvSpPr>
        <p:spPr>
          <a:xfrm>
            <a:off x="-1769364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Kto wygrywa ten wyścig?</a:t>
            </a:r>
            <a:endParaRPr lang="en-US" sz="2400" dirty="0"/>
          </a:p>
        </p:txBody>
      </p:sp>
      <p:sp>
        <p:nvSpPr>
          <p:cNvPr id="69" name="!!s10_chip"/>
          <p:cNvSpPr/>
          <p:nvPr/>
        </p:nvSpPr>
        <p:spPr>
          <a:xfrm>
            <a:off x="-21351240" y="4434840"/>
            <a:ext cx="2514600" cy="457200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!!s10_chipT"/>
          <p:cNvSpPr txBox="1"/>
          <p:nvPr/>
        </p:nvSpPr>
        <p:spPr>
          <a:xfrm>
            <a:off x="-2135124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3</a:t>
            </a:r>
            <a:endParaRPr lang="en-US" sz="1400" dirty="0"/>
          </a:p>
        </p:txBody>
      </p:sp>
      <p:sp>
        <p:nvSpPr>
          <p:cNvPr id="71" name="!!s11_title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Dziś szala przechyla się ku atakującym</a:t>
            </a:r>
            <a:endParaRPr lang="en-US" sz="3600" dirty="0"/>
          </a:p>
        </p:txBody>
      </p:sp>
      <p:sp>
        <p:nvSpPr>
          <p:cNvPr id="72" name="!!s11_hA"/>
          <p:cNvSpPr txBox="1"/>
          <p:nvPr/>
        </p:nvSpPr>
        <p:spPr>
          <a:xfrm>
            <a:off x="5486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 STRONIE ATAKUJĄCYCH</a:t>
            </a:r>
            <a:endParaRPr lang="en-US" sz="1400" dirty="0"/>
          </a:p>
        </p:txBody>
      </p:sp>
      <p:sp>
        <p:nvSpPr>
          <p:cNvPr id="73" name="!!s11_hB"/>
          <p:cNvSpPr txBox="1"/>
          <p:nvPr/>
        </p:nvSpPr>
        <p:spPr>
          <a:xfrm>
            <a:off x="64922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ATUTY OBROŃCÓW</a:t>
            </a:r>
            <a:endParaRPr lang="en-US" sz="1400" dirty="0"/>
          </a:p>
        </p:txBody>
      </p:sp>
      <p:sp>
        <p:nvSpPr>
          <p:cNvPr id="74" name="!!s11_a0"/>
          <p:cNvSpPr txBox="1"/>
          <p:nvPr/>
        </p:nvSpPr>
        <p:spPr>
          <a:xfrm>
            <a:off x="54864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Tanio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Narzędzia AI są powszechne i często darmowe.</a:t>
            </a:r>
            <a:endParaRPr lang="en-US" sz="1500" dirty="0"/>
          </a:p>
        </p:txBody>
      </p:sp>
      <p:sp>
        <p:nvSpPr>
          <p:cNvPr id="75" name="!!s11_a1"/>
          <p:cNvSpPr txBox="1"/>
          <p:nvPr/>
        </p:nvSpPr>
        <p:spPr>
          <a:xfrm>
            <a:off x="548640" y="2670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Szybko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Żadnych procedur, audytów ani zgód.</a:t>
            </a:r>
            <a:endParaRPr lang="en-US" sz="1500" dirty="0"/>
          </a:p>
        </p:txBody>
      </p:sp>
      <p:sp>
        <p:nvSpPr>
          <p:cNvPr id="76" name="!!s11_a2"/>
          <p:cNvSpPr txBox="1"/>
          <p:nvPr/>
        </p:nvSpPr>
        <p:spPr>
          <a:xfrm>
            <a:off x="548640" y="32369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Jedno trafienie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Wystarczy, że raz się uda.</a:t>
            </a:r>
            <a:endParaRPr lang="en-US" sz="1500" dirty="0"/>
          </a:p>
        </p:txBody>
      </p:sp>
      <p:sp>
        <p:nvSpPr>
          <p:cNvPr id="77" name="!!s11_b0"/>
          <p:cNvSpPr txBox="1"/>
          <p:nvPr/>
        </p:nvSpPr>
        <p:spPr>
          <a:xfrm>
            <a:off x="649224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Dane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Pełna widoczność własnej sieci.</a:t>
            </a:r>
            <a:endParaRPr lang="en-US" sz="1500" dirty="0"/>
          </a:p>
        </p:txBody>
      </p:sp>
      <p:sp>
        <p:nvSpPr>
          <p:cNvPr id="78" name="!!s11_b1"/>
          <p:cNvSpPr txBox="1"/>
          <p:nvPr/>
        </p:nvSpPr>
        <p:spPr>
          <a:xfrm>
            <a:off x="6492240" y="2670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Skala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chroni miliony urządzeń naraz.</a:t>
            </a:r>
            <a:endParaRPr lang="en-US" sz="1500" dirty="0"/>
          </a:p>
        </p:txBody>
      </p:sp>
      <p:sp>
        <p:nvSpPr>
          <p:cNvPr id="79" name="!!s11_b2"/>
          <p:cNvSpPr txBox="1"/>
          <p:nvPr/>
        </p:nvSpPr>
        <p:spPr>
          <a:xfrm>
            <a:off x="6492240" y="32369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Prewencja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Luki można łatać, zanim ktoś je wykorzysta.</a:t>
            </a:r>
            <a:endParaRPr lang="en-US" sz="1500" dirty="0"/>
          </a:p>
        </p:txBody>
      </p:sp>
      <p:sp>
        <p:nvSpPr>
          <p:cNvPr id="80" name="!!s12_h1"/>
          <p:cNvSpPr txBox="1"/>
          <p:nvPr/>
        </p:nvSpPr>
        <p:spPr>
          <a:xfrm>
            <a:off x="548640" y="-45720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NIE WYBIERA STRON.</a:t>
            </a:r>
            <a:endParaRPr lang="en-US" sz="4400" dirty="0"/>
          </a:p>
        </p:txBody>
      </p:sp>
      <p:sp>
        <p:nvSpPr>
          <p:cNvPr id="81" name="!!s12_h2"/>
          <p:cNvSpPr txBox="1"/>
          <p:nvPr/>
        </p:nvSpPr>
        <p:spPr>
          <a:xfrm>
            <a:off x="548640" y="-47091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Wybierają ludzie.</a:t>
            </a:r>
            <a:endParaRPr lang="en-US" sz="3000" dirty="0"/>
          </a:p>
        </p:txBody>
      </p:sp>
      <p:pic>
        <p:nvPicPr>
          <p:cNvPr id="82" name="!!s12_ti0" descr="Weryfikuj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3360" y="2743200"/>
            <a:ext cx="411480" cy="411480"/>
          </a:xfrm>
          <a:prstGeom prst="rect">
            <a:avLst/>
          </a:prstGeom>
        </p:spPr>
      </p:pic>
      <p:sp>
        <p:nvSpPr>
          <p:cNvPr id="83" name="!!s12_th0"/>
          <p:cNvSpPr txBox="1"/>
          <p:nvPr/>
        </p:nvSpPr>
        <p:spPr>
          <a:xfrm>
            <a:off x="160020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Weryfikuj</a:t>
            </a:r>
            <a:endParaRPr lang="en-US" sz="1700" dirty="0"/>
          </a:p>
        </p:txBody>
      </p:sp>
      <p:sp>
        <p:nvSpPr>
          <p:cNvPr id="84" name="!!s12_td0"/>
          <p:cNvSpPr txBox="1"/>
          <p:nvPr/>
        </p:nvSpPr>
        <p:spPr>
          <a:xfrm>
            <a:off x="16002000" y="3127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Głos i obraz można podrobić — potwierdzaj innym kanałem.</a:t>
            </a:r>
            <a:endParaRPr lang="en-US" sz="1400" dirty="0"/>
          </a:p>
        </p:txBody>
      </p:sp>
      <p:pic>
        <p:nvPicPr>
          <p:cNvPr id="85" name="!!s12_ti1" descr="Automatyzuj obronę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39760" y="2743200"/>
            <a:ext cx="411480" cy="411480"/>
          </a:xfrm>
          <a:prstGeom prst="rect">
            <a:avLst/>
          </a:prstGeom>
        </p:spPr>
      </p:pic>
      <p:sp>
        <p:nvSpPr>
          <p:cNvPr id="86" name="!!s12_th1"/>
          <p:cNvSpPr txBox="1"/>
          <p:nvPr/>
        </p:nvSpPr>
        <p:spPr>
          <a:xfrm>
            <a:off x="214884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Automatyzuj obronę</a:t>
            </a:r>
            <a:endParaRPr lang="en-US" sz="1700" dirty="0"/>
          </a:p>
        </p:txBody>
      </p:sp>
      <p:sp>
        <p:nvSpPr>
          <p:cNvPr id="87" name="!!s12_td1"/>
          <p:cNvSpPr txBox="1"/>
          <p:nvPr/>
        </p:nvSpPr>
        <p:spPr>
          <a:xfrm>
            <a:off x="21488400" y="3127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Na tempo maszyn odpowiadaj maszynami.</a:t>
            </a:r>
            <a:endParaRPr lang="en-US" sz="1400" dirty="0"/>
          </a:p>
        </p:txBody>
      </p:sp>
      <p:pic>
        <p:nvPicPr>
          <p:cNvPr id="88" name="!!s12_ti2" descr="Inwestuj w ludz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6160" y="2743200"/>
            <a:ext cx="411480" cy="411480"/>
          </a:xfrm>
          <a:prstGeom prst="rect">
            <a:avLst/>
          </a:prstGeom>
        </p:spPr>
      </p:pic>
      <p:sp>
        <p:nvSpPr>
          <p:cNvPr id="89" name="!!s12_th2"/>
          <p:cNvSpPr txBox="1"/>
          <p:nvPr/>
        </p:nvSpPr>
        <p:spPr>
          <a:xfrm>
            <a:off x="269748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Inwestuj w ludzi</a:t>
            </a:r>
            <a:endParaRPr lang="en-US" sz="1700" dirty="0"/>
          </a:p>
        </p:txBody>
      </p:sp>
      <p:sp>
        <p:nvSpPr>
          <p:cNvPr id="90" name="!!s12_td2"/>
          <p:cNvSpPr txBox="1"/>
          <p:nvPr/>
        </p:nvSpPr>
        <p:spPr>
          <a:xfrm>
            <a:off x="26974800" y="3127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wzmacnia specjalistów, nie zastępuje ich.</a:t>
            </a:r>
            <a:endParaRPr lang="en-US" sz="1400" dirty="0"/>
          </a:p>
        </p:txBody>
      </p:sp>
      <p:sp>
        <p:nvSpPr>
          <p:cNvPr id="91" name="!!s12_thanks"/>
          <p:cNvSpPr txBox="1"/>
          <p:nvPr/>
        </p:nvSpPr>
        <p:spPr>
          <a:xfrm>
            <a:off x="3355848" y="8732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DZIĘKUJEMY  ·  PYTANIA?</a:t>
            </a:r>
            <a:endParaRPr lang="en-US" sz="1400" dirty="0"/>
          </a:p>
        </p:txBody>
      </p:sp>
      <p:sp>
        <p:nvSpPr>
          <p:cNvPr id="92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WERDYKT</a:t>
            </a:r>
            <a:endParaRPr lang="en-US" sz="1100" dirty="0"/>
          </a:p>
        </p:txBody>
      </p:sp>
      <p:sp>
        <p:nvSpPr>
          <p:cNvPr id="93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3</a:t>
            </a:r>
            <a:endParaRPr lang="en-US" sz="1100" dirty="0"/>
          </a:p>
        </p:txBody>
      </p:sp>
      <p:sp>
        <p:nvSpPr>
          <p:cNvPr id="94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5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6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7" name="!!tick2"/>
          <p:cNvSpPr/>
          <p:nvPr/>
        </p:nvSpPr>
        <p:spPr>
          <a:xfrm>
            <a:off x="98755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8" name="!!tick3"/>
          <p:cNvSpPr/>
          <p:nvPr/>
        </p:nvSpPr>
        <p:spPr>
          <a:xfrm>
            <a:off x="120700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9" name="!!tick4"/>
          <p:cNvSpPr/>
          <p:nvPr/>
        </p:nvSpPr>
        <p:spPr>
          <a:xfrm>
            <a:off x="1426464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0" name="!!tick5"/>
          <p:cNvSpPr/>
          <p:nvPr/>
        </p:nvSpPr>
        <p:spPr>
          <a:xfrm>
            <a:off x="164592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1" name="!!tick6"/>
          <p:cNvSpPr/>
          <p:nvPr/>
        </p:nvSpPr>
        <p:spPr>
          <a:xfrm>
            <a:off x="186537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2" name="!!tick7"/>
          <p:cNvSpPr/>
          <p:nvPr/>
        </p:nvSpPr>
        <p:spPr>
          <a:xfrm>
            <a:off x="208483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3" name="!!tick8"/>
          <p:cNvSpPr/>
          <p:nvPr/>
        </p:nvSpPr>
        <p:spPr>
          <a:xfrm>
            <a:off x="230428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4" name="!!tick9"/>
          <p:cNvSpPr/>
          <p:nvPr/>
        </p:nvSpPr>
        <p:spPr>
          <a:xfrm>
            <a:off x="2523744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5" name="!!tick10"/>
          <p:cNvSpPr/>
          <p:nvPr/>
        </p:nvSpPr>
        <p:spPr>
          <a:xfrm>
            <a:off x="2743200" y="6400800"/>
            <a:ext cx="45720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6" name="!!tick11"/>
          <p:cNvSpPr/>
          <p:nvPr/>
        </p:nvSpPr>
        <p:spPr>
          <a:xfrm>
            <a:off x="3273552" y="6400800"/>
            <a:ext cx="146304" cy="45720"/>
          </a:xfrm>
          <a:prstGeom prst="rect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07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1100" dirty="0"/>
          </a:p>
        </p:txBody>
      </p:sp>
      <p:sp>
        <p:nvSpPr>
          <p:cNvPr id="108" name="!!lblA"/>
          <p:cNvSpPr txBox="1"/>
          <p:nvPr/>
        </p:nvSpPr>
        <p:spPr>
          <a:xfrm>
            <a:off x="1552948" y="558982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ATAKUJĄCY</a:t>
            </a:r>
            <a:endParaRPr lang="en-US" sz="1200" dirty="0"/>
          </a:p>
        </p:txBody>
      </p:sp>
      <p:sp>
        <p:nvSpPr>
          <p:cNvPr id="109" name="!!lblB"/>
          <p:cNvSpPr txBox="1"/>
          <p:nvPr/>
        </p:nvSpPr>
        <p:spPr>
          <a:xfrm>
            <a:off x="8450588" y="474289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OBROŃCY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world" descr="Tło: sieć połą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857025" y="-2939247"/>
            <a:ext cx="22433560" cy="12618720"/>
          </a:xfrm>
          <a:prstGeom prst="rect">
            <a:avLst/>
          </a:prstGeom>
        </p:spPr>
      </p:pic>
      <p:sp>
        <p:nvSpPr>
          <p:cNvPr id="3" name="!!p0"/>
          <p:cNvSpPr/>
          <p:nvPr/>
        </p:nvSpPr>
        <p:spPr>
          <a:xfrm>
            <a:off x="8277873" y="4436047"/>
            <a:ext cx="169902" cy="169902"/>
          </a:xfrm>
          <a:prstGeom prst="ellipse">
            <a:avLst/>
          </a:prstGeom>
          <a:solidFill>
            <a:schemeClr val="accent3">
              <a:alpha val="30969"/>
            </a:schemeClr>
          </a:solidFill>
          <a:ln/>
          <a:effectLst>
            <a:softEdge rad="71359"/>
          </a:effectLst>
        </p:spPr>
      </p:sp>
      <p:sp>
        <p:nvSpPr>
          <p:cNvPr id="4" name="!!p1"/>
          <p:cNvSpPr/>
          <p:nvPr/>
        </p:nvSpPr>
        <p:spPr>
          <a:xfrm>
            <a:off x="9034457" y="2771457"/>
            <a:ext cx="108342" cy="108342"/>
          </a:xfrm>
          <a:prstGeom prst="ellipse">
            <a:avLst/>
          </a:prstGeom>
          <a:solidFill>
            <a:schemeClr val="bg1">
              <a:alpha val="45798"/>
            </a:schemeClr>
          </a:solidFill>
          <a:ln/>
          <a:effectLst>
            <a:softEdge rad="45504"/>
          </a:effectLst>
        </p:spPr>
      </p:sp>
      <p:sp>
        <p:nvSpPr>
          <p:cNvPr id="5" name="!!p2"/>
          <p:cNvSpPr/>
          <p:nvPr/>
        </p:nvSpPr>
        <p:spPr>
          <a:xfrm>
            <a:off x="10924890" y="-850873"/>
            <a:ext cx="156834" cy="156834"/>
          </a:xfrm>
          <a:prstGeom prst="ellipse">
            <a:avLst/>
          </a:prstGeom>
          <a:solidFill>
            <a:schemeClr val="accent3">
              <a:alpha val="57859"/>
            </a:schemeClr>
          </a:solidFill>
          <a:ln/>
          <a:effectLst>
            <a:softEdge rad="65870"/>
          </a:effectLst>
        </p:spPr>
      </p:sp>
      <p:sp>
        <p:nvSpPr>
          <p:cNvPr id="6" name="!!p3"/>
          <p:cNvSpPr/>
          <p:nvPr/>
        </p:nvSpPr>
        <p:spPr>
          <a:xfrm>
            <a:off x="7617681" y="-1258913"/>
            <a:ext cx="153403" cy="153403"/>
          </a:xfrm>
          <a:prstGeom prst="ellipse">
            <a:avLst/>
          </a:prstGeom>
          <a:solidFill>
            <a:schemeClr val="bg1">
              <a:alpha val="41117"/>
            </a:schemeClr>
          </a:solidFill>
          <a:ln/>
          <a:effectLst>
            <a:softEdge rad="64429"/>
          </a:effectLst>
        </p:spPr>
      </p:sp>
      <p:sp>
        <p:nvSpPr>
          <p:cNvPr id="7" name="!!p4"/>
          <p:cNvSpPr/>
          <p:nvPr/>
        </p:nvSpPr>
        <p:spPr>
          <a:xfrm>
            <a:off x="15118072" y="6654626"/>
            <a:ext cx="156612" cy="156612"/>
          </a:xfrm>
          <a:prstGeom prst="ellipse">
            <a:avLst/>
          </a:prstGeom>
          <a:solidFill>
            <a:schemeClr val="bg1">
              <a:alpha val="52296"/>
            </a:schemeClr>
          </a:solidFill>
          <a:ln/>
          <a:effectLst>
            <a:softEdge rad="65777"/>
          </a:effectLst>
        </p:spPr>
      </p:sp>
      <p:sp>
        <p:nvSpPr>
          <p:cNvPr id="8" name="!!p5"/>
          <p:cNvSpPr/>
          <p:nvPr/>
        </p:nvSpPr>
        <p:spPr>
          <a:xfrm>
            <a:off x="13234030" y="9256728"/>
            <a:ext cx="647199" cy="647199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71824"/>
          </a:effectLst>
        </p:spPr>
      </p:sp>
      <p:sp>
        <p:nvSpPr>
          <p:cNvPr id="9" name="!!p6"/>
          <p:cNvSpPr/>
          <p:nvPr/>
        </p:nvSpPr>
        <p:spPr>
          <a:xfrm>
            <a:off x="6014535" y="4236485"/>
            <a:ext cx="202991" cy="202991"/>
          </a:xfrm>
          <a:prstGeom prst="ellipse">
            <a:avLst/>
          </a:prstGeom>
          <a:solidFill>
            <a:schemeClr val="accent3">
              <a:alpha val="31180"/>
            </a:schemeClr>
          </a:solidFill>
          <a:ln/>
          <a:effectLst>
            <a:softEdge rad="85256"/>
          </a:effectLst>
        </p:spPr>
      </p:sp>
      <p:sp>
        <p:nvSpPr>
          <p:cNvPr id="10" name="!!p7"/>
          <p:cNvSpPr/>
          <p:nvPr/>
        </p:nvSpPr>
        <p:spPr>
          <a:xfrm>
            <a:off x="116389" y="-2583575"/>
            <a:ext cx="218134" cy="218134"/>
          </a:xfrm>
          <a:prstGeom prst="ellipse">
            <a:avLst/>
          </a:prstGeom>
          <a:solidFill>
            <a:schemeClr val="bg1">
              <a:alpha val="61931"/>
            </a:schemeClr>
          </a:solidFill>
          <a:ln/>
          <a:effectLst>
            <a:softEdge rad="91616"/>
          </a:effectLst>
        </p:spPr>
      </p:sp>
      <p:sp>
        <p:nvSpPr>
          <p:cNvPr id="11" name="!!p8"/>
          <p:cNvSpPr/>
          <p:nvPr/>
        </p:nvSpPr>
        <p:spPr>
          <a:xfrm>
            <a:off x="-3121502" y="3349944"/>
            <a:ext cx="167859" cy="167859"/>
          </a:xfrm>
          <a:prstGeom prst="ellipse">
            <a:avLst/>
          </a:prstGeom>
          <a:solidFill>
            <a:schemeClr val="accent3">
              <a:alpha val="35631"/>
            </a:schemeClr>
          </a:solidFill>
          <a:ln/>
          <a:effectLst>
            <a:softEdge rad="70501"/>
          </a:effectLst>
        </p:spPr>
      </p:sp>
      <p:sp>
        <p:nvSpPr>
          <p:cNvPr id="12" name="!!p9"/>
          <p:cNvSpPr/>
          <p:nvPr/>
        </p:nvSpPr>
        <p:spPr>
          <a:xfrm>
            <a:off x="2507218" y="4968137"/>
            <a:ext cx="1087278" cy="108727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456657"/>
          </a:effectLst>
        </p:spPr>
      </p:sp>
      <p:sp>
        <p:nvSpPr>
          <p:cNvPr id="13" name="!!p10"/>
          <p:cNvSpPr/>
          <p:nvPr/>
        </p:nvSpPr>
        <p:spPr>
          <a:xfrm>
            <a:off x="-10582106" y="6210840"/>
            <a:ext cx="163424" cy="163424"/>
          </a:xfrm>
          <a:prstGeom prst="ellipse">
            <a:avLst/>
          </a:prstGeom>
          <a:solidFill>
            <a:schemeClr val="bg1">
              <a:alpha val="48223"/>
            </a:schemeClr>
          </a:solidFill>
          <a:ln/>
          <a:effectLst>
            <a:softEdge rad="68638"/>
          </a:effectLst>
        </p:spPr>
      </p:sp>
      <p:sp>
        <p:nvSpPr>
          <p:cNvPr id="14" name="!!p11"/>
          <p:cNvSpPr/>
          <p:nvPr/>
        </p:nvSpPr>
        <p:spPr>
          <a:xfrm>
            <a:off x="-152002" y="7579968"/>
            <a:ext cx="139775" cy="139775"/>
          </a:xfrm>
          <a:prstGeom prst="ellipse">
            <a:avLst/>
          </a:prstGeom>
          <a:solidFill>
            <a:schemeClr val="accent3">
              <a:alpha val="58593"/>
            </a:schemeClr>
          </a:solidFill>
          <a:ln/>
          <a:effectLst>
            <a:softEdge rad="58705"/>
          </a:effectLst>
        </p:spPr>
      </p:sp>
      <p:sp>
        <p:nvSpPr>
          <p:cNvPr id="15" name="!!p12"/>
          <p:cNvSpPr/>
          <p:nvPr/>
        </p:nvSpPr>
        <p:spPr>
          <a:xfrm>
            <a:off x="-8262707" y="1691245"/>
            <a:ext cx="186826" cy="186826"/>
          </a:xfrm>
          <a:prstGeom prst="ellipse">
            <a:avLst/>
          </a:prstGeom>
          <a:solidFill>
            <a:schemeClr val="bg1">
              <a:alpha val="49895"/>
            </a:schemeClr>
          </a:solidFill>
          <a:ln/>
          <a:effectLst>
            <a:softEdge rad="78467"/>
          </a:effectLst>
        </p:spPr>
      </p:sp>
      <p:sp>
        <p:nvSpPr>
          <p:cNvPr id="16" name="!!p13"/>
          <p:cNvSpPr/>
          <p:nvPr/>
        </p:nvSpPr>
        <p:spPr>
          <a:xfrm>
            <a:off x="996000" y="8443999"/>
            <a:ext cx="218591" cy="218591"/>
          </a:xfrm>
          <a:prstGeom prst="ellipse">
            <a:avLst/>
          </a:prstGeom>
          <a:solidFill>
            <a:schemeClr val="accent3">
              <a:alpha val="41514"/>
            </a:schemeClr>
          </a:solidFill>
          <a:ln/>
          <a:effectLst>
            <a:softEdge rad="91808"/>
          </a:effectLst>
        </p:spPr>
      </p:sp>
      <p:sp>
        <p:nvSpPr>
          <p:cNvPr id="17" name="!!p14"/>
          <p:cNvSpPr/>
          <p:nvPr/>
        </p:nvSpPr>
        <p:spPr>
          <a:xfrm>
            <a:off x="-11642457" y="8051795"/>
            <a:ext cx="140841" cy="140841"/>
          </a:xfrm>
          <a:prstGeom prst="ellipse">
            <a:avLst/>
          </a:prstGeom>
          <a:solidFill>
            <a:schemeClr val="accent3">
              <a:alpha val="52936"/>
            </a:schemeClr>
          </a:solidFill>
          <a:ln/>
          <a:effectLst>
            <a:softEdge rad="59153"/>
          </a:effectLst>
        </p:spPr>
      </p:sp>
      <p:sp>
        <p:nvSpPr>
          <p:cNvPr id="18" name="!!p15"/>
          <p:cNvSpPr/>
          <p:nvPr/>
        </p:nvSpPr>
        <p:spPr>
          <a:xfrm>
            <a:off x="13604359" y="3928003"/>
            <a:ext cx="786257" cy="786257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330228"/>
          </a:effectLst>
        </p:spPr>
      </p:sp>
      <p:sp>
        <p:nvSpPr>
          <p:cNvPr id="19" name="!!p16"/>
          <p:cNvSpPr/>
          <p:nvPr/>
        </p:nvSpPr>
        <p:spPr>
          <a:xfrm>
            <a:off x="17539774" y="9011561"/>
            <a:ext cx="176763" cy="176763"/>
          </a:xfrm>
          <a:prstGeom prst="ellipse">
            <a:avLst/>
          </a:prstGeom>
          <a:solidFill>
            <a:schemeClr val="bg1">
              <a:alpha val="41072"/>
            </a:schemeClr>
          </a:solidFill>
          <a:ln/>
          <a:effectLst>
            <a:softEdge rad="74240"/>
          </a:effectLst>
        </p:spPr>
      </p:sp>
      <p:sp>
        <p:nvSpPr>
          <p:cNvPr id="20" name="!!p17"/>
          <p:cNvSpPr/>
          <p:nvPr/>
        </p:nvSpPr>
        <p:spPr>
          <a:xfrm>
            <a:off x="-9211400" y="5187470"/>
            <a:ext cx="178689" cy="178689"/>
          </a:xfrm>
          <a:prstGeom prst="ellipse">
            <a:avLst/>
          </a:prstGeom>
          <a:solidFill>
            <a:schemeClr val="bg1">
              <a:alpha val="38968"/>
            </a:schemeClr>
          </a:solidFill>
          <a:ln/>
          <a:effectLst>
            <a:softEdge rad="75050"/>
          </a:effectLst>
        </p:spPr>
      </p:sp>
      <p:sp>
        <p:nvSpPr>
          <p:cNvPr id="21" name="!!p18"/>
          <p:cNvSpPr/>
          <p:nvPr/>
        </p:nvSpPr>
        <p:spPr>
          <a:xfrm>
            <a:off x="-7998924" y="5108461"/>
            <a:ext cx="1079414" cy="1079414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453354"/>
          </a:effectLst>
        </p:spPr>
      </p:sp>
      <p:sp>
        <p:nvSpPr>
          <p:cNvPr id="22" name="!!p19"/>
          <p:cNvSpPr/>
          <p:nvPr/>
        </p:nvSpPr>
        <p:spPr>
          <a:xfrm>
            <a:off x="12701603" y="5162992"/>
            <a:ext cx="228948" cy="228948"/>
          </a:xfrm>
          <a:prstGeom prst="ellipse">
            <a:avLst/>
          </a:prstGeom>
          <a:solidFill>
            <a:schemeClr val="accent3">
              <a:alpha val="62147"/>
            </a:schemeClr>
          </a:solidFill>
          <a:ln/>
          <a:effectLst>
            <a:softEdge rad="96158"/>
          </a:effectLst>
        </p:spPr>
      </p:sp>
      <p:sp>
        <p:nvSpPr>
          <p:cNvPr id="23" name="!!p20"/>
          <p:cNvSpPr/>
          <p:nvPr/>
        </p:nvSpPr>
        <p:spPr>
          <a:xfrm>
            <a:off x="8671830" y="-90654"/>
            <a:ext cx="191645" cy="191645"/>
          </a:xfrm>
          <a:prstGeom prst="ellipse">
            <a:avLst/>
          </a:prstGeom>
          <a:solidFill>
            <a:schemeClr val="accent3">
              <a:alpha val="36275"/>
            </a:schemeClr>
          </a:solidFill>
          <a:ln/>
          <a:effectLst>
            <a:softEdge rad="80491"/>
          </a:effectLst>
        </p:spPr>
      </p:sp>
      <p:sp>
        <p:nvSpPr>
          <p:cNvPr id="24" name="!!p21"/>
          <p:cNvSpPr/>
          <p:nvPr/>
        </p:nvSpPr>
        <p:spPr>
          <a:xfrm>
            <a:off x="1339276" y="-554061"/>
            <a:ext cx="110052" cy="110052"/>
          </a:xfrm>
          <a:prstGeom prst="ellipse">
            <a:avLst/>
          </a:prstGeom>
          <a:solidFill>
            <a:schemeClr val="bg1">
              <a:alpha val="32335"/>
            </a:schemeClr>
          </a:solidFill>
          <a:ln/>
          <a:effectLst>
            <a:softEdge rad="46222"/>
          </a:effectLst>
        </p:spPr>
      </p:sp>
      <p:sp>
        <p:nvSpPr>
          <p:cNvPr id="25" name="!!p22"/>
          <p:cNvSpPr/>
          <p:nvPr/>
        </p:nvSpPr>
        <p:spPr>
          <a:xfrm>
            <a:off x="1927530" y="7614396"/>
            <a:ext cx="821581" cy="821581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45064"/>
          </a:effectLst>
        </p:spPr>
      </p:sp>
      <p:sp>
        <p:nvSpPr>
          <p:cNvPr id="26" name="!!p23"/>
          <p:cNvSpPr/>
          <p:nvPr/>
        </p:nvSpPr>
        <p:spPr>
          <a:xfrm>
            <a:off x="4277914" y="3197834"/>
            <a:ext cx="561620" cy="561620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235880"/>
          </a:effectLst>
        </p:spPr>
      </p:sp>
      <p:sp>
        <p:nvSpPr>
          <p:cNvPr id="27" name="!!p24"/>
          <p:cNvSpPr/>
          <p:nvPr/>
        </p:nvSpPr>
        <p:spPr>
          <a:xfrm>
            <a:off x="22252099" y="4779538"/>
            <a:ext cx="907776" cy="907776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1266"/>
          </a:effectLst>
        </p:spPr>
      </p:sp>
      <p:sp>
        <p:nvSpPr>
          <p:cNvPr id="28" name="!!p25"/>
          <p:cNvSpPr/>
          <p:nvPr/>
        </p:nvSpPr>
        <p:spPr>
          <a:xfrm>
            <a:off x="-11309579" y="-828056"/>
            <a:ext cx="227967" cy="227967"/>
          </a:xfrm>
          <a:prstGeom prst="ellipse">
            <a:avLst/>
          </a:prstGeom>
          <a:solidFill>
            <a:schemeClr val="accent3">
              <a:alpha val="41157"/>
            </a:schemeClr>
          </a:solidFill>
          <a:ln/>
          <a:effectLst>
            <a:softEdge rad="95746"/>
          </a:effectLst>
        </p:spPr>
      </p:sp>
      <p:sp>
        <p:nvSpPr>
          <p:cNvPr id="29" name="!!p26"/>
          <p:cNvSpPr/>
          <p:nvPr/>
        </p:nvSpPr>
        <p:spPr>
          <a:xfrm>
            <a:off x="-10417846" y="-2083792"/>
            <a:ext cx="156456" cy="156456"/>
          </a:xfrm>
          <a:prstGeom prst="ellipse">
            <a:avLst/>
          </a:prstGeom>
          <a:solidFill>
            <a:schemeClr val="accent3">
              <a:alpha val="46497"/>
            </a:schemeClr>
          </a:solidFill>
          <a:ln/>
          <a:effectLst>
            <a:softEdge rad="65712"/>
          </a:effectLst>
        </p:spPr>
      </p:sp>
      <p:sp>
        <p:nvSpPr>
          <p:cNvPr id="30" name="!!p27"/>
          <p:cNvSpPr/>
          <p:nvPr/>
        </p:nvSpPr>
        <p:spPr>
          <a:xfrm>
            <a:off x="1872432" y="1338703"/>
            <a:ext cx="156446" cy="156446"/>
          </a:xfrm>
          <a:prstGeom prst="ellipse">
            <a:avLst/>
          </a:prstGeom>
          <a:solidFill>
            <a:schemeClr val="accent3">
              <a:alpha val="41451"/>
            </a:schemeClr>
          </a:solidFill>
          <a:ln/>
          <a:effectLst>
            <a:softEdge rad="65707"/>
          </a:effectLst>
        </p:spPr>
      </p:sp>
      <p:sp>
        <p:nvSpPr>
          <p:cNvPr id="31" name="!!p28"/>
          <p:cNvSpPr/>
          <p:nvPr/>
        </p:nvSpPr>
        <p:spPr>
          <a:xfrm>
            <a:off x="1951674" y="111568"/>
            <a:ext cx="236050" cy="236050"/>
          </a:xfrm>
          <a:prstGeom prst="ellipse">
            <a:avLst/>
          </a:prstGeom>
          <a:solidFill>
            <a:schemeClr val="accent3">
              <a:alpha val="37639"/>
            </a:schemeClr>
          </a:solidFill>
          <a:ln/>
          <a:effectLst>
            <a:softEdge rad="99141"/>
          </a:effectLst>
        </p:spPr>
      </p:sp>
      <p:sp>
        <p:nvSpPr>
          <p:cNvPr id="32" name="!!p29"/>
          <p:cNvSpPr/>
          <p:nvPr/>
        </p:nvSpPr>
        <p:spPr>
          <a:xfrm>
            <a:off x="-12292256" y="-1242791"/>
            <a:ext cx="177157" cy="177157"/>
          </a:xfrm>
          <a:prstGeom prst="ellipse">
            <a:avLst/>
          </a:prstGeom>
          <a:solidFill>
            <a:schemeClr val="bg1">
              <a:alpha val="58409"/>
            </a:schemeClr>
          </a:solidFill>
          <a:ln/>
          <a:effectLst>
            <a:softEdge rad="74406"/>
          </a:effectLst>
        </p:spPr>
      </p:sp>
      <p:sp>
        <p:nvSpPr>
          <p:cNvPr id="33" name="!!p30"/>
          <p:cNvSpPr/>
          <p:nvPr/>
        </p:nvSpPr>
        <p:spPr>
          <a:xfrm>
            <a:off x="-5084135" y="5007173"/>
            <a:ext cx="116279" cy="116279"/>
          </a:xfrm>
          <a:prstGeom prst="ellipse">
            <a:avLst/>
          </a:prstGeom>
          <a:solidFill>
            <a:schemeClr val="bg1">
              <a:alpha val="31977"/>
            </a:schemeClr>
          </a:solidFill>
          <a:ln/>
          <a:effectLst>
            <a:softEdge rad="48837"/>
          </a:effectLst>
        </p:spPr>
      </p:sp>
      <p:sp>
        <p:nvSpPr>
          <p:cNvPr id="34" name="!!p31"/>
          <p:cNvSpPr/>
          <p:nvPr/>
        </p:nvSpPr>
        <p:spPr>
          <a:xfrm>
            <a:off x="-9836897" y="6293321"/>
            <a:ext cx="595298" cy="59529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50025"/>
          </a:effectLst>
        </p:spPr>
      </p:sp>
      <p:sp>
        <p:nvSpPr>
          <p:cNvPr id="35" name="!!p32"/>
          <p:cNvSpPr/>
          <p:nvPr/>
        </p:nvSpPr>
        <p:spPr>
          <a:xfrm>
            <a:off x="17895100" y="5063007"/>
            <a:ext cx="918474" cy="91847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85759"/>
          </a:effectLst>
        </p:spPr>
      </p:sp>
      <p:sp>
        <p:nvSpPr>
          <p:cNvPr id="36" name="!!p33"/>
          <p:cNvSpPr/>
          <p:nvPr/>
        </p:nvSpPr>
        <p:spPr>
          <a:xfrm>
            <a:off x="249742" y="6545920"/>
            <a:ext cx="204820" cy="204820"/>
          </a:xfrm>
          <a:prstGeom prst="ellipse">
            <a:avLst/>
          </a:prstGeom>
          <a:solidFill>
            <a:schemeClr val="accent3">
              <a:alpha val="55933"/>
            </a:schemeClr>
          </a:solidFill>
          <a:ln/>
          <a:effectLst>
            <a:softEdge rad="86024"/>
          </a:effectLst>
        </p:spPr>
      </p:sp>
      <p:sp>
        <p:nvSpPr>
          <p:cNvPr id="37" name="!!p34"/>
          <p:cNvSpPr/>
          <p:nvPr/>
        </p:nvSpPr>
        <p:spPr>
          <a:xfrm>
            <a:off x="-11345559" y="4161967"/>
            <a:ext cx="116694" cy="116694"/>
          </a:xfrm>
          <a:prstGeom prst="ellipse">
            <a:avLst/>
          </a:prstGeom>
          <a:solidFill>
            <a:schemeClr val="bg1">
              <a:alpha val="26363"/>
            </a:schemeClr>
          </a:solidFill>
          <a:ln/>
          <a:effectLst>
            <a:softEdge rad="49011"/>
          </a:effectLst>
        </p:spPr>
      </p:sp>
      <p:sp>
        <p:nvSpPr>
          <p:cNvPr id="38" name="!!p35"/>
          <p:cNvSpPr/>
          <p:nvPr/>
        </p:nvSpPr>
        <p:spPr>
          <a:xfrm>
            <a:off x="-10415045" y="3666955"/>
            <a:ext cx="171070" cy="171070"/>
          </a:xfrm>
          <a:prstGeom prst="ellipse">
            <a:avLst/>
          </a:prstGeom>
          <a:solidFill>
            <a:schemeClr val="accent3">
              <a:alpha val="34267"/>
            </a:schemeClr>
          </a:solidFill>
          <a:ln/>
          <a:effectLst>
            <a:softEdge rad="71849"/>
          </a:effectLst>
        </p:spPr>
      </p:sp>
      <p:sp>
        <p:nvSpPr>
          <p:cNvPr id="39" name="!!p36"/>
          <p:cNvSpPr/>
          <p:nvPr/>
        </p:nvSpPr>
        <p:spPr>
          <a:xfrm>
            <a:off x="16468473" y="2914774"/>
            <a:ext cx="1050547" cy="1050547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441230"/>
          </a:effectLst>
        </p:spPr>
      </p:sp>
      <p:sp>
        <p:nvSpPr>
          <p:cNvPr id="40" name="!!p37"/>
          <p:cNvSpPr/>
          <p:nvPr/>
        </p:nvSpPr>
        <p:spPr>
          <a:xfrm>
            <a:off x="2662623" y="-1611690"/>
            <a:ext cx="152405" cy="152405"/>
          </a:xfrm>
          <a:prstGeom prst="ellipse">
            <a:avLst/>
          </a:prstGeom>
          <a:solidFill>
            <a:schemeClr val="accent3">
              <a:alpha val="57493"/>
            </a:schemeClr>
          </a:solidFill>
          <a:ln/>
          <a:effectLst>
            <a:softEdge rad="64010"/>
          </a:effectLst>
        </p:spPr>
      </p:sp>
      <p:sp>
        <p:nvSpPr>
          <p:cNvPr id="41" name="!!p38"/>
          <p:cNvSpPr/>
          <p:nvPr/>
        </p:nvSpPr>
        <p:spPr>
          <a:xfrm>
            <a:off x="7073928" y="4262517"/>
            <a:ext cx="109532" cy="109532"/>
          </a:xfrm>
          <a:prstGeom prst="ellipse">
            <a:avLst/>
          </a:prstGeom>
          <a:solidFill>
            <a:schemeClr val="bg1">
              <a:alpha val="55738"/>
            </a:schemeClr>
          </a:solidFill>
          <a:ln/>
          <a:effectLst>
            <a:softEdge rad="46004"/>
          </a:effectLst>
        </p:spPr>
      </p:sp>
      <p:sp>
        <p:nvSpPr>
          <p:cNvPr id="42" name="!!p39"/>
          <p:cNvSpPr/>
          <p:nvPr/>
        </p:nvSpPr>
        <p:spPr>
          <a:xfrm>
            <a:off x="-2335875" y="-2009226"/>
            <a:ext cx="107954" cy="107954"/>
          </a:xfrm>
          <a:prstGeom prst="ellipse">
            <a:avLst/>
          </a:prstGeom>
          <a:solidFill>
            <a:schemeClr val="accent3">
              <a:alpha val="47328"/>
            </a:schemeClr>
          </a:solidFill>
          <a:ln/>
          <a:effectLst>
            <a:softEdge rad="45341"/>
          </a:effectLst>
        </p:spPr>
      </p:sp>
      <p:sp>
        <p:nvSpPr>
          <p:cNvPr id="43" name="!!p40"/>
          <p:cNvSpPr/>
          <p:nvPr/>
        </p:nvSpPr>
        <p:spPr>
          <a:xfrm>
            <a:off x="-7180148" y="8277893"/>
            <a:ext cx="116916" cy="116916"/>
          </a:xfrm>
          <a:prstGeom prst="ellipse">
            <a:avLst/>
          </a:prstGeom>
          <a:solidFill>
            <a:schemeClr val="accent3">
              <a:alpha val="41841"/>
            </a:schemeClr>
          </a:solidFill>
          <a:ln/>
          <a:effectLst>
            <a:softEdge rad="49105"/>
          </a:effectLst>
        </p:spPr>
      </p:sp>
      <p:sp>
        <p:nvSpPr>
          <p:cNvPr id="44" name="!!p41"/>
          <p:cNvSpPr/>
          <p:nvPr/>
        </p:nvSpPr>
        <p:spPr>
          <a:xfrm>
            <a:off x="6100831" y="3792518"/>
            <a:ext cx="238576" cy="238576"/>
          </a:xfrm>
          <a:prstGeom prst="ellipse">
            <a:avLst/>
          </a:prstGeom>
          <a:solidFill>
            <a:schemeClr val="accent3">
              <a:alpha val="54650"/>
            </a:schemeClr>
          </a:solidFill>
          <a:ln/>
          <a:effectLst>
            <a:softEdge rad="100202"/>
          </a:effectLst>
        </p:spPr>
      </p:sp>
      <p:sp>
        <p:nvSpPr>
          <p:cNvPr id="45" name="!!p42"/>
          <p:cNvSpPr/>
          <p:nvPr/>
        </p:nvSpPr>
        <p:spPr>
          <a:xfrm>
            <a:off x="2986938" y="2112326"/>
            <a:ext cx="231782" cy="231782"/>
          </a:xfrm>
          <a:prstGeom prst="ellipse">
            <a:avLst/>
          </a:prstGeom>
          <a:solidFill>
            <a:schemeClr val="accent3">
              <a:alpha val="59903"/>
            </a:schemeClr>
          </a:solidFill>
          <a:ln/>
          <a:effectLst>
            <a:softEdge rad="97348"/>
          </a:effectLst>
        </p:spPr>
      </p:sp>
      <p:sp>
        <p:nvSpPr>
          <p:cNvPr id="46" name="!!p43"/>
          <p:cNvSpPr/>
          <p:nvPr/>
        </p:nvSpPr>
        <p:spPr>
          <a:xfrm>
            <a:off x="-9392413" y="6284069"/>
            <a:ext cx="559428" cy="559428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  <a:effectLst>
            <a:softEdge rad="234960"/>
          </a:effectLst>
        </p:spPr>
      </p:sp>
      <p:sp>
        <p:nvSpPr>
          <p:cNvPr id="47" name="!!p44"/>
          <p:cNvSpPr/>
          <p:nvPr/>
        </p:nvSpPr>
        <p:spPr>
          <a:xfrm>
            <a:off x="8179039" y="4633808"/>
            <a:ext cx="158543" cy="158543"/>
          </a:xfrm>
          <a:prstGeom prst="ellipse">
            <a:avLst/>
          </a:prstGeom>
          <a:solidFill>
            <a:schemeClr val="accent3">
              <a:alpha val="37983"/>
            </a:schemeClr>
          </a:solidFill>
          <a:ln/>
          <a:effectLst>
            <a:softEdge rad="66588"/>
          </a:effectLst>
        </p:spPr>
      </p:sp>
      <p:sp>
        <p:nvSpPr>
          <p:cNvPr id="48" name="!!p45"/>
          <p:cNvSpPr/>
          <p:nvPr/>
        </p:nvSpPr>
        <p:spPr>
          <a:xfrm>
            <a:off x="-1604020" y="5886172"/>
            <a:ext cx="205010" cy="205010"/>
          </a:xfrm>
          <a:prstGeom prst="ellipse">
            <a:avLst/>
          </a:prstGeom>
          <a:solidFill>
            <a:schemeClr val="accent3">
              <a:alpha val="61608"/>
            </a:schemeClr>
          </a:solidFill>
          <a:ln/>
          <a:effectLst>
            <a:softEdge rad="86104"/>
          </a:effectLst>
        </p:spPr>
      </p:sp>
      <p:sp>
        <p:nvSpPr>
          <p:cNvPr id="49" name="!!p46"/>
          <p:cNvSpPr/>
          <p:nvPr/>
        </p:nvSpPr>
        <p:spPr>
          <a:xfrm>
            <a:off x="-8936893" y="8509138"/>
            <a:ext cx="171511" cy="171511"/>
          </a:xfrm>
          <a:prstGeom prst="ellipse">
            <a:avLst/>
          </a:prstGeom>
          <a:solidFill>
            <a:schemeClr val="accent3">
              <a:alpha val="28525"/>
            </a:schemeClr>
          </a:solidFill>
          <a:ln/>
          <a:effectLst>
            <a:softEdge rad="72035"/>
          </a:effectLst>
        </p:spPr>
      </p:sp>
      <p:sp>
        <p:nvSpPr>
          <p:cNvPr id="50" name="!!p47"/>
          <p:cNvSpPr/>
          <p:nvPr/>
        </p:nvSpPr>
        <p:spPr>
          <a:xfrm>
            <a:off x="11095458" y="4136384"/>
            <a:ext cx="224879" cy="224879"/>
          </a:xfrm>
          <a:prstGeom prst="ellipse">
            <a:avLst/>
          </a:prstGeom>
          <a:solidFill>
            <a:schemeClr val="bg1">
              <a:alpha val="33650"/>
            </a:schemeClr>
          </a:solidFill>
          <a:ln/>
          <a:effectLst>
            <a:softEdge rad="94449"/>
          </a:effectLst>
        </p:spPr>
      </p:sp>
      <p:sp>
        <p:nvSpPr>
          <p:cNvPr id="51" name="!!p48"/>
          <p:cNvSpPr/>
          <p:nvPr/>
        </p:nvSpPr>
        <p:spPr>
          <a:xfrm>
            <a:off x="-1333922" y="5984945"/>
            <a:ext cx="160209" cy="160209"/>
          </a:xfrm>
          <a:prstGeom prst="ellipse">
            <a:avLst/>
          </a:prstGeom>
          <a:solidFill>
            <a:schemeClr val="accent3">
              <a:alpha val="36852"/>
            </a:schemeClr>
          </a:solidFill>
          <a:ln/>
          <a:effectLst>
            <a:softEdge rad="67288"/>
          </a:effectLst>
        </p:spPr>
      </p:sp>
      <p:sp>
        <p:nvSpPr>
          <p:cNvPr id="52" name="!!p49"/>
          <p:cNvSpPr/>
          <p:nvPr/>
        </p:nvSpPr>
        <p:spPr>
          <a:xfrm>
            <a:off x="1815766" y="6460068"/>
            <a:ext cx="732338" cy="732338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307582"/>
          </a:effectLst>
        </p:spPr>
      </p:sp>
      <p:sp>
        <p:nvSpPr>
          <p:cNvPr id="53" name="!!p50"/>
          <p:cNvSpPr/>
          <p:nvPr/>
        </p:nvSpPr>
        <p:spPr>
          <a:xfrm>
            <a:off x="-9483178" y="-799473"/>
            <a:ext cx="467834" cy="467834"/>
          </a:xfrm>
          <a:prstGeom prst="ellipse">
            <a:avLst/>
          </a:prstGeom>
          <a:solidFill>
            <a:schemeClr val="bg1">
              <a:alpha val="14000"/>
            </a:schemeClr>
          </a:solidFill>
          <a:ln/>
          <a:effectLst>
            <a:softEdge rad="196490"/>
          </a:effectLst>
        </p:spPr>
      </p:sp>
      <p:sp>
        <p:nvSpPr>
          <p:cNvPr id="54" name="!!p51"/>
          <p:cNvSpPr/>
          <p:nvPr/>
        </p:nvSpPr>
        <p:spPr>
          <a:xfrm>
            <a:off x="-1952637" y="1175619"/>
            <a:ext cx="132859" cy="132859"/>
          </a:xfrm>
          <a:prstGeom prst="ellipse">
            <a:avLst/>
          </a:prstGeom>
          <a:solidFill>
            <a:schemeClr val="bg1">
              <a:alpha val="36363"/>
            </a:schemeClr>
          </a:solidFill>
          <a:ln/>
          <a:effectLst>
            <a:softEdge rad="55801"/>
          </a:effectLst>
        </p:spPr>
      </p:sp>
      <p:pic>
        <p:nvPicPr>
          <p:cNvPr id="55" name="!!vignette" descr="Wini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6" name="!!scan" descr="Linie skanowan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7" name="!!aOrb" descr="Rdzeń AI atakujący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436" y="3248908"/>
            <a:ext cx="1609344" cy="1609344"/>
          </a:xfrm>
          <a:prstGeom prst="rect">
            <a:avLst/>
          </a:prstGeom>
        </p:spPr>
      </p:pic>
      <p:pic>
        <p:nvPicPr>
          <p:cNvPr id="58" name="!!bOrb" descr="Rdzeń AI obrońcó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316" y="4336040"/>
            <a:ext cx="1609344" cy="1609344"/>
          </a:xfrm>
          <a:prstGeom prst="rect">
            <a:avLst/>
          </a:prstGeom>
        </p:spPr>
      </p:pic>
      <p:sp>
        <p:nvSpPr>
          <p:cNvPr id="59" name="!!beam"/>
          <p:cNvSpPr/>
          <p:nvPr/>
        </p:nvSpPr>
        <p:spPr>
          <a:xfrm rot="540000">
            <a:off x="2624328" y="5042916"/>
            <a:ext cx="6949440" cy="64008"/>
          </a:xfrm>
          <a:prstGeom prst="rect">
            <a:avLst/>
          </a:prstGeom>
          <a:solidFill>
            <a:schemeClr val="bg1">
              <a:alpha val="85000"/>
            </a:schemeClr>
          </a:solidFill>
          <a:ln/>
        </p:spPr>
      </p:sp>
      <p:sp>
        <p:nvSpPr>
          <p:cNvPr id="60" name="!!fulcrum"/>
          <p:cNvSpPr/>
          <p:nvPr/>
        </p:nvSpPr>
        <p:spPr>
          <a:xfrm>
            <a:off x="5806440" y="5120640"/>
            <a:ext cx="585216" cy="640080"/>
          </a:xfrm>
          <a:prstGeom prst="triangle">
            <a:avLst/>
          </a:prstGeom>
          <a:solidFill>
            <a:schemeClr val="bg2">
              <a:alpha val="45000"/>
            </a:schemeClr>
          </a:solidFill>
          <a:ln/>
        </p:spPr>
      </p:sp>
      <p:sp>
        <p:nvSpPr>
          <p:cNvPr id="61" name="!!pivot"/>
          <p:cNvSpPr/>
          <p:nvPr/>
        </p:nvSpPr>
        <p:spPr>
          <a:xfrm>
            <a:off x="6016752" y="4992624"/>
            <a:ext cx="164592" cy="16459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2" name="!!ring1"/>
          <p:cNvSpPr/>
          <p:nvPr/>
        </p:nvSpPr>
        <p:spPr>
          <a:xfrm rot="21000000">
            <a:off x="-5788152" y="-6812280"/>
            <a:ext cx="23774400" cy="23774400"/>
          </a:xfrm>
          <a:prstGeom prst="arc">
            <a:avLst>
              <a:gd name="adj1" fmla="val 0"/>
              <a:gd name="adj2" fmla="val 16200000"/>
            </a:avLst>
          </a:prstGeom>
          <a:noFill/>
          <a:ln w="19050">
            <a:solidFill>
              <a:schemeClr val="accent3">
                <a:alpha val="5000"/>
              </a:schemeClr>
            </a:solidFill>
            <a:prstDash val="solid"/>
          </a:ln>
        </p:spPr>
      </p:sp>
      <p:sp>
        <p:nvSpPr>
          <p:cNvPr id="63" name="!!ring2"/>
          <p:cNvSpPr/>
          <p:nvPr/>
        </p:nvSpPr>
        <p:spPr>
          <a:xfrm rot="10500000">
            <a:off x="-7452360" y="-8476488"/>
            <a:ext cx="27102816" cy="27102816"/>
          </a:xfrm>
          <a:prstGeom prst="ellipse">
            <a:avLst/>
          </a:prstGeom>
          <a:noFill/>
          <a:ln w="9525">
            <a:solidFill>
              <a:schemeClr val="bg1">
                <a:alpha val="5000"/>
              </a:schemeClr>
            </a:solidFill>
            <a:prstDash val="dash"/>
          </a:ln>
        </p:spPr>
      </p:sp>
      <p:sp>
        <p:nvSpPr>
          <p:cNvPr id="64" name="!!ring3"/>
          <p:cNvSpPr/>
          <p:nvPr/>
        </p:nvSpPr>
        <p:spPr>
          <a:xfrm rot="300000">
            <a:off x="-4361688" y="-5385816"/>
            <a:ext cx="20921472" cy="20921472"/>
          </a:xfrm>
          <a:prstGeom prst="arc">
            <a:avLst>
              <a:gd name="adj1" fmla="val 12000000"/>
              <a:gd name="adj2" fmla="val 15720000"/>
            </a:avLst>
          </a:prstGeom>
          <a:noFill/>
          <a:ln w="57150">
            <a:solidFill>
              <a:schemeClr val="accent3">
                <a:alpha val="20000"/>
              </a:schemeClr>
            </a:solidFill>
            <a:prstDash val="solid"/>
          </a:ln>
        </p:spPr>
      </p:sp>
      <p:sp>
        <p:nvSpPr>
          <p:cNvPr id="65" name="!!flare"/>
          <p:cNvSpPr/>
          <p:nvPr/>
        </p:nvSpPr>
        <p:spPr>
          <a:xfrm>
            <a:off x="-1216152" y="5029200"/>
            <a:ext cx="14630400" cy="91440"/>
          </a:xfrm>
          <a:prstGeom prst="ellipse">
            <a:avLst/>
          </a:prstGeom>
          <a:solidFill>
            <a:schemeClr val="accent3">
              <a:alpha val="30000"/>
            </a:schemeClr>
          </a:solidFill>
          <a:ln/>
          <a:effectLst>
            <a:softEdge rad="36576"/>
          </a:effectLst>
        </p:spPr>
      </p:sp>
      <p:sp>
        <p:nvSpPr>
          <p:cNvPr id="66" name="!!bigword"/>
          <p:cNvSpPr txBox="1"/>
          <p:nvPr/>
        </p:nvSpPr>
        <p:spPr>
          <a:xfrm>
            <a:off x="-2743200" y="4480560"/>
            <a:ext cx="1645920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chemeClr val="accent3">
                    <a:alpha val="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WERDYKT</a:t>
            </a:r>
            <a:endParaRPr lang="en-US" sz="20000" dirty="0"/>
          </a:p>
        </p:txBody>
      </p:sp>
      <p:sp>
        <p:nvSpPr>
          <p:cNvPr id="67" name="!!s11_title"/>
          <p:cNvSpPr txBox="1"/>
          <p:nvPr/>
        </p:nvSpPr>
        <p:spPr>
          <a:xfrm>
            <a:off x="-1225296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Dziś szala przechyla się ku atakującym</a:t>
            </a:r>
            <a:endParaRPr lang="en-US" sz="3600" dirty="0"/>
          </a:p>
        </p:txBody>
      </p:sp>
      <p:sp>
        <p:nvSpPr>
          <p:cNvPr id="68" name="!!s11_hA"/>
          <p:cNvSpPr txBox="1"/>
          <p:nvPr/>
        </p:nvSpPr>
        <p:spPr>
          <a:xfrm>
            <a:off x="-1225296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 STRONIE ATAKUJĄCYCH</a:t>
            </a:r>
            <a:endParaRPr lang="en-US" sz="1400" dirty="0"/>
          </a:p>
        </p:txBody>
      </p:sp>
      <p:sp>
        <p:nvSpPr>
          <p:cNvPr id="69" name="!!s11_hB"/>
          <p:cNvSpPr txBox="1"/>
          <p:nvPr/>
        </p:nvSpPr>
        <p:spPr>
          <a:xfrm>
            <a:off x="-996696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ATUTY OBROŃCÓW</a:t>
            </a:r>
            <a:endParaRPr lang="en-US" sz="1400" dirty="0"/>
          </a:p>
        </p:txBody>
      </p:sp>
      <p:sp>
        <p:nvSpPr>
          <p:cNvPr id="70" name="!!s11_a0"/>
          <p:cNvSpPr txBox="1"/>
          <p:nvPr/>
        </p:nvSpPr>
        <p:spPr>
          <a:xfrm>
            <a:off x="-1316736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Tanio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Narzędzia AI są powszechne i często darmowe.</a:t>
            </a:r>
            <a:endParaRPr lang="en-US" sz="1500" dirty="0"/>
          </a:p>
        </p:txBody>
      </p:sp>
      <p:sp>
        <p:nvSpPr>
          <p:cNvPr id="71" name="!!s11_a1"/>
          <p:cNvSpPr txBox="1"/>
          <p:nvPr/>
        </p:nvSpPr>
        <p:spPr>
          <a:xfrm>
            <a:off x="-14081760" y="2670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Szybko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Żadnych procedur, audytów ani zgód.</a:t>
            </a:r>
            <a:endParaRPr lang="en-US" sz="1500" dirty="0"/>
          </a:p>
        </p:txBody>
      </p:sp>
      <p:sp>
        <p:nvSpPr>
          <p:cNvPr id="72" name="!!s11_a2"/>
          <p:cNvSpPr txBox="1"/>
          <p:nvPr/>
        </p:nvSpPr>
        <p:spPr>
          <a:xfrm>
            <a:off x="-14996160" y="32369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Jedno trafienie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Wystarczy, że raz się uda.</a:t>
            </a:r>
            <a:endParaRPr lang="en-US" sz="1500" dirty="0"/>
          </a:p>
        </p:txBody>
      </p:sp>
      <p:sp>
        <p:nvSpPr>
          <p:cNvPr id="73" name="!!s11_b0"/>
          <p:cNvSpPr txBox="1"/>
          <p:nvPr/>
        </p:nvSpPr>
        <p:spPr>
          <a:xfrm>
            <a:off x="-1088136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Dane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Pełna widoczność własnej sieci.</a:t>
            </a:r>
            <a:endParaRPr lang="en-US" sz="1500" dirty="0"/>
          </a:p>
        </p:txBody>
      </p:sp>
      <p:sp>
        <p:nvSpPr>
          <p:cNvPr id="74" name="!!s11_b1"/>
          <p:cNvSpPr txBox="1"/>
          <p:nvPr/>
        </p:nvSpPr>
        <p:spPr>
          <a:xfrm>
            <a:off x="-11795760" y="2670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Skala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chroni miliony urządzeń naraz.</a:t>
            </a:r>
            <a:endParaRPr lang="en-US" sz="1500" dirty="0"/>
          </a:p>
        </p:txBody>
      </p:sp>
      <p:sp>
        <p:nvSpPr>
          <p:cNvPr id="75" name="!!s11_b2"/>
          <p:cNvSpPr txBox="1"/>
          <p:nvPr/>
        </p:nvSpPr>
        <p:spPr>
          <a:xfrm>
            <a:off x="-12710160" y="32369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Prewencja —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Luki można łatać, zanim ktoś je wykorzysta.</a:t>
            </a:r>
            <a:endParaRPr lang="en-US" sz="1500" dirty="0"/>
          </a:p>
        </p:txBody>
      </p:sp>
      <p:sp>
        <p:nvSpPr>
          <p:cNvPr id="76" name="!!s12_h1"/>
          <p:cNvSpPr txBox="1"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NIE WYBIERA STRON.</a:t>
            </a:r>
            <a:endParaRPr lang="en-US" sz="4400" dirty="0"/>
          </a:p>
        </p:txBody>
      </p:sp>
      <p:sp>
        <p:nvSpPr>
          <p:cNvPr id="77" name="!!s12_h2"/>
          <p:cNvSpPr txBox="1"/>
          <p:nvPr/>
        </p:nvSpPr>
        <p:spPr>
          <a:xfrm>
            <a:off x="548640" y="1691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Wybierają ludzie.</a:t>
            </a:r>
            <a:endParaRPr lang="en-US" sz="3000" dirty="0"/>
          </a:p>
        </p:txBody>
      </p:sp>
      <p:pic>
        <p:nvPicPr>
          <p:cNvPr id="78" name="!!s12_ti0" descr="Weryfikuj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43200"/>
            <a:ext cx="411480" cy="411480"/>
          </a:xfrm>
          <a:prstGeom prst="rect">
            <a:avLst/>
          </a:prstGeom>
        </p:spPr>
      </p:pic>
      <p:sp>
        <p:nvSpPr>
          <p:cNvPr id="79" name="!!s12_th0"/>
          <p:cNvSpPr txBox="1"/>
          <p:nvPr/>
        </p:nvSpPr>
        <p:spPr>
          <a:xfrm>
            <a:off x="13716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Weryfikuj</a:t>
            </a:r>
            <a:endParaRPr lang="en-US" sz="1700" dirty="0"/>
          </a:p>
        </p:txBody>
      </p:sp>
      <p:sp>
        <p:nvSpPr>
          <p:cNvPr id="80" name="!!s12_td0"/>
          <p:cNvSpPr txBox="1"/>
          <p:nvPr/>
        </p:nvSpPr>
        <p:spPr>
          <a:xfrm>
            <a:off x="1371600" y="3127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Głos i obraz można podrobić — potwierdzaj innym kanałem.</a:t>
            </a:r>
            <a:endParaRPr lang="en-US" sz="1400" dirty="0"/>
          </a:p>
        </p:txBody>
      </p:sp>
      <p:pic>
        <p:nvPicPr>
          <p:cNvPr id="81" name="!!s12_ti1" descr="Automatyzuj obronę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2743200"/>
            <a:ext cx="411480" cy="411480"/>
          </a:xfrm>
          <a:prstGeom prst="rect">
            <a:avLst/>
          </a:prstGeom>
        </p:spPr>
      </p:pic>
      <p:sp>
        <p:nvSpPr>
          <p:cNvPr id="82" name="!!s12_th1"/>
          <p:cNvSpPr txBox="1"/>
          <p:nvPr/>
        </p:nvSpPr>
        <p:spPr>
          <a:xfrm>
            <a:off x="50292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Automatyzuj obronę</a:t>
            </a:r>
            <a:endParaRPr lang="en-US" sz="1700" dirty="0"/>
          </a:p>
        </p:txBody>
      </p:sp>
      <p:sp>
        <p:nvSpPr>
          <p:cNvPr id="83" name="!!s12_td1"/>
          <p:cNvSpPr txBox="1"/>
          <p:nvPr/>
        </p:nvSpPr>
        <p:spPr>
          <a:xfrm>
            <a:off x="5029200" y="3127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Na tempo maszyn odpowiadaj maszynami.</a:t>
            </a:r>
            <a:endParaRPr lang="en-US" sz="1400" dirty="0"/>
          </a:p>
        </p:txBody>
      </p:sp>
      <p:pic>
        <p:nvPicPr>
          <p:cNvPr id="84" name="!!s12_ti2" descr="Inwestuj w ludz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2743200"/>
            <a:ext cx="411480" cy="411480"/>
          </a:xfrm>
          <a:prstGeom prst="rect">
            <a:avLst/>
          </a:prstGeom>
        </p:spPr>
      </p:pic>
      <p:sp>
        <p:nvSpPr>
          <p:cNvPr id="85" name="!!s12_th2"/>
          <p:cNvSpPr txBox="1"/>
          <p:nvPr/>
        </p:nvSpPr>
        <p:spPr>
          <a:xfrm>
            <a:off x="86868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Inwestuj w ludzi</a:t>
            </a:r>
            <a:endParaRPr lang="en-US" sz="1700" dirty="0"/>
          </a:p>
        </p:txBody>
      </p:sp>
      <p:sp>
        <p:nvSpPr>
          <p:cNvPr id="86" name="!!s12_td2"/>
          <p:cNvSpPr txBox="1"/>
          <p:nvPr/>
        </p:nvSpPr>
        <p:spPr>
          <a:xfrm>
            <a:off x="8686800" y="3127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 wzmacnia specjalistów, nie zastępuje ich.</a:t>
            </a:r>
            <a:endParaRPr lang="en-US" sz="1400" dirty="0"/>
          </a:p>
        </p:txBody>
      </p:sp>
      <p:sp>
        <p:nvSpPr>
          <p:cNvPr id="87" name="!!s12_thanks"/>
          <p:cNvSpPr txBox="1"/>
          <p:nvPr/>
        </p:nvSpPr>
        <p:spPr>
          <a:xfrm>
            <a:off x="3355848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DZIĘKUJEMY  ·  PYTANIA?</a:t>
            </a:r>
            <a:endParaRPr lang="en-US" sz="1400" dirty="0"/>
          </a:p>
        </p:txBody>
      </p:sp>
      <p:sp>
        <p:nvSpPr>
          <p:cNvPr id="88" name="!!hudSec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WERDYKT</a:t>
            </a:r>
            <a:endParaRPr lang="en-US" sz="1100" dirty="0"/>
          </a:p>
        </p:txBody>
      </p:sp>
      <p:sp>
        <p:nvSpPr>
          <p:cNvPr id="89" name="!!hudSpk"/>
          <p:cNvSpPr txBox="1"/>
          <p:nvPr/>
        </p:nvSpPr>
        <p:spPr>
          <a:xfrm>
            <a:off x="684245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MÓWI: OSOBA 3</a:t>
            </a:r>
            <a:endParaRPr lang="en-US" sz="1100" dirty="0"/>
          </a:p>
        </p:txBody>
      </p:sp>
      <p:sp>
        <p:nvSpPr>
          <p:cNvPr id="90" name="!!hudDot"/>
          <p:cNvSpPr/>
          <p:nvPr/>
        </p:nvSpPr>
        <p:spPr>
          <a:xfrm>
            <a:off x="11515039" y="38404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1" name="!!tick0"/>
          <p:cNvSpPr/>
          <p:nvPr/>
        </p:nvSpPr>
        <p:spPr>
          <a:xfrm>
            <a:off x="54864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2" name="!!tick1"/>
          <p:cNvSpPr/>
          <p:nvPr/>
        </p:nvSpPr>
        <p:spPr>
          <a:xfrm>
            <a:off x="76809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3" name="!!tick2"/>
          <p:cNvSpPr/>
          <p:nvPr/>
        </p:nvSpPr>
        <p:spPr>
          <a:xfrm>
            <a:off x="98755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4" name="!!tick3"/>
          <p:cNvSpPr/>
          <p:nvPr/>
        </p:nvSpPr>
        <p:spPr>
          <a:xfrm>
            <a:off x="120700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5" name="!!tick4"/>
          <p:cNvSpPr/>
          <p:nvPr/>
        </p:nvSpPr>
        <p:spPr>
          <a:xfrm>
            <a:off x="1426464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6" name="!!tick5"/>
          <p:cNvSpPr/>
          <p:nvPr/>
        </p:nvSpPr>
        <p:spPr>
          <a:xfrm>
            <a:off x="164592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7" name="!!tick6"/>
          <p:cNvSpPr/>
          <p:nvPr/>
        </p:nvSpPr>
        <p:spPr>
          <a:xfrm>
            <a:off x="1865376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8" name="!!tick7"/>
          <p:cNvSpPr/>
          <p:nvPr/>
        </p:nvSpPr>
        <p:spPr>
          <a:xfrm>
            <a:off x="2084832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99" name="!!tick8"/>
          <p:cNvSpPr/>
          <p:nvPr/>
        </p:nvSpPr>
        <p:spPr>
          <a:xfrm>
            <a:off x="2304288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0" name="!!tick9"/>
          <p:cNvSpPr/>
          <p:nvPr/>
        </p:nvSpPr>
        <p:spPr>
          <a:xfrm>
            <a:off x="2523744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1" name="!!tick10"/>
          <p:cNvSpPr/>
          <p:nvPr/>
        </p:nvSpPr>
        <p:spPr>
          <a:xfrm>
            <a:off x="2743200" y="6400800"/>
            <a:ext cx="146304" cy="45720"/>
          </a:xfrm>
          <a:prstGeom prst="rect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02" name="!!tick11"/>
          <p:cNvSpPr/>
          <p:nvPr/>
        </p:nvSpPr>
        <p:spPr>
          <a:xfrm>
            <a:off x="2962656" y="6400800"/>
            <a:ext cx="45720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3" name="!!hudNum"/>
          <p:cNvSpPr txBox="1"/>
          <p:nvPr/>
        </p:nvSpPr>
        <p:spPr>
          <a:xfrm>
            <a:off x="9814255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1100" dirty="0"/>
          </a:p>
        </p:txBody>
      </p:sp>
      <p:sp>
        <p:nvSpPr>
          <p:cNvPr id="104" name="!!lblA"/>
          <p:cNvSpPr txBox="1"/>
          <p:nvPr/>
        </p:nvSpPr>
        <p:spPr>
          <a:xfrm>
            <a:off x="1569828" y="466851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ATAKUJĄCY</a:t>
            </a:r>
            <a:endParaRPr lang="en-US" sz="1200" dirty="0"/>
          </a:p>
        </p:txBody>
      </p:sp>
      <p:sp>
        <p:nvSpPr>
          <p:cNvPr id="105" name="!!lblB"/>
          <p:cNvSpPr txBox="1"/>
          <p:nvPr/>
        </p:nvSpPr>
        <p:spPr>
          <a:xfrm>
            <a:off x="8433708" y="575564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OBROŃCY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yber AI Cinematic">
  <a:themeElements>
    <a:clrScheme name="Cyber AI Cinematic">
      <a:dk1>
        <a:srgbClr val="05070C"/>
      </a:dk1>
      <a:lt1>
        <a:srgbClr val="F2F5FA"/>
      </a:lt1>
      <a:dk2>
        <a:srgbClr val="0E1220"/>
      </a:dk2>
      <a:lt2>
        <a:srgbClr val="8A93A6"/>
      </a:lt2>
      <a:accent1>
        <a:srgbClr val="FF2D55"/>
      </a:accent1>
      <a:accent2>
        <a:srgbClr val="00E0FF"/>
      </a:accent2>
      <a:accent3>
        <a:srgbClr val="A970FF"/>
      </a:accent3>
      <a:accent4>
        <a:srgbClr val="FFB020"/>
      </a:accent4>
      <a:accent5>
        <a:srgbClr val="3A4258"/>
      </a:accent5>
      <a:accent6>
        <a:srgbClr val="1C2233"/>
      </a:accent6>
      <a:hlink>
        <a:srgbClr val="00E0FF"/>
      </a:hlink>
      <a:folHlink>
        <a:srgbClr val="A970FF"/>
      </a:folHlink>
    </a:clrScheme>
    <a:fontScheme name="Cyber AI Cinemati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Cyberbezpieczeństwo w erze AI</dc:title>
  <dc:subject>PptxGenJS Presentation</dc:subject>
  <dc:creator>Zespół prezentacyjny</dc:creator>
  <cp:lastModifiedBy>Zespół prezentacyjny</cp:lastModifiedBy>
  <cp:revision>1</cp:revision>
  <dcterms:created xsi:type="dcterms:W3CDTF">2026-10-09T18:50:48Z</dcterms:created>
  <dcterms:modified xsi:type="dcterms:W3CDTF">2026-10-09T18:50:48Z</dcterms:modified>
</cp:coreProperties>
</file>